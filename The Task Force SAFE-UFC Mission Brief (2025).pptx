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41"/>
  </p:notesMasterIdLst>
  <p:handoutMasterIdLst>
    <p:handoutMasterId r:id="rId42"/>
  </p:handoutMasterIdLst>
  <p:sldIdLst>
    <p:sldId id="410" r:id="rId5"/>
    <p:sldId id="383" r:id="rId6"/>
    <p:sldId id="452" r:id="rId7"/>
    <p:sldId id="391" r:id="rId8"/>
    <p:sldId id="415" r:id="rId9"/>
    <p:sldId id="411" r:id="rId10"/>
    <p:sldId id="416" r:id="rId11"/>
    <p:sldId id="417" r:id="rId12"/>
    <p:sldId id="419" r:id="rId13"/>
    <p:sldId id="418" r:id="rId14"/>
    <p:sldId id="420" r:id="rId15"/>
    <p:sldId id="421" r:id="rId16"/>
    <p:sldId id="414" r:id="rId17"/>
    <p:sldId id="436" r:id="rId18"/>
    <p:sldId id="412" r:id="rId19"/>
    <p:sldId id="423" r:id="rId20"/>
    <p:sldId id="422" r:id="rId21"/>
    <p:sldId id="437" r:id="rId22"/>
    <p:sldId id="438" r:id="rId23"/>
    <p:sldId id="439" r:id="rId24"/>
    <p:sldId id="425" r:id="rId25"/>
    <p:sldId id="426" r:id="rId26"/>
    <p:sldId id="428" r:id="rId27"/>
    <p:sldId id="429" r:id="rId28"/>
    <p:sldId id="432" r:id="rId29"/>
    <p:sldId id="430" r:id="rId30"/>
    <p:sldId id="433" r:id="rId31"/>
    <p:sldId id="434" r:id="rId32"/>
    <p:sldId id="448" r:id="rId33"/>
    <p:sldId id="451" r:id="rId34"/>
    <p:sldId id="450" r:id="rId35"/>
    <p:sldId id="445" r:id="rId36"/>
    <p:sldId id="446" r:id="rId37"/>
    <p:sldId id="441" r:id="rId38"/>
    <p:sldId id="442" r:id="rId39"/>
    <p:sldId id="44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327" autoAdjust="0"/>
  </p:normalViewPr>
  <p:slideViewPr>
    <p:cSldViewPr snapToGrid="0">
      <p:cViewPr varScale="1">
        <p:scale>
          <a:sx n="57" d="100"/>
          <a:sy n="57" d="100"/>
        </p:scale>
        <p:origin x="1176" y="28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640491-71B1-456A-B353-0186BCAED474}"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1813C9EF-B504-4F69-917A-BDBD27BD3804}">
      <dgm:prSet phldrT="[Text]" phldr="0"/>
      <dgm:spPr>
        <a:solidFill>
          <a:srgbClr val="7030A0"/>
        </a:solidFill>
      </dgm:spPr>
      <dgm:t>
        <a:bodyPr/>
        <a:lstStyle/>
        <a:p>
          <a:r>
            <a:rPr lang="en-US" dirty="0"/>
            <a:t>Project Manager</a:t>
          </a:r>
        </a:p>
      </dgm:t>
    </dgm:pt>
    <dgm:pt modelId="{E8D45705-2157-47C1-947B-98EA9FCE1B3D}" type="parTrans" cxnId="{7A86703F-4E97-489F-8E4E-3900FD32C791}">
      <dgm:prSet/>
      <dgm:spPr/>
      <dgm:t>
        <a:bodyPr/>
        <a:lstStyle/>
        <a:p>
          <a:endParaRPr lang="en-US"/>
        </a:p>
      </dgm:t>
    </dgm:pt>
    <dgm:pt modelId="{AADAD4EE-6276-4F26-BB8A-ECA19389E534}" type="sibTrans" cxnId="{7A86703F-4E97-489F-8E4E-3900FD32C791}">
      <dgm:prSet/>
      <dgm:spPr/>
      <dgm:t>
        <a:bodyPr/>
        <a:lstStyle/>
        <a:p>
          <a:endParaRPr lang="en-US"/>
        </a:p>
      </dgm:t>
    </dgm:pt>
    <dgm:pt modelId="{78FA70F5-EEEC-412B-9875-F5738EB8E454}">
      <dgm:prSet phldrT="[Text]" phldr="0"/>
      <dgm:spPr>
        <a:solidFill>
          <a:srgbClr val="7030A0"/>
        </a:solidFill>
      </dgm:spPr>
      <dgm:t>
        <a:bodyPr/>
        <a:lstStyle/>
        <a:p>
          <a:r>
            <a:rPr lang="en-US" dirty="0"/>
            <a:t>Site Safety and Health Officer</a:t>
          </a:r>
        </a:p>
      </dgm:t>
    </dgm:pt>
    <dgm:pt modelId="{78D5E821-CAE4-4191-8133-1FA6D774E41B}" type="parTrans" cxnId="{72B17413-FBB3-4EC9-9661-C1306E0FAB43}">
      <dgm:prSet/>
      <dgm:spPr/>
      <dgm:t>
        <a:bodyPr/>
        <a:lstStyle/>
        <a:p>
          <a:endParaRPr lang="en-US"/>
        </a:p>
      </dgm:t>
    </dgm:pt>
    <dgm:pt modelId="{3EF32E1F-9509-4E11-98C5-29CD581A4A66}" type="sibTrans" cxnId="{72B17413-FBB3-4EC9-9661-C1306E0FAB43}">
      <dgm:prSet/>
      <dgm:spPr/>
      <dgm:t>
        <a:bodyPr/>
        <a:lstStyle/>
        <a:p>
          <a:endParaRPr lang="en-US"/>
        </a:p>
      </dgm:t>
    </dgm:pt>
    <dgm:pt modelId="{350877FB-B473-4BF2-84D4-9B2406F7397B}">
      <dgm:prSet phldrT="[Text]" phldr="0"/>
      <dgm:spPr>
        <a:solidFill>
          <a:srgbClr val="7030A0"/>
        </a:solidFill>
      </dgm:spPr>
      <dgm:t>
        <a:bodyPr/>
        <a:lstStyle/>
        <a:p>
          <a:r>
            <a:rPr lang="en-US" dirty="0"/>
            <a:t>Quality Control Manager</a:t>
          </a:r>
        </a:p>
      </dgm:t>
    </dgm:pt>
    <dgm:pt modelId="{8B12407A-3D3D-465B-A42C-17F7A5762547}" type="parTrans" cxnId="{620DD5AA-5E0E-421D-B9D2-443BEC4E81CF}">
      <dgm:prSet/>
      <dgm:spPr/>
      <dgm:t>
        <a:bodyPr/>
        <a:lstStyle/>
        <a:p>
          <a:endParaRPr lang="en-US"/>
        </a:p>
      </dgm:t>
    </dgm:pt>
    <dgm:pt modelId="{DD3534E7-50AC-4C09-B752-128A1848A0C9}" type="sibTrans" cxnId="{620DD5AA-5E0E-421D-B9D2-443BEC4E81CF}">
      <dgm:prSet/>
      <dgm:spPr/>
      <dgm:t>
        <a:bodyPr/>
        <a:lstStyle/>
        <a:p>
          <a:endParaRPr lang="en-US"/>
        </a:p>
      </dgm:t>
    </dgm:pt>
    <dgm:pt modelId="{6728EEE9-6E65-40AE-B84A-B294A14B8034}">
      <dgm:prSet phldrT="[Text]" phldr="0"/>
      <dgm:spPr>
        <a:solidFill>
          <a:srgbClr val="7030A0"/>
        </a:solidFill>
      </dgm:spPr>
      <dgm:t>
        <a:bodyPr/>
        <a:lstStyle/>
        <a:p>
          <a:r>
            <a:rPr lang="en-US" dirty="0"/>
            <a:t>Field Office Administrator</a:t>
          </a:r>
        </a:p>
      </dgm:t>
    </dgm:pt>
    <dgm:pt modelId="{B1CF71D2-B398-468F-B9B2-C7E9520DFD45}" type="parTrans" cxnId="{B1EFDA38-BCB5-43EE-AF4B-7A9CE7F5E3F6}">
      <dgm:prSet/>
      <dgm:spPr/>
      <dgm:t>
        <a:bodyPr/>
        <a:lstStyle/>
        <a:p>
          <a:endParaRPr lang="en-US"/>
        </a:p>
      </dgm:t>
    </dgm:pt>
    <dgm:pt modelId="{596C9511-6A6F-4874-A107-CB2D95A1FB07}" type="sibTrans" cxnId="{B1EFDA38-BCB5-43EE-AF4B-7A9CE7F5E3F6}">
      <dgm:prSet/>
      <dgm:spPr/>
      <dgm:t>
        <a:bodyPr/>
        <a:lstStyle/>
        <a:p>
          <a:endParaRPr lang="en-US"/>
        </a:p>
      </dgm:t>
    </dgm:pt>
    <dgm:pt modelId="{91DF3935-483B-4370-B1F2-6D1B8376665D}">
      <dgm:prSet/>
      <dgm:spPr>
        <a:solidFill>
          <a:srgbClr val="7030A0"/>
        </a:solidFill>
      </dgm:spPr>
      <dgm:t>
        <a:bodyPr/>
        <a:lstStyle/>
        <a:p>
          <a:r>
            <a:rPr lang="en-US" dirty="0"/>
            <a:t>Property Manger</a:t>
          </a:r>
        </a:p>
      </dgm:t>
    </dgm:pt>
    <dgm:pt modelId="{7923E62E-E8B5-4C31-A3A2-86599AF53939}" type="parTrans" cxnId="{CFB71920-EF70-4A15-8BA3-7B61E07FC110}">
      <dgm:prSet/>
      <dgm:spPr/>
      <dgm:t>
        <a:bodyPr/>
        <a:lstStyle/>
        <a:p>
          <a:endParaRPr lang="en-US"/>
        </a:p>
      </dgm:t>
    </dgm:pt>
    <dgm:pt modelId="{15097920-F377-4A30-A4D1-CCDFB7CBF5D0}" type="sibTrans" cxnId="{CFB71920-EF70-4A15-8BA3-7B61E07FC110}">
      <dgm:prSet/>
      <dgm:spPr/>
      <dgm:t>
        <a:bodyPr/>
        <a:lstStyle/>
        <a:p>
          <a:endParaRPr lang="en-US"/>
        </a:p>
      </dgm:t>
    </dgm:pt>
    <dgm:pt modelId="{086FD10C-8A1F-4B0D-9AAE-F97F30BF0352}">
      <dgm:prSet/>
      <dgm:spPr>
        <a:solidFill>
          <a:srgbClr val="7030A0"/>
        </a:solidFill>
      </dgm:spPr>
      <dgm:t>
        <a:bodyPr/>
        <a:lstStyle/>
        <a:p>
          <a:r>
            <a:rPr lang="en-US" dirty="0"/>
            <a:t>Area of Operations Lead</a:t>
          </a:r>
        </a:p>
      </dgm:t>
    </dgm:pt>
    <dgm:pt modelId="{8390EAFA-D1D2-416E-ABD8-DFF6478BA659}" type="parTrans" cxnId="{3DDED75E-FAD8-48B5-BBA3-405B5139CED6}">
      <dgm:prSet/>
      <dgm:spPr/>
      <dgm:t>
        <a:bodyPr/>
        <a:lstStyle/>
        <a:p>
          <a:endParaRPr lang="en-US"/>
        </a:p>
      </dgm:t>
    </dgm:pt>
    <dgm:pt modelId="{578C430C-C447-46B0-A9AB-4B30FB1A81EF}" type="sibTrans" cxnId="{3DDED75E-FAD8-48B5-BBA3-405B5139CED6}">
      <dgm:prSet/>
      <dgm:spPr/>
      <dgm:t>
        <a:bodyPr/>
        <a:lstStyle/>
        <a:p>
          <a:endParaRPr lang="en-US"/>
        </a:p>
      </dgm:t>
    </dgm:pt>
    <dgm:pt modelId="{7BBCA5CB-8E45-4F72-B3AA-5FD27A722C5D}">
      <dgm:prSet/>
      <dgm:spPr>
        <a:solidFill>
          <a:srgbClr val="002060"/>
        </a:solidFill>
      </dgm:spPr>
      <dgm:t>
        <a:bodyPr/>
        <a:lstStyle/>
        <a:p>
          <a:r>
            <a:rPr lang="en-US" dirty="0"/>
            <a:t>UFC Team Lead</a:t>
          </a:r>
        </a:p>
        <a:p>
          <a:r>
            <a:rPr lang="en-US" dirty="0"/>
            <a:t>Fire Prevention Specialist</a:t>
          </a:r>
        </a:p>
      </dgm:t>
    </dgm:pt>
    <dgm:pt modelId="{F63F634D-C476-4D3B-B78C-4320B79CABB0}" type="parTrans" cxnId="{BBCB45D8-8AFE-45F6-B212-A1A7B2B71086}">
      <dgm:prSet/>
      <dgm:spPr/>
      <dgm:t>
        <a:bodyPr/>
        <a:lstStyle/>
        <a:p>
          <a:endParaRPr lang="en-US"/>
        </a:p>
      </dgm:t>
    </dgm:pt>
    <dgm:pt modelId="{FF1B660E-DE48-4114-8262-A6CB26CC01CD}" type="sibTrans" cxnId="{BBCB45D8-8AFE-45F6-B212-A1A7B2B71086}">
      <dgm:prSet/>
      <dgm:spPr/>
      <dgm:t>
        <a:bodyPr/>
        <a:lstStyle/>
        <a:p>
          <a:endParaRPr lang="en-US"/>
        </a:p>
      </dgm:t>
    </dgm:pt>
    <dgm:pt modelId="{467944A2-BCEE-47CA-B7B9-2666B42B55EF}">
      <dgm:prSet/>
      <dgm:spPr>
        <a:solidFill>
          <a:srgbClr val="7030A0"/>
        </a:solidFill>
      </dgm:spPr>
      <dgm:t>
        <a:bodyPr/>
        <a:lstStyle/>
        <a:p>
          <a:r>
            <a:rPr lang="en-US" dirty="0"/>
            <a:t>3 QC Specialists</a:t>
          </a:r>
        </a:p>
      </dgm:t>
    </dgm:pt>
    <dgm:pt modelId="{378DF43C-CE19-4B56-840C-2B3733B69BB8}" type="parTrans" cxnId="{B987DDD4-C0E2-487B-9917-A38BF3224293}">
      <dgm:prSet/>
      <dgm:spPr/>
      <dgm:t>
        <a:bodyPr/>
        <a:lstStyle/>
        <a:p>
          <a:endParaRPr lang="en-US"/>
        </a:p>
      </dgm:t>
    </dgm:pt>
    <dgm:pt modelId="{FCDC2A43-15D5-4ACF-9E95-1FDC9311EB62}" type="sibTrans" cxnId="{B987DDD4-C0E2-487B-9917-A38BF3224293}">
      <dgm:prSet/>
      <dgm:spPr/>
      <dgm:t>
        <a:bodyPr/>
        <a:lstStyle/>
        <a:p>
          <a:endParaRPr lang="en-US"/>
        </a:p>
      </dgm:t>
    </dgm:pt>
    <dgm:pt modelId="{8B85DA98-BCA7-4D76-8653-21904667C3B3}">
      <dgm:prSet/>
      <dgm:spPr>
        <a:solidFill>
          <a:srgbClr val="002060"/>
        </a:solidFill>
      </dgm:spPr>
      <dgm:t>
        <a:bodyPr/>
        <a:lstStyle/>
        <a:p>
          <a:r>
            <a:rPr lang="en-US" dirty="0"/>
            <a:t>3 Electrical Teams</a:t>
          </a:r>
        </a:p>
        <a:p>
          <a:r>
            <a:rPr lang="en-US" b="1" dirty="0"/>
            <a:t>ARCENT</a:t>
          </a:r>
        </a:p>
      </dgm:t>
    </dgm:pt>
    <dgm:pt modelId="{A2310A9F-79A8-4CAD-BB55-0B2D651C93B4}" type="parTrans" cxnId="{1A6D6AD1-F758-45C5-A3AD-6F17CB178BFD}">
      <dgm:prSet/>
      <dgm:spPr/>
      <dgm:t>
        <a:bodyPr/>
        <a:lstStyle/>
        <a:p>
          <a:endParaRPr lang="en-US"/>
        </a:p>
      </dgm:t>
    </dgm:pt>
    <dgm:pt modelId="{2A9E69EA-6925-4545-BEF2-60E9BF36BA18}" type="sibTrans" cxnId="{1A6D6AD1-F758-45C5-A3AD-6F17CB178BFD}">
      <dgm:prSet/>
      <dgm:spPr/>
      <dgm:t>
        <a:bodyPr/>
        <a:lstStyle/>
        <a:p>
          <a:endParaRPr lang="en-US"/>
        </a:p>
      </dgm:t>
    </dgm:pt>
    <dgm:pt modelId="{BFF41A14-3992-414E-8ACF-101E65F42ED2}">
      <dgm:prSet/>
      <dgm:spPr>
        <a:solidFill>
          <a:srgbClr val="002060"/>
        </a:solidFill>
      </dgm:spPr>
      <dgm:t>
        <a:bodyPr/>
        <a:lstStyle/>
        <a:p>
          <a:r>
            <a:rPr lang="en-US" dirty="0"/>
            <a:t>9 Electrical Teams</a:t>
          </a:r>
        </a:p>
        <a:p>
          <a:r>
            <a:rPr lang="en-US" b="1" dirty="0"/>
            <a:t>OIR</a:t>
          </a:r>
        </a:p>
      </dgm:t>
    </dgm:pt>
    <dgm:pt modelId="{CBD4082B-D5AC-4385-87CC-0C57C254146C}" type="parTrans" cxnId="{38250DA7-DAFE-449A-B161-EDF03A3F3A76}">
      <dgm:prSet/>
      <dgm:spPr/>
      <dgm:t>
        <a:bodyPr/>
        <a:lstStyle/>
        <a:p>
          <a:endParaRPr lang="en-US"/>
        </a:p>
      </dgm:t>
    </dgm:pt>
    <dgm:pt modelId="{FAA6CD6E-C94F-4060-ACAE-46A2AD825858}" type="sibTrans" cxnId="{38250DA7-DAFE-449A-B161-EDF03A3F3A76}">
      <dgm:prSet/>
      <dgm:spPr/>
      <dgm:t>
        <a:bodyPr/>
        <a:lstStyle/>
        <a:p>
          <a:endParaRPr lang="en-US"/>
        </a:p>
      </dgm:t>
    </dgm:pt>
    <dgm:pt modelId="{3DB419FD-1817-4E18-B288-726F188E3C5C}">
      <dgm:prSet/>
      <dgm:spPr>
        <a:solidFill>
          <a:srgbClr val="002060"/>
        </a:solidFill>
      </dgm:spPr>
      <dgm:t>
        <a:bodyPr/>
        <a:lstStyle/>
        <a:p>
          <a:r>
            <a:rPr lang="en-US" dirty="0"/>
            <a:t>UFC Civil Eng</a:t>
          </a:r>
        </a:p>
      </dgm:t>
    </dgm:pt>
    <dgm:pt modelId="{EC264820-6950-4BFF-8627-6FBE7FB1423E}" type="parTrans" cxnId="{B0DF326B-246E-420A-9949-BC10D044B772}">
      <dgm:prSet/>
      <dgm:spPr/>
      <dgm:t>
        <a:bodyPr/>
        <a:lstStyle/>
        <a:p>
          <a:endParaRPr lang="en-US"/>
        </a:p>
      </dgm:t>
    </dgm:pt>
    <dgm:pt modelId="{45DD1C9C-DD0F-435B-915A-C2EDD1AD08C8}" type="sibTrans" cxnId="{B0DF326B-246E-420A-9949-BC10D044B772}">
      <dgm:prSet/>
      <dgm:spPr/>
      <dgm:t>
        <a:bodyPr/>
        <a:lstStyle/>
        <a:p>
          <a:endParaRPr lang="en-US"/>
        </a:p>
      </dgm:t>
    </dgm:pt>
    <dgm:pt modelId="{72DC6D42-C292-4A8E-B30F-E8C9AF1EB162}">
      <dgm:prSet/>
      <dgm:spPr>
        <a:solidFill>
          <a:srgbClr val="002060"/>
        </a:solidFill>
      </dgm:spPr>
      <dgm:t>
        <a:bodyPr/>
        <a:lstStyle/>
        <a:p>
          <a:r>
            <a:rPr lang="en-US" dirty="0"/>
            <a:t>UFC Mech / Plumb Specialist</a:t>
          </a:r>
        </a:p>
      </dgm:t>
    </dgm:pt>
    <dgm:pt modelId="{B382ED17-C418-459B-A305-78B1C629EDAE}" type="parTrans" cxnId="{C02EE022-3184-43E4-AA56-6BA67C26A0B9}">
      <dgm:prSet/>
      <dgm:spPr/>
      <dgm:t>
        <a:bodyPr/>
        <a:lstStyle/>
        <a:p>
          <a:endParaRPr lang="en-US"/>
        </a:p>
      </dgm:t>
    </dgm:pt>
    <dgm:pt modelId="{59382B59-9898-4D83-9576-6C40F3986DB0}" type="sibTrans" cxnId="{C02EE022-3184-43E4-AA56-6BA67C26A0B9}">
      <dgm:prSet/>
      <dgm:spPr/>
      <dgm:t>
        <a:bodyPr/>
        <a:lstStyle/>
        <a:p>
          <a:endParaRPr lang="en-US"/>
        </a:p>
      </dgm:t>
    </dgm:pt>
    <dgm:pt modelId="{BACEABA6-18B8-4C50-89E4-BC62424F1C0B}">
      <dgm:prSet/>
      <dgm:spPr>
        <a:solidFill>
          <a:srgbClr val="002060"/>
        </a:solidFill>
      </dgm:spPr>
      <dgm:t>
        <a:bodyPr/>
        <a:lstStyle/>
        <a:p>
          <a:r>
            <a:rPr lang="en-US" dirty="0"/>
            <a:t>UFC Environmental Specialist</a:t>
          </a:r>
        </a:p>
      </dgm:t>
    </dgm:pt>
    <dgm:pt modelId="{5127594A-0976-4A8C-8859-EFB0EA9EF5ED}" type="parTrans" cxnId="{073D8535-8F17-4531-866D-86C2321112BC}">
      <dgm:prSet/>
      <dgm:spPr/>
      <dgm:t>
        <a:bodyPr/>
        <a:lstStyle/>
        <a:p>
          <a:endParaRPr lang="en-US"/>
        </a:p>
      </dgm:t>
    </dgm:pt>
    <dgm:pt modelId="{1E648765-DCE5-4922-A96B-138332DAD63E}" type="sibTrans" cxnId="{073D8535-8F17-4531-866D-86C2321112BC}">
      <dgm:prSet/>
      <dgm:spPr/>
      <dgm:t>
        <a:bodyPr/>
        <a:lstStyle/>
        <a:p>
          <a:endParaRPr lang="en-US"/>
        </a:p>
      </dgm:t>
    </dgm:pt>
    <dgm:pt modelId="{CB074233-6C23-4E85-8F48-F1FA93E8E973}">
      <dgm:prSet/>
      <dgm:spPr>
        <a:solidFill>
          <a:srgbClr val="002060"/>
        </a:solidFill>
      </dgm:spPr>
      <dgm:t>
        <a:bodyPr/>
        <a:lstStyle/>
        <a:p>
          <a:r>
            <a:rPr lang="en-US" dirty="0"/>
            <a:t>UFC Electrical SME</a:t>
          </a:r>
        </a:p>
      </dgm:t>
    </dgm:pt>
    <dgm:pt modelId="{2936E4F8-DEE7-43F2-8062-F312E94D8F3D}" type="parTrans" cxnId="{AE4AD6D8-022D-47B3-A8A8-DD3CDD734AB9}">
      <dgm:prSet/>
      <dgm:spPr/>
      <dgm:t>
        <a:bodyPr/>
        <a:lstStyle/>
        <a:p>
          <a:endParaRPr lang="en-US"/>
        </a:p>
      </dgm:t>
    </dgm:pt>
    <dgm:pt modelId="{DBE0DB85-C05D-4C41-AC03-A50326948CE4}" type="sibTrans" cxnId="{AE4AD6D8-022D-47B3-A8A8-DD3CDD734AB9}">
      <dgm:prSet/>
      <dgm:spPr/>
      <dgm:t>
        <a:bodyPr/>
        <a:lstStyle/>
        <a:p>
          <a:endParaRPr lang="en-US"/>
        </a:p>
      </dgm:t>
    </dgm:pt>
    <dgm:pt modelId="{BD0FE7DA-9E6D-434B-B657-C739C62928C4}">
      <dgm:prSet/>
      <dgm:spPr>
        <a:solidFill>
          <a:srgbClr val="7030A0"/>
        </a:solidFill>
      </dgm:spPr>
      <dgm:t>
        <a:bodyPr/>
        <a:lstStyle/>
        <a:p>
          <a:r>
            <a:rPr lang="en-US" dirty="0"/>
            <a:t>Materials Control Supervisor</a:t>
          </a:r>
        </a:p>
      </dgm:t>
    </dgm:pt>
    <dgm:pt modelId="{D4251FAE-D835-4019-B6AC-83E7D1915818}" type="parTrans" cxnId="{76A50011-EABF-4091-8466-1A0B4FAA7578}">
      <dgm:prSet/>
      <dgm:spPr/>
      <dgm:t>
        <a:bodyPr/>
        <a:lstStyle/>
        <a:p>
          <a:endParaRPr lang="en-US"/>
        </a:p>
      </dgm:t>
    </dgm:pt>
    <dgm:pt modelId="{5CC5DAB5-127D-4DEE-9587-D36510D7A96D}" type="sibTrans" cxnId="{76A50011-EABF-4091-8466-1A0B4FAA7578}">
      <dgm:prSet/>
      <dgm:spPr/>
      <dgm:t>
        <a:bodyPr/>
        <a:lstStyle/>
        <a:p>
          <a:endParaRPr lang="en-US"/>
        </a:p>
      </dgm:t>
    </dgm:pt>
    <dgm:pt modelId="{8130474A-F422-422F-92E3-3A57E4D3E377}">
      <dgm:prSet/>
      <dgm:spPr>
        <a:solidFill>
          <a:srgbClr val="7030A0"/>
        </a:solidFill>
      </dgm:spPr>
      <dgm:t>
        <a:bodyPr/>
        <a:lstStyle/>
        <a:p>
          <a:r>
            <a:rPr lang="en-US" dirty="0"/>
            <a:t>Materials Control Specialist</a:t>
          </a:r>
        </a:p>
      </dgm:t>
    </dgm:pt>
    <dgm:pt modelId="{E9FEEA74-EC24-44E2-85BF-4733331CCAFE}" type="parTrans" cxnId="{F55220E5-44E6-446B-B029-ACAA9B845A27}">
      <dgm:prSet/>
      <dgm:spPr/>
      <dgm:t>
        <a:bodyPr/>
        <a:lstStyle/>
        <a:p>
          <a:endParaRPr lang="en-US"/>
        </a:p>
      </dgm:t>
    </dgm:pt>
    <dgm:pt modelId="{1909297F-AE93-4C46-9723-0CE4B412EE04}" type="sibTrans" cxnId="{F55220E5-44E6-446B-B029-ACAA9B845A27}">
      <dgm:prSet/>
      <dgm:spPr/>
      <dgm:t>
        <a:bodyPr/>
        <a:lstStyle/>
        <a:p>
          <a:endParaRPr lang="en-US"/>
        </a:p>
      </dgm:t>
    </dgm:pt>
    <dgm:pt modelId="{42B87596-7F07-41A1-A70B-72C78E1DEF71}">
      <dgm:prSet/>
      <dgm:spPr>
        <a:solidFill>
          <a:srgbClr val="7030A0"/>
        </a:solidFill>
      </dgm:spPr>
      <dgm:t>
        <a:bodyPr/>
        <a:lstStyle/>
        <a:p>
          <a:r>
            <a:rPr lang="en-US" dirty="0"/>
            <a:t>Program Director / Manager</a:t>
          </a:r>
        </a:p>
      </dgm:t>
    </dgm:pt>
    <dgm:pt modelId="{85669741-E7BD-4179-82D3-46F118E8E51F}" type="sibTrans" cxnId="{90F48DFC-5F40-4272-8E92-5E0361B8A0F4}">
      <dgm:prSet/>
      <dgm:spPr/>
      <dgm:t>
        <a:bodyPr/>
        <a:lstStyle/>
        <a:p>
          <a:endParaRPr lang="en-US"/>
        </a:p>
      </dgm:t>
    </dgm:pt>
    <dgm:pt modelId="{3916882C-82DC-4208-A7B0-8B580A64458C}" type="parTrans" cxnId="{90F48DFC-5F40-4272-8E92-5E0361B8A0F4}">
      <dgm:prSet/>
      <dgm:spPr/>
      <dgm:t>
        <a:bodyPr/>
        <a:lstStyle/>
        <a:p>
          <a:endParaRPr lang="en-US"/>
        </a:p>
      </dgm:t>
    </dgm:pt>
    <dgm:pt modelId="{9B717813-5DCD-4223-A7C4-66F726E91FB7}" type="pres">
      <dgm:prSet presAssocID="{14640491-71B1-456A-B353-0186BCAED474}" presName="hierChild1" presStyleCnt="0">
        <dgm:presLayoutVars>
          <dgm:orgChart val="1"/>
          <dgm:chPref val="1"/>
          <dgm:dir/>
          <dgm:animOne val="branch"/>
          <dgm:animLvl val="lvl"/>
          <dgm:resizeHandles/>
        </dgm:presLayoutVars>
      </dgm:prSet>
      <dgm:spPr/>
    </dgm:pt>
    <dgm:pt modelId="{09B9909A-B783-4246-8C90-3A65EA31BE5F}" type="pres">
      <dgm:prSet presAssocID="{42B87596-7F07-41A1-A70B-72C78E1DEF71}" presName="hierRoot1" presStyleCnt="0">
        <dgm:presLayoutVars>
          <dgm:hierBranch val="init"/>
        </dgm:presLayoutVars>
      </dgm:prSet>
      <dgm:spPr/>
    </dgm:pt>
    <dgm:pt modelId="{F7A3E3B5-5A1D-44AA-B4BC-4F1B26B40B04}" type="pres">
      <dgm:prSet presAssocID="{42B87596-7F07-41A1-A70B-72C78E1DEF71}" presName="rootComposite1" presStyleCnt="0"/>
      <dgm:spPr/>
    </dgm:pt>
    <dgm:pt modelId="{EA26517B-EB9A-4550-9C45-F9B1FC3C92F1}" type="pres">
      <dgm:prSet presAssocID="{42B87596-7F07-41A1-A70B-72C78E1DEF71}" presName="rootText1" presStyleLbl="node0" presStyleIdx="0" presStyleCnt="1">
        <dgm:presLayoutVars>
          <dgm:chPref val="3"/>
        </dgm:presLayoutVars>
      </dgm:prSet>
      <dgm:spPr/>
    </dgm:pt>
    <dgm:pt modelId="{03F697D7-1028-4D29-AB35-8E2460E53471}" type="pres">
      <dgm:prSet presAssocID="{42B87596-7F07-41A1-A70B-72C78E1DEF71}" presName="rootConnector1" presStyleLbl="node1" presStyleIdx="0" presStyleCnt="0"/>
      <dgm:spPr/>
    </dgm:pt>
    <dgm:pt modelId="{283909BD-5953-422B-A873-FC23E1AB5E6D}" type="pres">
      <dgm:prSet presAssocID="{42B87596-7F07-41A1-A70B-72C78E1DEF71}" presName="hierChild2" presStyleCnt="0"/>
      <dgm:spPr/>
    </dgm:pt>
    <dgm:pt modelId="{2CF180C9-ACE6-4E7A-9BAF-649D60F824C4}" type="pres">
      <dgm:prSet presAssocID="{E8D45705-2157-47C1-947B-98EA9FCE1B3D}" presName="Name37" presStyleLbl="parChTrans1D2" presStyleIdx="0" presStyleCnt="1"/>
      <dgm:spPr/>
    </dgm:pt>
    <dgm:pt modelId="{50A6C0BB-D276-40B7-BF82-F2FEC194FC3C}" type="pres">
      <dgm:prSet presAssocID="{1813C9EF-B504-4F69-917A-BDBD27BD3804}" presName="hierRoot2" presStyleCnt="0">
        <dgm:presLayoutVars>
          <dgm:hierBranch val="init"/>
        </dgm:presLayoutVars>
      </dgm:prSet>
      <dgm:spPr/>
    </dgm:pt>
    <dgm:pt modelId="{E4513AA7-7480-461E-A821-E694B89EF5ED}" type="pres">
      <dgm:prSet presAssocID="{1813C9EF-B504-4F69-917A-BDBD27BD3804}" presName="rootComposite" presStyleCnt="0"/>
      <dgm:spPr/>
    </dgm:pt>
    <dgm:pt modelId="{175A471F-C9CC-4FF2-8F48-FDD6DF680464}" type="pres">
      <dgm:prSet presAssocID="{1813C9EF-B504-4F69-917A-BDBD27BD3804}" presName="rootText" presStyleLbl="node2" presStyleIdx="0" presStyleCnt="1">
        <dgm:presLayoutVars>
          <dgm:chPref val="3"/>
        </dgm:presLayoutVars>
      </dgm:prSet>
      <dgm:spPr/>
    </dgm:pt>
    <dgm:pt modelId="{6C398F15-7287-4740-A46C-52CFD403041A}" type="pres">
      <dgm:prSet presAssocID="{1813C9EF-B504-4F69-917A-BDBD27BD3804}" presName="rootConnector" presStyleLbl="node2" presStyleIdx="0" presStyleCnt="1"/>
      <dgm:spPr/>
    </dgm:pt>
    <dgm:pt modelId="{3AFDB49F-E33F-42C6-9E6D-20479ED5AE3B}" type="pres">
      <dgm:prSet presAssocID="{1813C9EF-B504-4F69-917A-BDBD27BD3804}" presName="hierChild4" presStyleCnt="0"/>
      <dgm:spPr/>
    </dgm:pt>
    <dgm:pt modelId="{1B12E972-93AD-44EA-921A-D64640132E2D}" type="pres">
      <dgm:prSet presAssocID="{78D5E821-CAE4-4191-8133-1FA6D774E41B}" presName="Name37" presStyleLbl="parChTrans1D3" presStyleIdx="0" presStyleCnt="6"/>
      <dgm:spPr/>
    </dgm:pt>
    <dgm:pt modelId="{6AD8359A-BA9D-4543-92DB-62E365B87CCB}" type="pres">
      <dgm:prSet presAssocID="{78FA70F5-EEEC-412B-9875-F5738EB8E454}" presName="hierRoot2" presStyleCnt="0">
        <dgm:presLayoutVars>
          <dgm:hierBranch val="init"/>
        </dgm:presLayoutVars>
      </dgm:prSet>
      <dgm:spPr/>
    </dgm:pt>
    <dgm:pt modelId="{FB7BD395-24AD-4ED9-8BC1-409BE7945433}" type="pres">
      <dgm:prSet presAssocID="{78FA70F5-EEEC-412B-9875-F5738EB8E454}" presName="rootComposite" presStyleCnt="0"/>
      <dgm:spPr/>
    </dgm:pt>
    <dgm:pt modelId="{D886DEBB-7C7D-4FFD-A40F-4F6EBDA45157}" type="pres">
      <dgm:prSet presAssocID="{78FA70F5-EEEC-412B-9875-F5738EB8E454}" presName="rootText" presStyleLbl="node3" presStyleIdx="0" presStyleCnt="6">
        <dgm:presLayoutVars>
          <dgm:chPref val="3"/>
        </dgm:presLayoutVars>
      </dgm:prSet>
      <dgm:spPr/>
    </dgm:pt>
    <dgm:pt modelId="{4A3B3CB8-B97C-4DF4-93B8-9EC55F54F2FB}" type="pres">
      <dgm:prSet presAssocID="{78FA70F5-EEEC-412B-9875-F5738EB8E454}" presName="rootConnector" presStyleLbl="node3" presStyleIdx="0" presStyleCnt="6"/>
      <dgm:spPr/>
    </dgm:pt>
    <dgm:pt modelId="{2192A04E-231B-4DFB-8D75-0BBC60E440B8}" type="pres">
      <dgm:prSet presAssocID="{78FA70F5-EEEC-412B-9875-F5738EB8E454}" presName="hierChild4" presStyleCnt="0"/>
      <dgm:spPr/>
    </dgm:pt>
    <dgm:pt modelId="{D2B2A0BA-809E-4EE6-8DA3-75D8B8D969AA}" type="pres">
      <dgm:prSet presAssocID="{78FA70F5-EEEC-412B-9875-F5738EB8E454}" presName="hierChild5" presStyleCnt="0"/>
      <dgm:spPr/>
    </dgm:pt>
    <dgm:pt modelId="{C2023CB1-F6EA-4971-A708-AA8CE25598B3}" type="pres">
      <dgm:prSet presAssocID="{8B12407A-3D3D-465B-A42C-17F7A5762547}" presName="Name37" presStyleLbl="parChTrans1D3" presStyleIdx="1" presStyleCnt="6"/>
      <dgm:spPr/>
    </dgm:pt>
    <dgm:pt modelId="{D53C447E-1CD1-4270-911E-914A68EE910C}" type="pres">
      <dgm:prSet presAssocID="{350877FB-B473-4BF2-84D4-9B2406F7397B}" presName="hierRoot2" presStyleCnt="0">
        <dgm:presLayoutVars>
          <dgm:hierBranch val="init"/>
        </dgm:presLayoutVars>
      </dgm:prSet>
      <dgm:spPr/>
    </dgm:pt>
    <dgm:pt modelId="{B34BD875-032A-44B3-A8C5-B27E21DFC342}" type="pres">
      <dgm:prSet presAssocID="{350877FB-B473-4BF2-84D4-9B2406F7397B}" presName="rootComposite" presStyleCnt="0"/>
      <dgm:spPr/>
    </dgm:pt>
    <dgm:pt modelId="{0C3BE808-BE6F-4209-BC17-8D92B419ECD3}" type="pres">
      <dgm:prSet presAssocID="{350877FB-B473-4BF2-84D4-9B2406F7397B}" presName="rootText" presStyleLbl="node3" presStyleIdx="1" presStyleCnt="6">
        <dgm:presLayoutVars>
          <dgm:chPref val="3"/>
        </dgm:presLayoutVars>
      </dgm:prSet>
      <dgm:spPr/>
    </dgm:pt>
    <dgm:pt modelId="{A7554CD5-2964-4F50-9C73-7C3F61CE3729}" type="pres">
      <dgm:prSet presAssocID="{350877FB-B473-4BF2-84D4-9B2406F7397B}" presName="rootConnector" presStyleLbl="node3" presStyleIdx="1" presStyleCnt="6"/>
      <dgm:spPr/>
    </dgm:pt>
    <dgm:pt modelId="{4CE6FEF7-53FD-4DB6-9805-6E1FABF4C1DF}" type="pres">
      <dgm:prSet presAssocID="{350877FB-B473-4BF2-84D4-9B2406F7397B}" presName="hierChild4" presStyleCnt="0"/>
      <dgm:spPr/>
    </dgm:pt>
    <dgm:pt modelId="{B4C2D17B-1E23-4516-B5B7-92F40015FC60}" type="pres">
      <dgm:prSet presAssocID="{378DF43C-CE19-4B56-840C-2B3733B69BB8}" presName="Name37" presStyleLbl="parChTrans1D4" presStyleIdx="0" presStyleCnt="9"/>
      <dgm:spPr/>
    </dgm:pt>
    <dgm:pt modelId="{B044CACD-590B-4AD8-ABEC-24CCA352CBEA}" type="pres">
      <dgm:prSet presAssocID="{467944A2-BCEE-47CA-B7B9-2666B42B55EF}" presName="hierRoot2" presStyleCnt="0">
        <dgm:presLayoutVars>
          <dgm:hierBranch val="init"/>
        </dgm:presLayoutVars>
      </dgm:prSet>
      <dgm:spPr/>
    </dgm:pt>
    <dgm:pt modelId="{07626AA4-9CEB-446D-9F77-D1D484770592}" type="pres">
      <dgm:prSet presAssocID="{467944A2-BCEE-47CA-B7B9-2666B42B55EF}" presName="rootComposite" presStyleCnt="0"/>
      <dgm:spPr/>
    </dgm:pt>
    <dgm:pt modelId="{882DE9C0-FFB3-4D04-AA62-4D1A7FF8C070}" type="pres">
      <dgm:prSet presAssocID="{467944A2-BCEE-47CA-B7B9-2666B42B55EF}" presName="rootText" presStyleLbl="node4" presStyleIdx="0" presStyleCnt="9">
        <dgm:presLayoutVars>
          <dgm:chPref val="3"/>
        </dgm:presLayoutVars>
      </dgm:prSet>
      <dgm:spPr/>
    </dgm:pt>
    <dgm:pt modelId="{DF7D6EC5-E3E0-4C15-8528-078440C5EF87}" type="pres">
      <dgm:prSet presAssocID="{467944A2-BCEE-47CA-B7B9-2666B42B55EF}" presName="rootConnector" presStyleLbl="node4" presStyleIdx="0" presStyleCnt="9"/>
      <dgm:spPr/>
    </dgm:pt>
    <dgm:pt modelId="{114C4CE5-378A-48B9-8D72-5E3CFE075E87}" type="pres">
      <dgm:prSet presAssocID="{467944A2-BCEE-47CA-B7B9-2666B42B55EF}" presName="hierChild4" presStyleCnt="0"/>
      <dgm:spPr/>
    </dgm:pt>
    <dgm:pt modelId="{34CF9A44-3D9A-4D51-90CF-8B0E5A73AC05}" type="pres">
      <dgm:prSet presAssocID="{467944A2-BCEE-47CA-B7B9-2666B42B55EF}" presName="hierChild5" presStyleCnt="0"/>
      <dgm:spPr/>
    </dgm:pt>
    <dgm:pt modelId="{5FA89249-17DB-4EEA-81E3-E6A6188FCBCC}" type="pres">
      <dgm:prSet presAssocID="{350877FB-B473-4BF2-84D4-9B2406F7397B}" presName="hierChild5" presStyleCnt="0"/>
      <dgm:spPr/>
    </dgm:pt>
    <dgm:pt modelId="{86A4764D-1DFE-432E-9DA7-E2DE85C9B7F5}" type="pres">
      <dgm:prSet presAssocID="{B1CF71D2-B398-468F-B9B2-C7E9520DFD45}" presName="Name37" presStyleLbl="parChTrans1D3" presStyleIdx="2" presStyleCnt="6"/>
      <dgm:spPr/>
    </dgm:pt>
    <dgm:pt modelId="{F1AC52DB-D8FF-46EC-9476-ECD557CB1FC5}" type="pres">
      <dgm:prSet presAssocID="{6728EEE9-6E65-40AE-B84A-B294A14B8034}" presName="hierRoot2" presStyleCnt="0">
        <dgm:presLayoutVars>
          <dgm:hierBranch val="init"/>
        </dgm:presLayoutVars>
      </dgm:prSet>
      <dgm:spPr/>
    </dgm:pt>
    <dgm:pt modelId="{855BDC3C-A37D-4F87-B086-081684141026}" type="pres">
      <dgm:prSet presAssocID="{6728EEE9-6E65-40AE-B84A-B294A14B8034}" presName="rootComposite" presStyleCnt="0"/>
      <dgm:spPr/>
    </dgm:pt>
    <dgm:pt modelId="{97131EF5-8EF9-40A4-A4C9-849EED37F977}" type="pres">
      <dgm:prSet presAssocID="{6728EEE9-6E65-40AE-B84A-B294A14B8034}" presName="rootText" presStyleLbl="node3" presStyleIdx="2" presStyleCnt="6">
        <dgm:presLayoutVars>
          <dgm:chPref val="3"/>
        </dgm:presLayoutVars>
      </dgm:prSet>
      <dgm:spPr/>
    </dgm:pt>
    <dgm:pt modelId="{F3522A4D-8B8A-478A-A7B7-00C00B9CFB63}" type="pres">
      <dgm:prSet presAssocID="{6728EEE9-6E65-40AE-B84A-B294A14B8034}" presName="rootConnector" presStyleLbl="node3" presStyleIdx="2" presStyleCnt="6"/>
      <dgm:spPr/>
    </dgm:pt>
    <dgm:pt modelId="{011F6930-9D04-4B55-88E8-9CB6562E5CF3}" type="pres">
      <dgm:prSet presAssocID="{6728EEE9-6E65-40AE-B84A-B294A14B8034}" presName="hierChild4" presStyleCnt="0"/>
      <dgm:spPr/>
    </dgm:pt>
    <dgm:pt modelId="{EE3DBEB8-F577-4808-902C-DE98F6BE0BF2}" type="pres">
      <dgm:prSet presAssocID="{6728EEE9-6E65-40AE-B84A-B294A14B8034}" presName="hierChild5" presStyleCnt="0"/>
      <dgm:spPr/>
    </dgm:pt>
    <dgm:pt modelId="{D0241009-92C1-42C2-B62F-27587FF383B8}" type="pres">
      <dgm:prSet presAssocID="{7923E62E-E8B5-4C31-A3A2-86599AF53939}" presName="Name37" presStyleLbl="parChTrans1D3" presStyleIdx="3" presStyleCnt="6"/>
      <dgm:spPr/>
    </dgm:pt>
    <dgm:pt modelId="{84E7B863-7C39-4A43-89A7-C23B3FAA07C9}" type="pres">
      <dgm:prSet presAssocID="{91DF3935-483B-4370-B1F2-6D1B8376665D}" presName="hierRoot2" presStyleCnt="0">
        <dgm:presLayoutVars>
          <dgm:hierBranch val="init"/>
        </dgm:presLayoutVars>
      </dgm:prSet>
      <dgm:spPr/>
    </dgm:pt>
    <dgm:pt modelId="{3BDA73C1-05D6-4799-AF1E-C622CCDBAABB}" type="pres">
      <dgm:prSet presAssocID="{91DF3935-483B-4370-B1F2-6D1B8376665D}" presName="rootComposite" presStyleCnt="0"/>
      <dgm:spPr/>
    </dgm:pt>
    <dgm:pt modelId="{9EE388ED-C6B6-4094-949D-32BA5F826AE3}" type="pres">
      <dgm:prSet presAssocID="{91DF3935-483B-4370-B1F2-6D1B8376665D}" presName="rootText" presStyleLbl="node3" presStyleIdx="3" presStyleCnt="6">
        <dgm:presLayoutVars>
          <dgm:chPref val="3"/>
        </dgm:presLayoutVars>
      </dgm:prSet>
      <dgm:spPr/>
    </dgm:pt>
    <dgm:pt modelId="{D1D99A35-FFE8-4B80-A5C7-527118EC1A03}" type="pres">
      <dgm:prSet presAssocID="{91DF3935-483B-4370-B1F2-6D1B8376665D}" presName="rootConnector" presStyleLbl="node3" presStyleIdx="3" presStyleCnt="6"/>
      <dgm:spPr/>
    </dgm:pt>
    <dgm:pt modelId="{60CA6FC9-6911-44E7-B9E2-D0CA6377186F}" type="pres">
      <dgm:prSet presAssocID="{91DF3935-483B-4370-B1F2-6D1B8376665D}" presName="hierChild4" presStyleCnt="0"/>
      <dgm:spPr/>
    </dgm:pt>
    <dgm:pt modelId="{936506C2-F87B-40D3-B4BE-7B4D459AA5CF}" type="pres">
      <dgm:prSet presAssocID="{D4251FAE-D835-4019-B6AC-83E7D1915818}" presName="Name37" presStyleLbl="parChTrans1D4" presStyleIdx="1" presStyleCnt="9"/>
      <dgm:spPr/>
    </dgm:pt>
    <dgm:pt modelId="{E8AB68A6-975C-4482-B04F-DF5550856E50}" type="pres">
      <dgm:prSet presAssocID="{BD0FE7DA-9E6D-434B-B657-C739C62928C4}" presName="hierRoot2" presStyleCnt="0">
        <dgm:presLayoutVars>
          <dgm:hierBranch val="init"/>
        </dgm:presLayoutVars>
      </dgm:prSet>
      <dgm:spPr/>
    </dgm:pt>
    <dgm:pt modelId="{1B36A680-A880-414B-90FD-94159E14AB4D}" type="pres">
      <dgm:prSet presAssocID="{BD0FE7DA-9E6D-434B-B657-C739C62928C4}" presName="rootComposite" presStyleCnt="0"/>
      <dgm:spPr/>
    </dgm:pt>
    <dgm:pt modelId="{F89ED213-71E3-4250-8E49-C834241DB22D}" type="pres">
      <dgm:prSet presAssocID="{BD0FE7DA-9E6D-434B-B657-C739C62928C4}" presName="rootText" presStyleLbl="node4" presStyleIdx="1" presStyleCnt="9">
        <dgm:presLayoutVars>
          <dgm:chPref val="3"/>
        </dgm:presLayoutVars>
      </dgm:prSet>
      <dgm:spPr/>
    </dgm:pt>
    <dgm:pt modelId="{C0DF621D-A85E-47BC-BC35-A692C3849DF7}" type="pres">
      <dgm:prSet presAssocID="{BD0FE7DA-9E6D-434B-B657-C739C62928C4}" presName="rootConnector" presStyleLbl="node4" presStyleIdx="1" presStyleCnt="9"/>
      <dgm:spPr/>
    </dgm:pt>
    <dgm:pt modelId="{FE3F7718-C8F0-483E-820E-022E21043631}" type="pres">
      <dgm:prSet presAssocID="{BD0FE7DA-9E6D-434B-B657-C739C62928C4}" presName="hierChild4" presStyleCnt="0"/>
      <dgm:spPr/>
    </dgm:pt>
    <dgm:pt modelId="{7FDE7476-160A-4A1E-82D6-D5121BEA1624}" type="pres">
      <dgm:prSet presAssocID="{BD0FE7DA-9E6D-434B-B657-C739C62928C4}" presName="hierChild5" presStyleCnt="0"/>
      <dgm:spPr/>
    </dgm:pt>
    <dgm:pt modelId="{1AB4AE93-7431-4B93-8C55-463EBAC63777}" type="pres">
      <dgm:prSet presAssocID="{E9FEEA74-EC24-44E2-85BF-4733331CCAFE}" presName="Name37" presStyleLbl="parChTrans1D4" presStyleIdx="2" presStyleCnt="9"/>
      <dgm:spPr/>
    </dgm:pt>
    <dgm:pt modelId="{880B04B9-1442-4504-B46B-4601F806D254}" type="pres">
      <dgm:prSet presAssocID="{8130474A-F422-422F-92E3-3A57E4D3E377}" presName="hierRoot2" presStyleCnt="0">
        <dgm:presLayoutVars>
          <dgm:hierBranch val="init"/>
        </dgm:presLayoutVars>
      </dgm:prSet>
      <dgm:spPr/>
    </dgm:pt>
    <dgm:pt modelId="{C5A6FEB9-72F2-437F-9016-D86C639D1580}" type="pres">
      <dgm:prSet presAssocID="{8130474A-F422-422F-92E3-3A57E4D3E377}" presName="rootComposite" presStyleCnt="0"/>
      <dgm:spPr/>
    </dgm:pt>
    <dgm:pt modelId="{119A01AE-B6D2-46A6-969D-85B7A3FADD96}" type="pres">
      <dgm:prSet presAssocID="{8130474A-F422-422F-92E3-3A57E4D3E377}" presName="rootText" presStyleLbl="node4" presStyleIdx="2" presStyleCnt="9">
        <dgm:presLayoutVars>
          <dgm:chPref val="3"/>
        </dgm:presLayoutVars>
      </dgm:prSet>
      <dgm:spPr/>
    </dgm:pt>
    <dgm:pt modelId="{8E7A8B41-FC1E-4A8D-98E0-56A414DD523F}" type="pres">
      <dgm:prSet presAssocID="{8130474A-F422-422F-92E3-3A57E4D3E377}" presName="rootConnector" presStyleLbl="node4" presStyleIdx="2" presStyleCnt="9"/>
      <dgm:spPr/>
    </dgm:pt>
    <dgm:pt modelId="{09476918-2F93-433E-9B1B-773413FE5B4F}" type="pres">
      <dgm:prSet presAssocID="{8130474A-F422-422F-92E3-3A57E4D3E377}" presName="hierChild4" presStyleCnt="0"/>
      <dgm:spPr/>
    </dgm:pt>
    <dgm:pt modelId="{BADD7164-CE5E-4B54-9815-840FB42CB93C}" type="pres">
      <dgm:prSet presAssocID="{8130474A-F422-422F-92E3-3A57E4D3E377}" presName="hierChild5" presStyleCnt="0"/>
      <dgm:spPr/>
    </dgm:pt>
    <dgm:pt modelId="{36CFB26A-D02E-4708-AA26-2EAB7F398BED}" type="pres">
      <dgm:prSet presAssocID="{91DF3935-483B-4370-B1F2-6D1B8376665D}" presName="hierChild5" presStyleCnt="0"/>
      <dgm:spPr/>
    </dgm:pt>
    <dgm:pt modelId="{4CA96ED4-703D-4BCA-8F3E-0B51D981D579}" type="pres">
      <dgm:prSet presAssocID="{8390EAFA-D1D2-416E-ABD8-DFF6478BA659}" presName="Name37" presStyleLbl="parChTrans1D3" presStyleIdx="4" presStyleCnt="6"/>
      <dgm:spPr/>
    </dgm:pt>
    <dgm:pt modelId="{37B96B5A-2084-41FE-88CE-3E234AD24946}" type="pres">
      <dgm:prSet presAssocID="{086FD10C-8A1F-4B0D-9AAE-F97F30BF0352}" presName="hierRoot2" presStyleCnt="0">
        <dgm:presLayoutVars>
          <dgm:hierBranch val="init"/>
        </dgm:presLayoutVars>
      </dgm:prSet>
      <dgm:spPr/>
    </dgm:pt>
    <dgm:pt modelId="{6D58E28C-DE91-430E-8DED-797D77FBB1ED}" type="pres">
      <dgm:prSet presAssocID="{086FD10C-8A1F-4B0D-9AAE-F97F30BF0352}" presName="rootComposite" presStyleCnt="0"/>
      <dgm:spPr/>
    </dgm:pt>
    <dgm:pt modelId="{77B15598-C55C-4DEA-A0FD-B17CA8174B06}" type="pres">
      <dgm:prSet presAssocID="{086FD10C-8A1F-4B0D-9AAE-F97F30BF0352}" presName="rootText" presStyleLbl="node3" presStyleIdx="4" presStyleCnt="6">
        <dgm:presLayoutVars>
          <dgm:chPref val="3"/>
        </dgm:presLayoutVars>
      </dgm:prSet>
      <dgm:spPr/>
    </dgm:pt>
    <dgm:pt modelId="{45D8507B-B8B0-4CAA-B45C-38CFA764B35D}" type="pres">
      <dgm:prSet presAssocID="{086FD10C-8A1F-4B0D-9AAE-F97F30BF0352}" presName="rootConnector" presStyleLbl="node3" presStyleIdx="4" presStyleCnt="6"/>
      <dgm:spPr/>
    </dgm:pt>
    <dgm:pt modelId="{12A33F50-677E-4D67-97B9-62DCE5066DFD}" type="pres">
      <dgm:prSet presAssocID="{086FD10C-8A1F-4B0D-9AAE-F97F30BF0352}" presName="hierChild4" presStyleCnt="0"/>
      <dgm:spPr/>
    </dgm:pt>
    <dgm:pt modelId="{7A9C9D02-36F8-41E0-8610-D084094AF68E}" type="pres">
      <dgm:prSet presAssocID="{A2310A9F-79A8-4CAD-BB55-0B2D651C93B4}" presName="Name37" presStyleLbl="parChTrans1D4" presStyleIdx="3" presStyleCnt="9"/>
      <dgm:spPr/>
    </dgm:pt>
    <dgm:pt modelId="{AC92D473-38C8-4008-B4DD-555D03000C1D}" type="pres">
      <dgm:prSet presAssocID="{8B85DA98-BCA7-4D76-8653-21904667C3B3}" presName="hierRoot2" presStyleCnt="0">
        <dgm:presLayoutVars>
          <dgm:hierBranch val="init"/>
        </dgm:presLayoutVars>
      </dgm:prSet>
      <dgm:spPr/>
    </dgm:pt>
    <dgm:pt modelId="{CCB3F462-B54C-4EF1-A690-D341D3FFCEA6}" type="pres">
      <dgm:prSet presAssocID="{8B85DA98-BCA7-4D76-8653-21904667C3B3}" presName="rootComposite" presStyleCnt="0"/>
      <dgm:spPr/>
    </dgm:pt>
    <dgm:pt modelId="{5C1F0393-820F-47DC-8510-8C24FF608224}" type="pres">
      <dgm:prSet presAssocID="{8B85DA98-BCA7-4D76-8653-21904667C3B3}" presName="rootText" presStyleLbl="node4" presStyleIdx="3" presStyleCnt="9">
        <dgm:presLayoutVars>
          <dgm:chPref val="3"/>
        </dgm:presLayoutVars>
      </dgm:prSet>
      <dgm:spPr/>
    </dgm:pt>
    <dgm:pt modelId="{85E4590E-D2CF-4485-B5FA-D97111CE0B45}" type="pres">
      <dgm:prSet presAssocID="{8B85DA98-BCA7-4D76-8653-21904667C3B3}" presName="rootConnector" presStyleLbl="node4" presStyleIdx="3" presStyleCnt="9"/>
      <dgm:spPr/>
    </dgm:pt>
    <dgm:pt modelId="{93BD7A43-EA2A-4890-92C0-928E15864DA9}" type="pres">
      <dgm:prSet presAssocID="{8B85DA98-BCA7-4D76-8653-21904667C3B3}" presName="hierChild4" presStyleCnt="0"/>
      <dgm:spPr/>
    </dgm:pt>
    <dgm:pt modelId="{9EAAAE5F-151F-4C78-8453-7541A147408C}" type="pres">
      <dgm:prSet presAssocID="{8B85DA98-BCA7-4D76-8653-21904667C3B3}" presName="hierChild5" presStyleCnt="0"/>
      <dgm:spPr/>
    </dgm:pt>
    <dgm:pt modelId="{531F471E-1EDC-4F5D-BB2C-0935AA8CDCFC}" type="pres">
      <dgm:prSet presAssocID="{CBD4082B-D5AC-4385-87CC-0C57C254146C}" presName="Name37" presStyleLbl="parChTrans1D4" presStyleIdx="4" presStyleCnt="9"/>
      <dgm:spPr/>
    </dgm:pt>
    <dgm:pt modelId="{23CD9465-10A5-4ACB-B03C-9BA0610CB81F}" type="pres">
      <dgm:prSet presAssocID="{BFF41A14-3992-414E-8ACF-101E65F42ED2}" presName="hierRoot2" presStyleCnt="0">
        <dgm:presLayoutVars>
          <dgm:hierBranch val="init"/>
        </dgm:presLayoutVars>
      </dgm:prSet>
      <dgm:spPr/>
    </dgm:pt>
    <dgm:pt modelId="{FE02585B-67AF-4042-A590-CD0F50998241}" type="pres">
      <dgm:prSet presAssocID="{BFF41A14-3992-414E-8ACF-101E65F42ED2}" presName="rootComposite" presStyleCnt="0"/>
      <dgm:spPr/>
    </dgm:pt>
    <dgm:pt modelId="{1535330A-EEF5-4E8F-BE13-4068A5EE6405}" type="pres">
      <dgm:prSet presAssocID="{BFF41A14-3992-414E-8ACF-101E65F42ED2}" presName="rootText" presStyleLbl="node4" presStyleIdx="4" presStyleCnt="9">
        <dgm:presLayoutVars>
          <dgm:chPref val="3"/>
        </dgm:presLayoutVars>
      </dgm:prSet>
      <dgm:spPr/>
    </dgm:pt>
    <dgm:pt modelId="{26DF6E65-2C8C-4114-84C3-9D38BB43EF4C}" type="pres">
      <dgm:prSet presAssocID="{BFF41A14-3992-414E-8ACF-101E65F42ED2}" presName="rootConnector" presStyleLbl="node4" presStyleIdx="4" presStyleCnt="9"/>
      <dgm:spPr/>
    </dgm:pt>
    <dgm:pt modelId="{9E754F18-99EE-46ED-83B7-52C8940644EB}" type="pres">
      <dgm:prSet presAssocID="{BFF41A14-3992-414E-8ACF-101E65F42ED2}" presName="hierChild4" presStyleCnt="0"/>
      <dgm:spPr/>
    </dgm:pt>
    <dgm:pt modelId="{809C9F99-646D-4911-9D76-142FE5D68CB6}" type="pres">
      <dgm:prSet presAssocID="{BFF41A14-3992-414E-8ACF-101E65F42ED2}" presName="hierChild5" presStyleCnt="0"/>
      <dgm:spPr/>
    </dgm:pt>
    <dgm:pt modelId="{4FAA6A9C-D3F5-4A48-8BE5-BA8B8249B979}" type="pres">
      <dgm:prSet presAssocID="{086FD10C-8A1F-4B0D-9AAE-F97F30BF0352}" presName="hierChild5" presStyleCnt="0"/>
      <dgm:spPr/>
    </dgm:pt>
    <dgm:pt modelId="{D5060D1F-A586-42F9-A039-F5233E4F1E99}" type="pres">
      <dgm:prSet presAssocID="{F63F634D-C476-4D3B-B78C-4320B79CABB0}" presName="Name37" presStyleLbl="parChTrans1D3" presStyleIdx="5" presStyleCnt="6"/>
      <dgm:spPr/>
    </dgm:pt>
    <dgm:pt modelId="{FEFC2D3D-919C-4FD9-8741-A08CCE744A08}" type="pres">
      <dgm:prSet presAssocID="{7BBCA5CB-8E45-4F72-B3AA-5FD27A722C5D}" presName="hierRoot2" presStyleCnt="0">
        <dgm:presLayoutVars>
          <dgm:hierBranch val="init"/>
        </dgm:presLayoutVars>
      </dgm:prSet>
      <dgm:spPr/>
    </dgm:pt>
    <dgm:pt modelId="{8FF46D31-1A21-4020-AEC7-FF05FFC3A5C4}" type="pres">
      <dgm:prSet presAssocID="{7BBCA5CB-8E45-4F72-B3AA-5FD27A722C5D}" presName="rootComposite" presStyleCnt="0"/>
      <dgm:spPr/>
    </dgm:pt>
    <dgm:pt modelId="{E1D20AD2-40D0-48B4-A968-2369DF8AFFEF}" type="pres">
      <dgm:prSet presAssocID="{7BBCA5CB-8E45-4F72-B3AA-5FD27A722C5D}" presName="rootText" presStyleLbl="node3" presStyleIdx="5" presStyleCnt="6">
        <dgm:presLayoutVars>
          <dgm:chPref val="3"/>
        </dgm:presLayoutVars>
      </dgm:prSet>
      <dgm:spPr/>
    </dgm:pt>
    <dgm:pt modelId="{19918913-ADA0-42BA-A67C-085BD22EDA9E}" type="pres">
      <dgm:prSet presAssocID="{7BBCA5CB-8E45-4F72-B3AA-5FD27A722C5D}" presName="rootConnector" presStyleLbl="node3" presStyleIdx="5" presStyleCnt="6"/>
      <dgm:spPr/>
    </dgm:pt>
    <dgm:pt modelId="{EAB04D65-F389-4981-AC6F-7CB4E6DD352D}" type="pres">
      <dgm:prSet presAssocID="{7BBCA5CB-8E45-4F72-B3AA-5FD27A722C5D}" presName="hierChild4" presStyleCnt="0"/>
      <dgm:spPr/>
    </dgm:pt>
    <dgm:pt modelId="{698FD7D3-A7F4-4CE5-BCE3-BD9FD3764DB9}" type="pres">
      <dgm:prSet presAssocID="{EC264820-6950-4BFF-8627-6FBE7FB1423E}" presName="Name37" presStyleLbl="parChTrans1D4" presStyleIdx="5" presStyleCnt="9"/>
      <dgm:spPr/>
    </dgm:pt>
    <dgm:pt modelId="{C6E08C88-9B99-4F5B-94DC-1F33D1F546C1}" type="pres">
      <dgm:prSet presAssocID="{3DB419FD-1817-4E18-B288-726F188E3C5C}" presName="hierRoot2" presStyleCnt="0">
        <dgm:presLayoutVars>
          <dgm:hierBranch val="init"/>
        </dgm:presLayoutVars>
      </dgm:prSet>
      <dgm:spPr/>
    </dgm:pt>
    <dgm:pt modelId="{EDB47D86-128D-49A0-BC14-A17C8769A8D9}" type="pres">
      <dgm:prSet presAssocID="{3DB419FD-1817-4E18-B288-726F188E3C5C}" presName="rootComposite" presStyleCnt="0"/>
      <dgm:spPr/>
    </dgm:pt>
    <dgm:pt modelId="{5F8A7D07-AAA5-4280-A04D-C85CEF9ACBEA}" type="pres">
      <dgm:prSet presAssocID="{3DB419FD-1817-4E18-B288-726F188E3C5C}" presName="rootText" presStyleLbl="node4" presStyleIdx="5" presStyleCnt="9">
        <dgm:presLayoutVars>
          <dgm:chPref val="3"/>
        </dgm:presLayoutVars>
      </dgm:prSet>
      <dgm:spPr/>
    </dgm:pt>
    <dgm:pt modelId="{C2DC1F37-39A6-4854-89BB-64571B920BF8}" type="pres">
      <dgm:prSet presAssocID="{3DB419FD-1817-4E18-B288-726F188E3C5C}" presName="rootConnector" presStyleLbl="node4" presStyleIdx="5" presStyleCnt="9"/>
      <dgm:spPr/>
    </dgm:pt>
    <dgm:pt modelId="{9A2B7277-6D23-4D3C-825C-28584DF96EA9}" type="pres">
      <dgm:prSet presAssocID="{3DB419FD-1817-4E18-B288-726F188E3C5C}" presName="hierChild4" presStyleCnt="0"/>
      <dgm:spPr/>
    </dgm:pt>
    <dgm:pt modelId="{300BACBB-31FA-4802-B167-591B4DAFD88C}" type="pres">
      <dgm:prSet presAssocID="{3DB419FD-1817-4E18-B288-726F188E3C5C}" presName="hierChild5" presStyleCnt="0"/>
      <dgm:spPr/>
    </dgm:pt>
    <dgm:pt modelId="{084C382B-52D8-422C-94CD-3914D5E66CD1}" type="pres">
      <dgm:prSet presAssocID="{B382ED17-C418-459B-A305-78B1C629EDAE}" presName="Name37" presStyleLbl="parChTrans1D4" presStyleIdx="6" presStyleCnt="9"/>
      <dgm:spPr/>
    </dgm:pt>
    <dgm:pt modelId="{9639BBC7-D564-43E9-8F16-595677316B23}" type="pres">
      <dgm:prSet presAssocID="{72DC6D42-C292-4A8E-B30F-E8C9AF1EB162}" presName="hierRoot2" presStyleCnt="0">
        <dgm:presLayoutVars>
          <dgm:hierBranch val="init"/>
        </dgm:presLayoutVars>
      </dgm:prSet>
      <dgm:spPr/>
    </dgm:pt>
    <dgm:pt modelId="{3FD76EAE-9874-4D82-92B1-CBFCAFDE1949}" type="pres">
      <dgm:prSet presAssocID="{72DC6D42-C292-4A8E-B30F-E8C9AF1EB162}" presName="rootComposite" presStyleCnt="0"/>
      <dgm:spPr/>
    </dgm:pt>
    <dgm:pt modelId="{E266774C-AEC1-49B4-A116-CBE5CE0CFCE2}" type="pres">
      <dgm:prSet presAssocID="{72DC6D42-C292-4A8E-B30F-E8C9AF1EB162}" presName="rootText" presStyleLbl="node4" presStyleIdx="6" presStyleCnt="9">
        <dgm:presLayoutVars>
          <dgm:chPref val="3"/>
        </dgm:presLayoutVars>
      </dgm:prSet>
      <dgm:spPr/>
    </dgm:pt>
    <dgm:pt modelId="{879B6960-565A-4DEA-9528-FD4BD5CB2083}" type="pres">
      <dgm:prSet presAssocID="{72DC6D42-C292-4A8E-B30F-E8C9AF1EB162}" presName="rootConnector" presStyleLbl="node4" presStyleIdx="6" presStyleCnt="9"/>
      <dgm:spPr/>
    </dgm:pt>
    <dgm:pt modelId="{3D66A921-3F16-4EEE-A526-CB636808F324}" type="pres">
      <dgm:prSet presAssocID="{72DC6D42-C292-4A8E-B30F-E8C9AF1EB162}" presName="hierChild4" presStyleCnt="0"/>
      <dgm:spPr/>
    </dgm:pt>
    <dgm:pt modelId="{EC5EB7BF-15F7-43A4-B92D-F7B6B10EB801}" type="pres">
      <dgm:prSet presAssocID="{72DC6D42-C292-4A8E-B30F-E8C9AF1EB162}" presName="hierChild5" presStyleCnt="0"/>
      <dgm:spPr/>
    </dgm:pt>
    <dgm:pt modelId="{110D735F-B869-4177-9A0A-A72D8098C2FB}" type="pres">
      <dgm:prSet presAssocID="{5127594A-0976-4A8C-8859-EFB0EA9EF5ED}" presName="Name37" presStyleLbl="parChTrans1D4" presStyleIdx="7" presStyleCnt="9"/>
      <dgm:spPr/>
    </dgm:pt>
    <dgm:pt modelId="{3422AB7A-FB0A-4C3A-9765-556E45B69B0E}" type="pres">
      <dgm:prSet presAssocID="{BACEABA6-18B8-4C50-89E4-BC62424F1C0B}" presName="hierRoot2" presStyleCnt="0">
        <dgm:presLayoutVars>
          <dgm:hierBranch val="init"/>
        </dgm:presLayoutVars>
      </dgm:prSet>
      <dgm:spPr/>
    </dgm:pt>
    <dgm:pt modelId="{1B084A67-360C-4C99-9808-18BBE76E3464}" type="pres">
      <dgm:prSet presAssocID="{BACEABA6-18B8-4C50-89E4-BC62424F1C0B}" presName="rootComposite" presStyleCnt="0"/>
      <dgm:spPr/>
    </dgm:pt>
    <dgm:pt modelId="{1D41772C-FDBB-4EB4-93D8-860CD81F3E37}" type="pres">
      <dgm:prSet presAssocID="{BACEABA6-18B8-4C50-89E4-BC62424F1C0B}" presName="rootText" presStyleLbl="node4" presStyleIdx="7" presStyleCnt="9">
        <dgm:presLayoutVars>
          <dgm:chPref val="3"/>
        </dgm:presLayoutVars>
      </dgm:prSet>
      <dgm:spPr/>
    </dgm:pt>
    <dgm:pt modelId="{11B97025-0138-49EC-9695-AEB9280E86B6}" type="pres">
      <dgm:prSet presAssocID="{BACEABA6-18B8-4C50-89E4-BC62424F1C0B}" presName="rootConnector" presStyleLbl="node4" presStyleIdx="7" presStyleCnt="9"/>
      <dgm:spPr/>
    </dgm:pt>
    <dgm:pt modelId="{1F8D041A-45A0-45B2-9B52-D71DE552DBA2}" type="pres">
      <dgm:prSet presAssocID="{BACEABA6-18B8-4C50-89E4-BC62424F1C0B}" presName="hierChild4" presStyleCnt="0"/>
      <dgm:spPr/>
    </dgm:pt>
    <dgm:pt modelId="{7B09933B-AD12-432C-83D1-7DDF67345AEC}" type="pres">
      <dgm:prSet presAssocID="{BACEABA6-18B8-4C50-89E4-BC62424F1C0B}" presName="hierChild5" presStyleCnt="0"/>
      <dgm:spPr/>
    </dgm:pt>
    <dgm:pt modelId="{B0E7C8C5-0FE0-4980-9D5D-6CA1FE606EC4}" type="pres">
      <dgm:prSet presAssocID="{2936E4F8-DEE7-43F2-8062-F312E94D8F3D}" presName="Name37" presStyleLbl="parChTrans1D4" presStyleIdx="8" presStyleCnt="9"/>
      <dgm:spPr/>
    </dgm:pt>
    <dgm:pt modelId="{DA903BC4-3CFF-4D0D-BF78-E524E5A18A6D}" type="pres">
      <dgm:prSet presAssocID="{CB074233-6C23-4E85-8F48-F1FA93E8E973}" presName="hierRoot2" presStyleCnt="0">
        <dgm:presLayoutVars>
          <dgm:hierBranch val="init"/>
        </dgm:presLayoutVars>
      </dgm:prSet>
      <dgm:spPr/>
    </dgm:pt>
    <dgm:pt modelId="{539896C6-98B6-4660-BABF-41205CFE65ED}" type="pres">
      <dgm:prSet presAssocID="{CB074233-6C23-4E85-8F48-F1FA93E8E973}" presName="rootComposite" presStyleCnt="0"/>
      <dgm:spPr/>
    </dgm:pt>
    <dgm:pt modelId="{56F81732-99C3-4EFC-96F2-1C7614D60BC2}" type="pres">
      <dgm:prSet presAssocID="{CB074233-6C23-4E85-8F48-F1FA93E8E973}" presName="rootText" presStyleLbl="node4" presStyleIdx="8" presStyleCnt="9">
        <dgm:presLayoutVars>
          <dgm:chPref val="3"/>
        </dgm:presLayoutVars>
      </dgm:prSet>
      <dgm:spPr/>
    </dgm:pt>
    <dgm:pt modelId="{6534F250-04A6-4869-B92E-7DF5C570973D}" type="pres">
      <dgm:prSet presAssocID="{CB074233-6C23-4E85-8F48-F1FA93E8E973}" presName="rootConnector" presStyleLbl="node4" presStyleIdx="8" presStyleCnt="9"/>
      <dgm:spPr/>
    </dgm:pt>
    <dgm:pt modelId="{BAD83091-5DD0-4E22-B672-E5BC34E2B3B6}" type="pres">
      <dgm:prSet presAssocID="{CB074233-6C23-4E85-8F48-F1FA93E8E973}" presName="hierChild4" presStyleCnt="0"/>
      <dgm:spPr/>
    </dgm:pt>
    <dgm:pt modelId="{BE564A2E-561C-44D1-9EDE-265657E9F140}" type="pres">
      <dgm:prSet presAssocID="{CB074233-6C23-4E85-8F48-F1FA93E8E973}" presName="hierChild5" presStyleCnt="0"/>
      <dgm:spPr/>
    </dgm:pt>
    <dgm:pt modelId="{A2C1E5D5-C9EC-41CB-BB84-82BCBCE880F1}" type="pres">
      <dgm:prSet presAssocID="{7BBCA5CB-8E45-4F72-B3AA-5FD27A722C5D}" presName="hierChild5" presStyleCnt="0"/>
      <dgm:spPr/>
    </dgm:pt>
    <dgm:pt modelId="{D649FB73-ABB0-4F8E-9446-C6FAFC126C18}" type="pres">
      <dgm:prSet presAssocID="{1813C9EF-B504-4F69-917A-BDBD27BD3804}" presName="hierChild5" presStyleCnt="0"/>
      <dgm:spPr/>
    </dgm:pt>
    <dgm:pt modelId="{E2248FB8-8F4E-49EC-BF74-58E9883F8EC6}" type="pres">
      <dgm:prSet presAssocID="{42B87596-7F07-41A1-A70B-72C78E1DEF71}" presName="hierChild3" presStyleCnt="0"/>
      <dgm:spPr/>
    </dgm:pt>
  </dgm:ptLst>
  <dgm:cxnLst>
    <dgm:cxn modelId="{ECB0930A-BBEA-4D20-B7BE-D402E49776B2}" type="presOf" srcId="{BFF41A14-3992-414E-8ACF-101E65F42ED2}" destId="{26DF6E65-2C8C-4114-84C3-9D38BB43EF4C}" srcOrd="1" destOrd="0" presId="urn:microsoft.com/office/officeart/2005/8/layout/orgChart1"/>
    <dgm:cxn modelId="{8580560B-C884-471E-B516-11651CBC869D}" type="presOf" srcId="{78FA70F5-EEEC-412B-9875-F5738EB8E454}" destId="{4A3B3CB8-B97C-4DF4-93B8-9EC55F54F2FB}" srcOrd="1" destOrd="0" presId="urn:microsoft.com/office/officeart/2005/8/layout/orgChart1"/>
    <dgm:cxn modelId="{A01AF90B-A088-465E-BD27-529456A1C813}" type="presOf" srcId="{A2310A9F-79A8-4CAD-BB55-0B2D651C93B4}" destId="{7A9C9D02-36F8-41E0-8610-D084094AF68E}" srcOrd="0" destOrd="0" presId="urn:microsoft.com/office/officeart/2005/8/layout/orgChart1"/>
    <dgm:cxn modelId="{76A50011-EABF-4091-8466-1A0B4FAA7578}" srcId="{91DF3935-483B-4370-B1F2-6D1B8376665D}" destId="{BD0FE7DA-9E6D-434B-B657-C739C62928C4}" srcOrd="0" destOrd="0" parTransId="{D4251FAE-D835-4019-B6AC-83E7D1915818}" sibTransId="{5CC5DAB5-127D-4DEE-9587-D36510D7A96D}"/>
    <dgm:cxn modelId="{72B17413-FBB3-4EC9-9661-C1306E0FAB43}" srcId="{1813C9EF-B504-4F69-917A-BDBD27BD3804}" destId="{78FA70F5-EEEC-412B-9875-F5738EB8E454}" srcOrd="0" destOrd="0" parTransId="{78D5E821-CAE4-4191-8133-1FA6D774E41B}" sibTransId="{3EF32E1F-9509-4E11-98C5-29CD581A4A66}"/>
    <dgm:cxn modelId="{D62C251A-01FE-4158-9E66-CF7D6AB98648}" type="presOf" srcId="{8B85DA98-BCA7-4D76-8653-21904667C3B3}" destId="{5C1F0393-820F-47DC-8510-8C24FF608224}" srcOrd="0" destOrd="0" presId="urn:microsoft.com/office/officeart/2005/8/layout/orgChart1"/>
    <dgm:cxn modelId="{0997451C-484B-4BEA-A76D-04596A15F058}" type="presOf" srcId="{91DF3935-483B-4370-B1F2-6D1B8376665D}" destId="{9EE388ED-C6B6-4094-949D-32BA5F826AE3}" srcOrd="0" destOrd="0" presId="urn:microsoft.com/office/officeart/2005/8/layout/orgChart1"/>
    <dgm:cxn modelId="{EC24911D-146E-4CB6-B5B0-A2E9E368A206}" type="presOf" srcId="{1813C9EF-B504-4F69-917A-BDBD27BD3804}" destId="{6C398F15-7287-4740-A46C-52CFD403041A}" srcOrd="1" destOrd="0" presId="urn:microsoft.com/office/officeart/2005/8/layout/orgChart1"/>
    <dgm:cxn modelId="{CFB71920-EF70-4A15-8BA3-7B61E07FC110}" srcId="{1813C9EF-B504-4F69-917A-BDBD27BD3804}" destId="{91DF3935-483B-4370-B1F2-6D1B8376665D}" srcOrd="3" destOrd="0" parTransId="{7923E62E-E8B5-4C31-A3A2-86599AF53939}" sibTransId="{15097920-F377-4A30-A4D1-CCDFB7CBF5D0}"/>
    <dgm:cxn modelId="{54576A22-D02C-4591-BE07-1426D4E35D20}" type="presOf" srcId="{378DF43C-CE19-4B56-840C-2B3733B69BB8}" destId="{B4C2D17B-1E23-4516-B5B7-92F40015FC60}" srcOrd="0" destOrd="0" presId="urn:microsoft.com/office/officeart/2005/8/layout/orgChart1"/>
    <dgm:cxn modelId="{C02EE022-3184-43E4-AA56-6BA67C26A0B9}" srcId="{7BBCA5CB-8E45-4F72-B3AA-5FD27A722C5D}" destId="{72DC6D42-C292-4A8E-B30F-E8C9AF1EB162}" srcOrd="1" destOrd="0" parTransId="{B382ED17-C418-459B-A305-78B1C629EDAE}" sibTransId="{59382B59-9898-4D83-9576-6C40F3986DB0}"/>
    <dgm:cxn modelId="{C3AA1E2B-8AD1-4CFD-8FDC-F6DF6B264985}" type="presOf" srcId="{14640491-71B1-456A-B353-0186BCAED474}" destId="{9B717813-5DCD-4223-A7C4-66F726E91FB7}" srcOrd="0" destOrd="0" presId="urn:microsoft.com/office/officeart/2005/8/layout/orgChart1"/>
    <dgm:cxn modelId="{B0B2D92D-7349-44BE-8F7F-603268C3AC0E}" type="presOf" srcId="{8390EAFA-D1D2-416E-ABD8-DFF6478BA659}" destId="{4CA96ED4-703D-4BCA-8F3E-0B51D981D579}" srcOrd="0" destOrd="0" presId="urn:microsoft.com/office/officeart/2005/8/layout/orgChart1"/>
    <dgm:cxn modelId="{9503C733-F733-4753-8E80-05B7D6203AE7}" type="presOf" srcId="{6728EEE9-6E65-40AE-B84A-B294A14B8034}" destId="{F3522A4D-8B8A-478A-A7B7-00C00B9CFB63}" srcOrd="1" destOrd="0" presId="urn:microsoft.com/office/officeart/2005/8/layout/orgChart1"/>
    <dgm:cxn modelId="{073D8535-8F17-4531-866D-86C2321112BC}" srcId="{7BBCA5CB-8E45-4F72-B3AA-5FD27A722C5D}" destId="{BACEABA6-18B8-4C50-89E4-BC62424F1C0B}" srcOrd="2" destOrd="0" parTransId="{5127594A-0976-4A8C-8859-EFB0EA9EF5ED}" sibTransId="{1E648765-DCE5-4922-A96B-138332DAD63E}"/>
    <dgm:cxn modelId="{B865A335-D5B8-41DA-A425-3E00811F2E06}" type="presOf" srcId="{91DF3935-483B-4370-B1F2-6D1B8376665D}" destId="{D1D99A35-FFE8-4B80-A5C7-527118EC1A03}" srcOrd="1" destOrd="0" presId="urn:microsoft.com/office/officeart/2005/8/layout/orgChart1"/>
    <dgm:cxn modelId="{B1EFDA38-BCB5-43EE-AF4B-7A9CE7F5E3F6}" srcId="{1813C9EF-B504-4F69-917A-BDBD27BD3804}" destId="{6728EEE9-6E65-40AE-B84A-B294A14B8034}" srcOrd="2" destOrd="0" parTransId="{B1CF71D2-B398-468F-B9B2-C7E9520DFD45}" sibTransId="{596C9511-6A6F-4874-A107-CB2D95A1FB07}"/>
    <dgm:cxn modelId="{7A86703F-4E97-489F-8E4E-3900FD32C791}" srcId="{42B87596-7F07-41A1-A70B-72C78E1DEF71}" destId="{1813C9EF-B504-4F69-917A-BDBD27BD3804}" srcOrd="0" destOrd="0" parTransId="{E8D45705-2157-47C1-947B-98EA9FCE1B3D}" sibTransId="{AADAD4EE-6276-4F26-BB8A-ECA19389E534}"/>
    <dgm:cxn modelId="{3DDED75E-FAD8-48B5-BBA3-405B5139CED6}" srcId="{1813C9EF-B504-4F69-917A-BDBD27BD3804}" destId="{086FD10C-8A1F-4B0D-9AAE-F97F30BF0352}" srcOrd="4" destOrd="0" parTransId="{8390EAFA-D1D2-416E-ABD8-DFF6478BA659}" sibTransId="{578C430C-C447-46B0-A9AB-4B30FB1A81EF}"/>
    <dgm:cxn modelId="{9FCEA061-5DEE-4F5C-AD63-196F65F533F9}" type="presOf" srcId="{8130474A-F422-422F-92E3-3A57E4D3E377}" destId="{8E7A8B41-FC1E-4A8D-98E0-56A414DD523F}" srcOrd="1" destOrd="0" presId="urn:microsoft.com/office/officeart/2005/8/layout/orgChart1"/>
    <dgm:cxn modelId="{A178126A-4AE7-48DD-AFD1-1E02EA99503E}" type="presOf" srcId="{8130474A-F422-422F-92E3-3A57E4D3E377}" destId="{119A01AE-B6D2-46A6-969D-85B7A3FADD96}" srcOrd="0" destOrd="0" presId="urn:microsoft.com/office/officeart/2005/8/layout/orgChart1"/>
    <dgm:cxn modelId="{A41B334A-3B03-4FEB-BD15-8C786096BF98}" type="presOf" srcId="{BACEABA6-18B8-4C50-89E4-BC62424F1C0B}" destId="{1D41772C-FDBB-4EB4-93D8-860CD81F3E37}" srcOrd="0" destOrd="0" presId="urn:microsoft.com/office/officeart/2005/8/layout/orgChart1"/>
    <dgm:cxn modelId="{B0DF326B-246E-420A-9949-BC10D044B772}" srcId="{7BBCA5CB-8E45-4F72-B3AA-5FD27A722C5D}" destId="{3DB419FD-1817-4E18-B288-726F188E3C5C}" srcOrd="0" destOrd="0" parTransId="{EC264820-6950-4BFF-8627-6FBE7FB1423E}" sibTransId="{45DD1C9C-DD0F-435B-915A-C2EDD1AD08C8}"/>
    <dgm:cxn modelId="{87C6316D-BB65-4F74-9CF4-6ECDCBD93629}" type="presOf" srcId="{3DB419FD-1817-4E18-B288-726F188E3C5C}" destId="{C2DC1F37-39A6-4854-89BB-64571B920BF8}" srcOrd="1" destOrd="0" presId="urn:microsoft.com/office/officeart/2005/8/layout/orgChart1"/>
    <dgm:cxn modelId="{28432C72-4403-4637-A855-F52D7F95D95D}" type="presOf" srcId="{086FD10C-8A1F-4B0D-9AAE-F97F30BF0352}" destId="{45D8507B-B8B0-4CAA-B45C-38CFA764B35D}" srcOrd="1" destOrd="0" presId="urn:microsoft.com/office/officeart/2005/8/layout/orgChart1"/>
    <dgm:cxn modelId="{D1E8F776-43A7-4E17-81D7-709126B28A6E}" type="presOf" srcId="{B1CF71D2-B398-468F-B9B2-C7E9520DFD45}" destId="{86A4764D-1DFE-432E-9DA7-E2DE85C9B7F5}" srcOrd="0" destOrd="0" presId="urn:microsoft.com/office/officeart/2005/8/layout/orgChart1"/>
    <dgm:cxn modelId="{15062B82-4D9A-4CFF-939F-0D729D894A4F}" type="presOf" srcId="{CB074233-6C23-4E85-8F48-F1FA93E8E973}" destId="{56F81732-99C3-4EFC-96F2-1C7614D60BC2}" srcOrd="0" destOrd="0" presId="urn:microsoft.com/office/officeart/2005/8/layout/orgChart1"/>
    <dgm:cxn modelId="{4FCD828B-F33E-4C98-815C-291CCB66FC01}" type="presOf" srcId="{BD0FE7DA-9E6D-434B-B657-C739C62928C4}" destId="{F89ED213-71E3-4250-8E49-C834241DB22D}" srcOrd="0" destOrd="0" presId="urn:microsoft.com/office/officeart/2005/8/layout/orgChart1"/>
    <dgm:cxn modelId="{823B9991-CF77-46B7-BDC3-DAA0B370B469}" type="presOf" srcId="{350877FB-B473-4BF2-84D4-9B2406F7397B}" destId="{0C3BE808-BE6F-4209-BC17-8D92B419ECD3}" srcOrd="0" destOrd="0" presId="urn:microsoft.com/office/officeart/2005/8/layout/orgChart1"/>
    <dgm:cxn modelId="{038BBC96-D40C-49D9-A524-664E9787A206}" type="presOf" srcId="{467944A2-BCEE-47CA-B7B9-2666B42B55EF}" destId="{882DE9C0-FFB3-4D04-AA62-4D1A7FF8C070}" srcOrd="0" destOrd="0" presId="urn:microsoft.com/office/officeart/2005/8/layout/orgChart1"/>
    <dgm:cxn modelId="{DC4C1B98-A306-4B00-8A4A-CE233405601A}" type="presOf" srcId="{3DB419FD-1817-4E18-B288-726F188E3C5C}" destId="{5F8A7D07-AAA5-4280-A04D-C85CEF9ACBEA}" srcOrd="0" destOrd="0" presId="urn:microsoft.com/office/officeart/2005/8/layout/orgChart1"/>
    <dgm:cxn modelId="{EDE0919B-2615-4ABD-A1D7-CB2533678E57}" type="presOf" srcId="{7BBCA5CB-8E45-4F72-B3AA-5FD27A722C5D}" destId="{E1D20AD2-40D0-48B4-A968-2369DF8AFFEF}" srcOrd="0" destOrd="0" presId="urn:microsoft.com/office/officeart/2005/8/layout/orgChart1"/>
    <dgm:cxn modelId="{FCFC3BA4-AF25-4789-8996-F7FBFEE6B15D}" type="presOf" srcId="{BACEABA6-18B8-4C50-89E4-BC62424F1C0B}" destId="{11B97025-0138-49EC-9695-AEB9280E86B6}" srcOrd="1" destOrd="0" presId="urn:microsoft.com/office/officeart/2005/8/layout/orgChart1"/>
    <dgm:cxn modelId="{38250DA7-DAFE-449A-B161-EDF03A3F3A76}" srcId="{086FD10C-8A1F-4B0D-9AAE-F97F30BF0352}" destId="{BFF41A14-3992-414E-8ACF-101E65F42ED2}" srcOrd="1" destOrd="0" parTransId="{CBD4082B-D5AC-4385-87CC-0C57C254146C}" sibTransId="{FAA6CD6E-C94F-4060-ACAE-46A2AD825858}"/>
    <dgm:cxn modelId="{04E06BA7-5F13-4BBE-8DDD-BA0230856745}" type="presOf" srcId="{CBD4082B-D5AC-4385-87CC-0C57C254146C}" destId="{531F471E-1EDC-4F5D-BB2C-0935AA8CDCFC}" srcOrd="0" destOrd="0" presId="urn:microsoft.com/office/officeart/2005/8/layout/orgChart1"/>
    <dgm:cxn modelId="{620DD5AA-5E0E-421D-B9D2-443BEC4E81CF}" srcId="{1813C9EF-B504-4F69-917A-BDBD27BD3804}" destId="{350877FB-B473-4BF2-84D4-9B2406F7397B}" srcOrd="1" destOrd="0" parTransId="{8B12407A-3D3D-465B-A42C-17F7A5762547}" sibTransId="{DD3534E7-50AC-4C09-B752-128A1848A0C9}"/>
    <dgm:cxn modelId="{007ED6AA-F27C-40DD-8A4D-5AE77F049436}" type="presOf" srcId="{7BBCA5CB-8E45-4F72-B3AA-5FD27A722C5D}" destId="{19918913-ADA0-42BA-A67C-085BD22EDA9E}" srcOrd="1" destOrd="0" presId="urn:microsoft.com/office/officeart/2005/8/layout/orgChart1"/>
    <dgm:cxn modelId="{9E7AA3AE-B5B9-4122-AA10-C204CEEBAAB1}" type="presOf" srcId="{7923E62E-E8B5-4C31-A3A2-86599AF53939}" destId="{D0241009-92C1-42C2-B62F-27587FF383B8}" srcOrd="0" destOrd="0" presId="urn:microsoft.com/office/officeart/2005/8/layout/orgChart1"/>
    <dgm:cxn modelId="{B204ABB0-57D7-4659-9AA8-B7FDFAA4A9F2}" type="presOf" srcId="{78FA70F5-EEEC-412B-9875-F5738EB8E454}" destId="{D886DEBB-7C7D-4FFD-A40F-4F6EBDA45157}" srcOrd="0" destOrd="0" presId="urn:microsoft.com/office/officeart/2005/8/layout/orgChart1"/>
    <dgm:cxn modelId="{F723F0B5-CF7F-4406-B44C-8D4839DD8DE1}" type="presOf" srcId="{72DC6D42-C292-4A8E-B30F-E8C9AF1EB162}" destId="{E266774C-AEC1-49B4-A116-CBE5CE0CFCE2}" srcOrd="0" destOrd="0" presId="urn:microsoft.com/office/officeart/2005/8/layout/orgChart1"/>
    <dgm:cxn modelId="{5698DCBF-A220-45B1-B37D-2DC840732F20}" type="presOf" srcId="{42B87596-7F07-41A1-A70B-72C78E1DEF71}" destId="{EA26517B-EB9A-4550-9C45-F9B1FC3C92F1}" srcOrd="0" destOrd="0" presId="urn:microsoft.com/office/officeart/2005/8/layout/orgChart1"/>
    <dgm:cxn modelId="{9DFDFDC0-2C2F-4B8C-A0EA-D302A3E730BD}" type="presOf" srcId="{78D5E821-CAE4-4191-8133-1FA6D774E41B}" destId="{1B12E972-93AD-44EA-921A-D64640132E2D}" srcOrd="0" destOrd="0" presId="urn:microsoft.com/office/officeart/2005/8/layout/orgChart1"/>
    <dgm:cxn modelId="{220296C9-A5B5-4044-A539-028A11B73A20}" type="presOf" srcId="{8B12407A-3D3D-465B-A42C-17F7A5762547}" destId="{C2023CB1-F6EA-4971-A708-AA8CE25598B3}" srcOrd="0" destOrd="0" presId="urn:microsoft.com/office/officeart/2005/8/layout/orgChart1"/>
    <dgm:cxn modelId="{323EF8CE-627D-41C2-9AF2-8DFEB4FF805B}" type="presOf" srcId="{F63F634D-C476-4D3B-B78C-4320B79CABB0}" destId="{D5060D1F-A586-42F9-A039-F5233E4F1E99}" srcOrd="0" destOrd="0" presId="urn:microsoft.com/office/officeart/2005/8/layout/orgChart1"/>
    <dgm:cxn modelId="{1A6D6AD1-F758-45C5-A3AD-6F17CB178BFD}" srcId="{086FD10C-8A1F-4B0D-9AAE-F97F30BF0352}" destId="{8B85DA98-BCA7-4D76-8653-21904667C3B3}" srcOrd="0" destOrd="0" parTransId="{A2310A9F-79A8-4CAD-BB55-0B2D651C93B4}" sibTransId="{2A9E69EA-6925-4545-BEF2-60E9BF36BA18}"/>
    <dgm:cxn modelId="{32E574D3-84CE-434C-8281-2C9A5DB015AA}" type="presOf" srcId="{EC264820-6950-4BFF-8627-6FBE7FB1423E}" destId="{698FD7D3-A7F4-4CE5-BCE3-BD9FD3764DB9}" srcOrd="0" destOrd="0" presId="urn:microsoft.com/office/officeart/2005/8/layout/orgChart1"/>
    <dgm:cxn modelId="{B987DDD4-C0E2-487B-9917-A38BF3224293}" srcId="{350877FB-B473-4BF2-84D4-9B2406F7397B}" destId="{467944A2-BCEE-47CA-B7B9-2666B42B55EF}" srcOrd="0" destOrd="0" parTransId="{378DF43C-CE19-4B56-840C-2B3733B69BB8}" sibTransId="{FCDC2A43-15D5-4ACF-9E95-1FDC9311EB62}"/>
    <dgm:cxn modelId="{F113EBD5-3B4A-47C0-8DCE-247EFE5C75B7}" type="presOf" srcId="{D4251FAE-D835-4019-B6AC-83E7D1915818}" destId="{936506C2-F87B-40D3-B4BE-7B4D459AA5CF}" srcOrd="0" destOrd="0" presId="urn:microsoft.com/office/officeart/2005/8/layout/orgChart1"/>
    <dgm:cxn modelId="{BBCB45D8-8AFE-45F6-B212-A1A7B2B71086}" srcId="{1813C9EF-B504-4F69-917A-BDBD27BD3804}" destId="{7BBCA5CB-8E45-4F72-B3AA-5FD27A722C5D}" srcOrd="5" destOrd="0" parTransId="{F63F634D-C476-4D3B-B78C-4320B79CABB0}" sibTransId="{FF1B660E-DE48-4114-8262-A6CB26CC01CD}"/>
    <dgm:cxn modelId="{AE4AD6D8-022D-47B3-A8A8-DD3CDD734AB9}" srcId="{7BBCA5CB-8E45-4F72-B3AA-5FD27A722C5D}" destId="{CB074233-6C23-4E85-8F48-F1FA93E8E973}" srcOrd="3" destOrd="0" parTransId="{2936E4F8-DEE7-43F2-8062-F312E94D8F3D}" sibTransId="{DBE0DB85-C05D-4C41-AC03-A50326948CE4}"/>
    <dgm:cxn modelId="{0B4E78DE-2647-4BC4-83A3-1136B5914F18}" type="presOf" srcId="{8B85DA98-BCA7-4D76-8653-21904667C3B3}" destId="{85E4590E-D2CF-4485-B5FA-D97111CE0B45}" srcOrd="1" destOrd="0" presId="urn:microsoft.com/office/officeart/2005/8/layout/orgChart1"/>
    <dgm:cxn modelId="{446BE0DE-F26E-414F-A359-E3091FE145D0}" type="presOf" srcId="{B382ED17-C418-459B-A305-78B1C629EDAE}" destId="{084C382B-52D8-422C-94CD-3914D5E66CD1}" srcOrd="0" destOrd="0" presId="urn:microsoft.com/office/officeart/2005/8/layout/orgChart1"/>
    <dgm:cxn modelId="{152356DF-88C2-4D19-BA41-F39335CBE2A8}" type="presOf" srcId="{72DC6D42-C292-4A8E-B30F-E8C9AF1EB162}" destId="{879B6960-565A-4DEA-9528-FD4BD5CB2083}" srcOrd="1" destOrd="0" presId="urn:microsoft.com/office/officeart/2005/8/layout/orgChart1"/>
    <dgm:cxn modelId="{F55220E5-44E6-446B-B029-ACAA9B845A27}" srcId="{91DF3935-483B-4370-B1F2-6D1B8376665D}" destId="{8130474A-F422-422F-92E3-3A57E4D3E377}" srcOrd="1" destOrd="0" parTransId="{E9FEEA74-EC24-44E2-85BF-4733331CCAFE}" sibTransId="{1909297F-AE93-4C46-9723-0CE4B412EE04}"/>
    <dgm:cxn modelId="{DA75FFE6-2614-4740-A9AA-6C1D7C15EBBB}" type="presOf" srcId="{CB074233-6C23-4E85-8F48-F1FA93E8E973}" destId="{6534F250-04A6-4869-B92E-7DF5C570973D}" srcOrd="1" destOrd="0" presId="urn:microsoft.com/office/officeart/2005/8/layout/orgChart1"/>
    <dgm:cxn modelId="{1310C3EA-F756-4515-A2A2-AB3506854FAB}" type="presOf" srcId="{E8D45705-2157-47C1-947B-98EA9FCE1B3D}" destId="{2CF180C9-ACE6-4E7A-9BAF-649D60F824C4}" srcOrd="0" destOrd="0" presId="urn:microsoft.com/office/officeart/2005/8/layout/orgChart1"/>
    <dgm:cxn modelId="{3A9510EB-88C1-4287-BB3A-422EE1EB91A9}" type="presOf" srcId="{42B87596-7F07-41A1-A70B-72C78E1DEF71}" destId="{03F697D7-1028-4D29-AB35-8E2460E53471}" srcOrd="1" destOrd="0" presId="urn:microsoft.com/office/officeart/2005/8/layout/orgChart1"/>
    <dgm:cxn modelId="{9B15B9F0-A529-481C-853B-C9805486BBFD}" type="presOf" srcId="{6728EEE9-6E65-40AE-B84A-B294A14B8034}" destId="{97131EF5-8EF9-40A4-A4C9-849EED37F977}" srcOrd="0" destOrd="0" presId="urn:microsoft.com/office/officeart/2005/8/layout/orgChart1"/>
    <dgm:cxn modelId="{5D6E2FF2-6520-43D2-9B93-3E00808A3CDB}" type="presOf" srcId="{5127594A-0976-4A8C-8859-EFB0EA9EF5ED}" destId="{110D735F-B869-4177-9A0A-A72D8098C2FB}" srcOrd="0" destOrd="0" presId="urn:microsoft.com/office/officeart/2005/8/layout/orgChart1"/>
    <dgm:cxn modelId="{F49076F2-84E4-4F47-AE8A-BBF7A982797B}" type="presOf" srcId="{BD0FE7DA-9E6D-434B-B657-C739C62928C4}" destId="{C0DF621D-A85E-47BC-BC35-A692C3849DF7}" srcOrd="1" destOrd="0" presId="urn:microsoft.com/office/officeart/2005/8/layout/orgChart1"/>
    <dgm:cxn modelId="{355899F5-D05A-4B9D-B92E-9A22A45CE8CF}" type="presOf" srcId="{467944A2-BCEE-47CA-B7B9-2666B42B55EF}" destId="{DF7D6EC5-E3E0-4C15-8528-078440C5EF87}" srcOrd="1" destOrd="0" presId="urn:microsoft.com/office/officeart/2005/8/layout/orgChart1"/>
    <dgm:cxn modelId="{B86ABCF5-805C-4C1A-8004-11305E283CDD}" type="presOf" srcId="{BFF41A14-3992-414E-8ACF-101E65F42ED2}" destId="{1535330A-EEF5-4E8F-BE13-4068A5EE6405}" srcOrd="0" destOrd="0" presId="urn:microsoft.com/office/officeart/2005/8/layout/orgChart1"/>
    <dgm:cxn modelId="{804629F6-77A7-4CC7-8C86-324006D8BAEF}" type="presOf" srcId="{1813C9EF-B504-4F69-917A-BDBD27BD3804}" destId="{175A471F-C9CC-4FF2-8F48-FDD6DF680464}" srcOrd="0" destOrd="0" presId="urn:microsoft.com/office/officeart/2005/8/layout/orgChart1"/>
    <dgm:cxn modelId="{576088FA-E5D4-45C3-8C2C-3A404810BE66}" type="presOf" srcId="{086FD10C-8A1F-4B0D-9AAE-F97F30BF0352}" destId="{77B15598-C55C-4DEA-A0FD-B17CA8174B06}" srcOrd="0" destOrd="0" presId="urn:microsoft.com/office/officeart/2005/8/layout/orgChart1"/>
    <dgm:cxn modelId="{7D438BFA-8235-4521-808D-CC7993E740FA}" type="presOf" srcId="{2936E4F8-DEE7-43F2-8062-F312E94D8F3D}" destId="{B0E7C8C5-0FE0-4980-9D5D-6CA1FE606EC4}" srcOrd="0" destOrd="0" presId="urn:microsoft.com/office/officeart/2005/8/layout/orgChart1"/>
    <dgm:cxn modelId="{D6DA0CFB-FF2F-4B5A-870B-F5463D74D711}" type="presOf" srcId="{E9FEEA74-EC24-44E2-85BF-4733331CCAFE}" destId="{1AB4AE93-7431-4B93-8C55-463EBAC63777}" srcOrd="0" destOrd="0" presId="urn:microsoft.com/office/officeart/2005/8/layout/orgChart1"/>
    <dgm:cxn modelId="{182A42FB-738D-4053-A589-297ECB6C61F7}" type="presOf" srcId="{350877FB-B473-4BF2-84D4-9B2406F7397B}" destId="{A7554CD5-2964-4F50-9C73-7C3F61CE3729}" srcOrd="1" destOrd="0" presId="urn:microsoft.com/office/officeart/2005/8/layout/orgChart1"/>
    <dgm:cxn modelId="{90F48DFC-5F40-4272-8E92-5E0361B8A0F4}" srcId="{14640491-71B1-456A-B353-0186BCAED474}" destId="{42B87596-7F07-41A1-A70B-72C78E1DEF71}" srcOrd="0" destOrd="0" parTransId="{3916882C-82DC-4208-A7B0-8B580A64458C}" sibTransId="{85669741-E7BD-4179-82D3-46F118E8E51F}"/>
    <dgm:cxn modelId="{F682988A-8EED-4668-84AE-9E02AD1E897B}" type="presParOf" srcId="{9B717813-5DCD-4223-A7C4-66F726E91FB7}" destId="{09B9909A-B783-4246-8C90-3A65EA31BE5F}" srcOrd="0" destOrd="0" presId="urn:microsoft.com/office/officeart/2005/8/layout/orgChart1"/>
    <dgm:cxn modelId="{4A69AFCA-49A7-4D7A-AFF2-116210BDFF23}" type="presParOf" srcId="{09B9909A-B783-4246-8C90-3A65EA31BE5F}" destId="{F7A3E3B5-5A1D-44AA-B4BC-4F1B26B40B04}" srcOrd="0" destOrd="0" presId="urn:microsoft.com/office/officeart/2005/8/layout/orgChart1"/>
    <dgm:cxn modelId="{72452679-EFF4-4E38-8579-D9609EAE15EF}" type="presParOf" srcId="{F7A3E3B5-5A1D-44AA-B4BC-4F1B26B40B04}" destId="{EA26517B-EB9A-4550-9C45-F9B1FC3C92F1}" srcOrd="0" destOrd="0" presId="urn:microsoft.com/office/officeart/2005/8/layout/orgChart1"/>
    <dgm:cxn modelId="{B3B6EF84-4E03-4EF7-865C-607C656B09C1}" type="presParOf" srcId="{F7A3E3B5-5A1D-44AA-B4BC-4F1B26B40B04}" destId="{03F697D7-1028-4D29-AB35-8E2460E53471}" srcOrd="1" destOrd="0" presId="urn:microsoft.com/office/officeart/2005/8/layout/orgChart1"/>
    <dgm:cxn modelId="{D3ED64FA-3D22-4FBF-9C30-B96EE24AD0DE}" type="presParOf" srcId="{09B9909A-B783-4246-8C90-3A65EA31BE5F}" destId="{283909BD-5953-422B-A873-FC23E1AB5E6D}" srcOrd="1" destOrd="0" presId="urn:microsoft.com/office/officeart/2005/8/layout/orgChart1"/>
    <dgm:cxn modelId="{0465B781-12A9-4B58-B935-6EEDB8F1FE70}" type="presParOf" srcId="{283909BD-5953-422B-A873-FC23E1AB5E6D}" destId="{2CF180C9-ACE6-4E7A-9BAF-649D60F824C4}" srcOrd="0" destOrd="0" presId="urn:microsoft.com/office/officeart/2005/8/layout/orgChart1"/>
    <dgm:cxn modelId="{2C945084-DA2C-460F-939C-43FB9BE1DD18}" type="presParOf" srcId="{283909BD-5953-422B-A873-FC23E1AB5E6D}" destId="{50A6C0BB-D276-40B7-BF82-F2FEC194FC3C}" srcOrd="1" destOrd="0" presId="urn:microsoft.com/office/officeart/2005/8/layout/orgChart1"/>
    <dgm:cxn modelId="{4BD33D86-485D-496C-9EEA-C231E8B1B7E0}" type="presParOf" srcId="{50A6C0BB-D276-40B7-BF82-F2FEC194FC3C}" destId="{E4513AA7-7480-461E-A821-E694B89EF5ED}" srcOrd="0" destOrd="0" presId="urn:microsoft.com/office/officeart/2005/8/layout/orgChart1"/>
    <dgm:cxn modelId="{A1178D9C-4217-4369-93AF-B74BA8B4DFF4}" type="presParOf" srcId="{E4513AA7-7480-461E-A821-E694B89EF5ED}" destId="{175A471F-C9CC-4FF2-8F48-FDD6DF680464}" srcOrd="0" destOrd="0" presId="urn:microsoft.com/office/officeart/2005/8/layout/orgChart1"/>
    <dgm:cxn modelId="{27029E0F-C458-48C0-8451-568ABC273EB7}" type="presParOf" srcId="{E4513AA7-7480-461E-A821-E694B89EF5ED}" destId="{6C398F15-7287-4740-A46C-52CFD403041A}" srcOrd="1" destOrd="0" presId="urn:microsoft.com/office/officeart/2005/8/layout/orgChart1"/>
    <dgm:cxn modelId="{8AD15940-EAC0-4D07-8268-69F83D27E1FE}" type="presParOf" srcId="{50A6C0BB-D276-40B7-BF82-F2FEC194FC3C}" destId="{3AFDB49F-E33F-42C6-9E6D-20479ED5AE3B}" srcOrd="1" destOrd="0" presId="urn:microsoft.com/office/officeart/2005/8/layout/orgChart1"/>
    <dgm:cxn modelId="{0CA2D734-95CC-4213-857F-0DF5FA3D638F}" type="presParOf" srcId="{3AFDB49F-E33F-42C6-9E6D-20479ED5AE3B}" destId="{1B12E972-93AD-44EA-921A-D64640132E2D}" srcOrd="0" destOrd="0" presId="urn:microsoft.com/office/officeart/2005/8/layout/orgChart1"/>
    <dgm:cxn modelId="{2A81B18F-4F99-429F-95D6-E67B6FC92B02}" type="presParOf" srcId="{3AFDB49F-E33F-42C6-9E6D-20479ED5AE3B}" destId="{6AD8359A-BA9D-4543-92DB-62E365B87CCB}" srcOrd="1" destOrd="0" presId="urn:microsoft.com/office/officeart/2005/8/layout/orgChart1"/>
    <dgm:cxn modelId="{9D40DA50-6C60-41E7-8343-D96B69323329}" type="presParOf" srcId="{6AD8359A-BA9D-4543-92DB-62E365B87CCB}" destId="{FB7BD395-24AD-4ED9-8BC1-409BE7945433}" srcOrd="0" destOrd="0" presId="urn:microsoft.com/office/officeart/2005/8/layout/orgChart1"/>
    <dgm:cxn modelId="{DC26CEB0-F9EB-4A65-BFEA-71A38B87DDD5}" type="presParOf" srcId="{FB7BD395-24AD-4ED9-8BC1-409BE7945433}" destId="{D886DEBB-7C7D-4FFD-A40F-4F6EBDA45157}" srcOrd="0" destOrd="0" presId="urn:microsoft.com/office/officeart/2005/8/layout/orgChart1"/>
    <dgm:cxn modelId="{A7B50A22-EAE6-43A0-A2C6-BBBF8A171DA4}" type="presParOf" srcId="{FB7BD395-24AD-4ED9-8BC1-409BE7945433}" destId="{4A3B3CB8-B97C-4DF4-93B8-9EC55F54F2FB}" srcOrd="1" destOrd="0" presId="urn:microsoft.com/office/officeart/2005/8/layout/orgChart1"/>
    <dgm:cxn modelId="{0FEEE4CA-1A8A-42E3-9AA1-13859604D46E}" type="presParOf" srcId="{6AD8359A-BA9D-4543-92DB-62E365B87CCB}" destId="{2192A04E-231B-4DFB-8D75-0BBC60E440B8}" srcOrd="1" destOrd="0" presId="urn:microsoft.com/office/officeart/2005/8/layout/orgChart1"/>
    <dgm:cxn modelId="{0FDE90FC-2E77-44EB-BC5D-5B29D9258BB9}" type="presParOf" srcId="{6AD8359A-BA9D-4543-92DB-62E365B87CCB}" destId="{D2B2A0BA-809E-4EE6-8DA3-75D8B8D969AA}" srcOrd="2" destOrd="0" presId="urn:microsoft.com/office/officeart/2005/8/layout/orgChart1"/>
    <dgm:cxn modelId="{D77551F7-0465-4184-8956-74D55F01E868}" type="presParOf" srcId="{3AFDB49F-E33F-42C6-9E6D-20479ED5AE3B}" destId="{C2023CB1-F6EA-4971-A708-AA8CE25598B3}" srcOrd="2" destOrd="0" presId="urn:microsoft.com/office/officeart/2005/8/layout/orgChart1"/>
    <dgm:cxn modelId="{ECFA9D90-0BD3-4A96-A5E5-EF74FC983DD8}" type="presParOf" srcId="{3AFDB49F-E33F-42C6-9E6D-20479ED5AE3B}" destId="{D53C447E-1CD1-4270-911E-914A68EE910C}" srcOrd="3" destOrd="0" presId="urn:microsoft.com/office/officeart/2005/8/layout/orgChart1"/>
    <dgm:cxn modelId="{9929AC6F-930E-4948-BD81-0A3D222E0A24}" type="presParOf" srcId="{D53C447E-1CD1-4270-911E-914A68EE910C}" destId="{B34BD875-032A-44B3-A8C5-B27E21DFC342}" srcOrd="0" destOrd="0" presId="urn:microsoft.com/office/officeart/2005/8/layout/orgChart1"/>
    <dgm:cxn modelId="{2663D91E-733E-4963-B0B3-CEAD4D1AB3C4}" type="presParOf" srcId="{B34BD875-032A-44B3-A8C5-B27E21DFC342}" destId="{0C3BE808-BE6F-4209-BC17-8D92B419ECD3}" srcOrd="0" destOrd="0" presId="urn:microsoft.com/office/officeart/2005/8/layout/orgChart1"/>
    <dgm:cxn modelId="{1BD8BE64-0877-4DBE-A68F-CCF5777A2A46}" type="presParOf" srcId="{B34BD875-032A-44B3-A8C5-B27E21DFC342}" destId="{A7554CD5-2964-4F50-9C73-7C3F61CE3729}" srcOrd="1" destOrd="0" presId="urn:microsoft.com/office/officeart/2005/8/layout/orgChart1"/>
    <dgm:cxn modelId="{E86EFD54-9BB6-4627-90E4-EE0E6D925F77}" type="presParOf" srcId="{D53C447E-1CD1-4270-911E-914A68EE910C}" destId="{4CE6FEF7-53FD-4DB6-9805-6E1FABF4C1DF}" srcOrd="1" destOrd="0" presId="urn:microsoft.com/office/officeart/2005/8/layout/orgChart1"/>
    <dgm:cxn modelId="{E6914249-D734-4ABD-92EC-029776884B93}" type="presParOf" srcId="{4CE6FEF7-53FD-4DB6-9805-6E1FABF4C1DF}" destId="{B4C2D17B-1E23-4516-B5B7-92F40015FC60}" srcOrd="0" destOrd="0" presId="urn:microsoft.com/office/officeart/2005/8/layout/orgChart1"/>
    <dgm:cxn modelId="{EE8F61E0-20EA-4AE1-AD74-53E7D9CB6ACB}" type="presParOf" srcId="{4CE6FEF7-53FD-4DB6-9805-6E1FABF4C1DF}" destId="{B044CACD-590B-4AD8-ABEC-24CCA352CBEA}" srcOrd="1" destOrd="0" presId="urn:microsoft.com/office/officeart/2005/8/layout/orgChart1"/>
    <dgm:cxn modelId="{347061CD-6212-4F1A-A030-8FAFE53A83EF}" type="presParOf" srcId="{B044CACD-590B-4AD8-ABEC-24CCA352CBEA}" destId="{07626AA4-9CEB-446D-9F77-D1D484770592}" srcOrd="0" destOrd="0" presId="urn:microsoft.com/office/officeart/2005/8/layout/orgChart1"/>
    <dgm:cxn modelId="{C3DE79A5-7BD8-454E-A413-0FF192537A0C}" type="presParOf" srcId="{07626AA4-9CEB-446D-9F77-D1D484770592}" destId="{882DE9C0-FFB3-4D04-AA62-4D1A7FF8C070}" srcOrd="0" destOrd="0" presId="urn:microsoft.com/office/officeart/2005/8/layout/orgChart1"/>
    <dgm:cxn modelId="{DD393DB3-EA56-42E8-9A79-DFB970A4649B}" type="presParOf" srcId="{07626AA4-9CEB-446D-9F77-D1D484770592}" destId="{DF7D6EC5-E3E0-4C15-8528-078440C5EF87}" srcOrd="1" destOrd="0" presId="urn:microsoft.com/office/officeart/2005/8/layout/orgChart1"/>
    <dgm:cxn modelId="{61F1D8AE-61F9-4DF4-BFA6-A95B8811D99B}" type="presParOf" srcId="{B044CACD-590B-4AD8-ABEC-24CCA352CBEA}" destId="{114C4CE5-378A-48B9-8D72-5E3CFE075E87}" srcOrd="1" destOrd="0" presId="urn:microsoft.com/office/officeart/2005/8/layout/orgChart1"/>
    <dgm:cxn modelId="{255BAB07-4EA4-4C16-8CB5-15A55CCD36C1}" type="presParOf" srcId="{B044CACD-590B-4AD8-ABEC-24CCA352CBEA}" destId="{34CF9A44-3D9A-4D51-90CF-8B0E5A73AC05}" srcOrd="2" destOrd="0" presId="urn:microsoft.com/office/officeart/2005/8/layout/orgChart1"/>
    <dgm:cxn modelId="{FA048409-F795-4579-B639-35C57340CF7F}" type="presParOf" srcId="{D53C447E-1CD1-4270-911E-914A68EE910C}" destId="{5FA89249-17DB-4EEA-81E3-E6A6188FCBCC}" srcOrd="2" destOrd="0" presId="urn:microsoft.com/office/officeart/2005/8/layout/orgChart1"/>
    <dgm:cxn modelId="{3036E279-4CB5-458F-A056-0A0A1D278D4F}" type="presParOf" srcId="{3AFDB49F-E33F-42C6-9E6D-20479ED5AE3B}" destId="{86A4764D-1DFE-432E-9DA7-E2DE85C9B7F5}" srcOrd="4" destOrd="0" presId="urn:microsoft.com/office/officeart/2005/8/layout/orgChart1"/>
    <dgm:cxn modelId="{6A82C844-5A13-46C1-AA0D-79B2433B6D07}" type="presParOf" srcId="{3AFDB49F-E33F-42C6-9E6D-20479ED5AE3B}" destId="{F1AC52DB-D8FF-46EC-9476-ECD557CB1FC5}" srcOrd="5" destOrd="0" presId="urn:microsoft.com/office/officeart/2005/8/layout/orgChart1"/>
    <dgm:cxn modelId="{6F225D8E-5761-4FF1-82D8-B732702502B9}" type="presParOf" srcId="{F1AC52DB-D8FF-46EC-9476-ECD557CB1FC5}" destId="{855BDC3C-A37D-4F87-B086-081684141026}" srcOrd="0" destOrd="0" presId="urn:microsoft.com/office/officeart/2005/8/layout/orgChart1"/>
    <dgm:cxn modelId="{C01E782C-525E-491E-9E2B-91BF71B273C1}" type="presParOf" srcId="{855BDC3C-A37D-4F87-B086-081684141026}" destId="{97131EF5-8EF9-40A4-A4C9-849EED37F977}" srcOrd="0" destOrd="0" presId="urn:microsoft.com/office/officeart/2005/8/layout/orgChart1"/>
    <dgm:cxn modelId="{19742D5E-A2E7-4CAA-A93C-3E68D8530BE3}" type="presParOf" srcId="{855BDC3C-A37D-4F87-B086-081684141026}" destId="{F3522A4D-8B8A-478A-A7B7-00C00B9CFB63}" srcOrd="1" destOrd="0" presId="urn:microsoft.com/office/officeart/2005/8/layout/orgChart1"/>
    <dgm:cxn modelId="{9921BEC5-850A-4DC7-A4C5-F08FFF10B9F7}" type="presParOf" srcId="{F1AC52DB-D8FF-46EC-9476-ECD557CB1FC5}" destId="{011F6930-9D04-4B55-88E8-9CB6562E5CF3}" srcOrd="1" destOrd="0" presId="urn:microsoft.com/office/officeart/2005/8/layout/orgChart1"/>
    <dgm:cxn modelId="{FF1D917F-8C1B-4124-BE5E-98334F7EB782}" type="presParOf" srcId="{F1AC52DB-D8FF-46EC-9476-ECD557CB1FC5}" destId="{EE3DBEB8-F577-4808-902C-DE98F6BE0BF2}" srcOrd="2" destOrd="0" presId="urn:microsoft.com/office/officeart/2005/8/layout/orgChart1"/>
    <dgm:cxn modelId="{F8064DCA-177E-4C66-8EEC-369FC34BA45A}" type="presParOf" srcId="{3AFDB49F-E33F-42C6-9E6D-20479ED5AE3B}" destId="{D0241009-92C1-42C2-B62F-27587FF383B8}" srcOrd="6" destOrd="0" presId="urn:microsoft.com/office/officeart/2005/8/layout/orgChart1"/>
    <dgm:cxn modelId="{20EEF4BB-C662-4FB2-8CF3-EAB34934E2C2}" type="presParOf" srcId="{3AFDB49F-E33F-42C6-9E6D-20479ED5AE3B}" destId="{84E7B863-7C39-4A43-89A7-C23B3FAA07C9}" srcOrd="7" destOrd="0" presId="urn:microsoft.com/office/officeart/2005/8/layout/orgChart1"/>
    <dgm:cxn modelId="{204B191E-0A15-4E55-98DE-9E47F638CA8B}" type="presParOf" srcId="{84E7B863-7C39-4A43-89A7-C23B3FAA07C9}" destId="{3BDA73C1-05D6-4799-AF1E-C622CCDBAABB}" srcOrd="0" destOrd="0" presId="urn:microsoft.com/office/officeart/2005/8/layout/orgChart1"/>
    <dgm:cxn modelId="{6583EA53-68B7-4B89-9B86-70F89708F49F}" type="presParOf" srcId="{3BDA73C1-05D6-4799-AF1E-C622CCDBAABB}" destId="{9EE388ED-C6B6-4094-949D-32BA5F826AE3}" srcOrd="0" destOrd="0" presId="urn:microsoft.com/office/officeart/2005/8/layout/orgChart1"/>
    <dgm:cxn modelId="{385F12E8-11A8-4FA3-96BC-1597CD3DCA07}" type="presParOf" srcId="{3BDA73C1-05D6-4799-AF1E-C622CCDBAABB}" destId="{D1D99A35-FFE8-4B80-A5C7-527118EC1A03}" srcOrd="1" destOrd="0" presId="urn:microsoft.com/office/officeart/2005/8/layout/orgChart1"/>
    <dgm:cxn modelId="{2FFD1095-58AB-433A-BA91-A2DA0E7E6280}" type="presParOf" srcId="{84E7B863-7C39-4A43-89A7-C23B3FAA07C9}" destId="{60CA6FC9-6911-44E7-B9E2-D0CA6377186F}" srcOrd="1" destOrd="0" presId="urn:microsoft.com/office/officeart/2005/8/layout/orgChart1"/>
    <dgm:cxn modelId="{D2589532-7DF3-4DC2-AE9F-9B2040D7BA3A}" type="presParOf" srcId="{60CA6FC9-6911-44E7-B9E2-D0CA6377186F}" destId="{936506C2-F87B-40D3-B4BE-7B4D459AA5CF}" srcOrd="0" destOrd="0" presId="urn:microsoft.com/office/officeart/2005/8/layout/orgChart1"/>
    <dgm:cxn modelId="{8362522D-3C94-4F21-9197-9A1CB5BF708D}" type="presParOf" srcId="{60CA6FC9-6911-44E7-B9E2-D0CA6377186F}" destId="{E8AB68A6-975C-4482-B04F-DF5550856E50}" srcOrd="1" destOrd="0" presId="urn:microsoft.com/office/officeart/2005/8/layout/orgChart1"/>
    <dgm:cxn modelId="{4CF37345-64A5-49CE-BF96-8C6E24247CAF}" type="presParOf" srcId="{E8AB68A6-975C-4482-B04F-DF5550856E50}" destId="{1B36A680-A880-414B-90FD-94159E14AB4D}" srcOrd="0" destOrd="0" presId="urn:microsoft.com/office/officeart/2005/8/layout/orgChart1"/>
    <dgm:cxn modelId="{01F8C69D-D038-445B-BDDE-5D4AD5C6BEAC}" type="presParOf" srcId="{1B36A680-A880-414B-90FD-94159E14AB4D}" destId="{F89ED213-71E3-4250-8E49-C834241DB22D}" srcOrd="0" destOrd="0" presId="urn:microsoft.com/office/officeart/2005/8/layout/orgChart1"/>
    <dgm:cxn modelId="{41CD3160-649D-4C99-BB77-F06B9269EFF7}" type="presParOf" srcId="{1B36A680-A880-414B-90FD-94159E14AB4D}" destId="{C0DF621D-A85E-47BC-BC35-A692C3849DF7}" srcOrd="1" destOrd="0" presId="urn:microsoft.com/office/officeart/2005/8/layout/orgChart1"/>
    <dgm:cxn modelId="{49044FEB-0129-4DC5-972D-C7407C957D03}" type="presParOf" srcId="{E8AB68A6-975C-4482-B04F-DF5550856E50}" destId="{FE3F7718-C8F0-483E-820E-022E21043631}" srcOrd="1" destOrd="0" presId="urn:microsoft.com/office/officeart/2005/8/layout/orgChart1"/>
    <dgm:cxn modelId="{523F431B-3C9E-4391-8DF9-2B6FC6286F03}" type="presParOf" srcId="{E8AB68A6-975C-4482-B04F-DF5550856E50}" destId="{7FDE7476-160A-4A1E-82D6-D5121BEA1624}" srcOrd="2" destOrd="0" presId="urn:microsoft.com/office/officeart/2005/8/layout/orgChart1"/>
    <dgm:cxn modelId="{173F7DD4-FD7B-44BF-A3DB-3B5299869297}" type="presParOf" srcId="{60CA6FC9-6911-44E7-B9E2-D0CA6377186F}" destId="{1AB4AE93-7431-4B93-8C55-463EBAC63777}" srcOrd="2" destOrd="0" presId="urn:microsoft.com/office/officeart/2005/8/layout/orgChart1"/>
    <dgm:cxn modelId="{DAFA20C7-D63C-42B5-BBAC-2532C3204172}" type="presParOf" srcId="{60CA6FC9-6911-44E7-B9E2-D0CA6377186F}" destId="{880B04B9-1442-4504-B46B-4601F806D254}" srcOrd="3" destOrd="0" presId="urn:microsoft.com/office/officeart/2005/8/layout/orgChart1"/>
    <dgm:cxn modelId="{E662C3E3-2D9A-43A5-872D-50DBD959696A}" type="presParOf" srcId="{880B04B9-1442-4504-B46B-4601F806D254}" destId="{C5A6FEB9-72F2-437F-9016-D86C639D1580}" srcOrd="0" destOrd="0" presId="urn:microsoft.com/office/officeart/2005/8/layout/orgChart1"/>
    <dgm:cxn modelId="{7E4423A1-042B-42EF-97BF-3BB15E8F8132}" type="presParOf" srcId="{C5A6FEB9-72F2-437F-9016-D86C639D1580}" destId="{119A01AE-B6D2-46A6-969D-85B7A3FADD96}" srcOrd="0" destOrd="0" presId="urn:microsoft.com/office/officeart/2005/8/layout/orgChart1"/>
    <dgm:cxn modelId="{8869F278-4631-4D6D-A985-48984299AEDF}" type="presParOf" srcId="{C5A6FEB9-72F2-437F-9016-D86C639D1580}" destId="{8E7A8B41-FC1E-4A8D-98E0-56A414DD523F}" srcOrd="1" destOrd="0" presId="urn:microsoft.com/office/officeart/2005/8/layout/orgChart1"/>
    <dgm:cxn modelId="{BC20B3F3-D682-477B-AE91-E86FA24040F7}" type="presParOf" srcId="{880B04B9-1442-4504-B46B-4601F806D254}" destId="{09476918-2F93-433E-9B1B-773413FE5B4F}" srcOrd="1" destOrd="0" presId="urn:microsoft.com/office/officeart/2005/8/layout/orgChart1"/>
    <dgm:cxn modelId="{4F1FCDFB-F531-4E7C-96C5-83E1D5C1425C}" type="presParOf" srcId="{880B04B9-1442-4504-B46B-4601F806D254}" destId="{BADD7164-CE5E-4B54-9815-840FB42CB93C}" srcOrd="2" destOrd="0" presId="urn:microsoft.com/office/officeart/2005/8/layout/orgChart1"/>
    <dgm:cxn modelId="{D62F8FBC-C6DB-499C-86C6-7A4AB0E25152}" type="presParOf" srcId="{84E7B863-7C39-4A43-89A7-C23B3FAA07C9}" destId="{36CFB26A-D02E-4708-AA26-2EAB7F398BED}" srcOrd="2" destOrd="0" presId="urn:microsoft.com/office/officeart/2005/8/layout/orgChart1"/>
    <dgm:cxn modelId="{0240EB48-6121-42D7-9A59-45A6020C69F1}" type="presParOf" srcId="{3AFDB49F-E33F-42C6-9E6D-20479ED5AE3B}" destId="{4CA96ED4-703D-4BCA-8F3E-0B51D981D579}" srcOrd="8" destOrd="0" presId="urn:microsoft.com/office/officeart/2005/8/layout/orgChart1"/>
    <dgm:cxn modelId="{76941629-4762-49A2-8CE9-2A4DC0AFD620}" type="presParOf" srcId="{3AFDB49F-E33F-42C6-9E6D-20479ED5AE3B}" destId="{37B96B5A-2084-41FE-88CE-3E234AD24946}" srcOrd="9" destOrd="0" presId="urn:microsoft.com/office/officeart/2005/8/layout/orgChart1"/>
    <dgm:cxn modelId="{2319BC25-555D-4329-8F9B-E7477124EABE}" type="presParOf" srcId="{37B96B5A-2084-41FE-88CE-3E234AD24946}" destId="{6D58E28C-DE91-430E-8DED-797D77FBB1ED}" srcOrd="0" destOrd="0" presId="urn:microsoft.com/office/officeart/2005/8/layout/orgChart1"/>
    <dgm:cxn modelId="{CA6D2F3C-1D12-442B-BAA3-CCF72C3F81F3}" type="presParOf" srcId="{6D58E28C-DE91-430E-8DED-797D77FBB1ED}" destId="{77B15598-C55C-4DEA-A0FD-B17CA8174B06}" srcOrd="0" destOrd="0" presId="urn:microsoft.com/office/officeart/2005/8/layout/orgChart1"/>
    <dgm:cxn modelId="{C07AA3A9-5708-4B31-8F93-229A1B0570E1}" type="presParOf" srcId="{6D58E28C-DE91-430E-8DED-797D77FBB1ED}" destId="{45D8507B-B8B0-4CAA-B45C-38CFA764B35D}" srcOrd="1" destOrd="0" presId="urn:microsoft.com/office/officeart/2005/8/layout/orgChart1"/>
    <dgm:cxn modelId="{18833F5E-B322-48F1-99AC-B2D4A5BE9A4A}" type="presParOf" srcId="{37B96B5A-2084-41FE-88CE-3E234AD24946}" destId="{12A33F50-677E-4D67-97B9-62DCE5066DFD}" srcOrd="1" destOrd="0" presId="urn:microsoft.com/office/officeart/2005/8/layout/orgChart1"/>
    <dgm:cxn modelId="{927FC001-1665-4D19-887D-15E2DEE60ABF}" type="presParOf" srcId="{12A33F50-677E-4D67-97B9-62DCE5066DFD}" destId="{7A9C9D02-36F8-41E0-8610-D084094AF68E}" srcOrd="0" destOrd="0" presId="urn:microsoft.com/office/officeart/2005/8/layout/orgChart1"/>
    <dgm:cxn modelId="{A1FC7157-741F-4C5C-AD66-3CD723EBB36F}" type="presParOf" srcId="{12A33F50-677E-4D67-97B9-62DCE5066DFD}" destId="{AC92D473-38C8-4008-B4DD-555D03000C1D}" srcOrd="1" destOrd="0" presId="urn:microsoft.com/office/officeart/2005/8/layout/orgChart1"/>
    <dgm:cxn modelId="{B41745B4-66C5-47A3-9424-0DB283BC78CF}" type="presParOf" srcId="{AC92D473-38C8-4008-B4DD-555D03000C1D}" destId="{CCB3F462-B54C-4EF1-A690-D341D3FFCEA6}" srcOrd="0" destOrd="0" presId="urn:microsoft.com/office/officeart/2005/8/layout/orgChart1"/>
    <dgm:cxn modelId="{A34C419E-5DCD-4734-841C-47E3D307CECF}" type="presParOf" srcId="{CCB3F462-B54C-4EF1-A690-D341D3FFCEA6}" destId="{5C1F0393-820F-47DC-8510-8C24FF608224}" srcOrd="0" destOrd="0" presId="urn:microsoft.com/office/officeart/2005/8/layout/orgChart1"/>
    <dgm:cxn modelId="{8DFF3B5C-8DF3-4424-9166-FDA857CEF59D}" type="presParOf" srcId="{CCB3F462-B54C-4EF1-A690-D341D3FFCEA6}" destId="{85E4590E-D2CF-4485-B5FA-D97111CE0B45}" srcOrd="1" destOrd="0" presId="urn:microsoft.com/office/officeart/2005/8/layout/orgChart1"/>
    <dgm:cxn modelId="{1DAED9CF-A5EC-4102-A481-2F855687444D}" type="presParOf" srcId="{AC92D473-38C8-4008-B4DD-555D03000C1D}" destId="{93BD7A43-EA2A-4890-92C0-928E15864DA9}" srcOrd="1" destOrd="0" presId="urn:microsoft.com/office/officeart/2005/8/layout/orgChart1"/>
    <dgm:cxn modelId="{76527DB8-C3B4-4C1D-8405-97C39A181D59}" type="presParOf" srcId="{AC92D473-38C8-4008-B4DD-555D03000C1D}" destId="{9EAAAE5F-151F-4C78-8453-7541A147408C}" srcOrd="2" destOrd="0" presId="urn:microsoft.com/office/officeart/2005/8/layout/orgChart1"/>
    <dgm:cxn modelId="{B43228E5-2419-43B3-AA4F-FEDF70747B72}" type="presParOf" srcId="{12A33F50-677E-4D67-97B9-62DCE5066DFD}" destId="{531F471E-1EDC-4F5D-BB2C-0935AA8CDCFC}" srcOrd="2" destOrd="0" presId="urn:microsoft.com/office/officeart/2005/8/layout/orgChart1"/>
    <dgm:cxn modelId="{6DC22D18-A3DF-4907-ACA6-D70FB1CD2431}" type="presParOf" srcId="{12A33F50-677E-4D67-97B9-62DCE5066DFD}" destId="{23CD9465-10A5-4ACB-B03C-9BA0610CB81F}" srcOrd="3" destOrd="0" presId="urn:microsoft.com/office/officeart/2005/8/layout/orgChart1"/>
    <dgm:cxn modelId="{038DFF68-08BA-4210-8454-B93FE5B8F2FA}" type="presParOf" srcId="{23CD9465-10A5-4ACB-B03C-9BA0610CB81F}" destId="{FE02585B-67AF-4042-A590-CD0F50998241}" srcOrd="0" destOrd="0" presId="urn:microsoft.com/office/officeart/2005/8/layout/orgChart1"/>
    <dgm:cxn modelId="{CA632E52-D155-459A-890E-9D7D637FF3F9}" type="presParOf" srcId="{FE02585B-67AF-4042-A590-CD0F50998241}" destId="{1535330A-EEF5-4E8F-BE13-4068A5EE6405}" srcOrd="0" destOrd="0" presId="urn:microsoft.com/office/officeart/2005/8/layout/orgChart1"/>
    <dgm:cxn modelId="{5E633D7A-6068-4FF7-B1CA-A9640D416D81}" type="presParOf" srcId="{FE02585B-67AF-4042-A590-CD0F50998241}" destId="{26DF6E65-2C8C-4114-84C3-9D38BB43EF4C}" srcOrd="1" destOrd="0" presId="urn:microsoft.com/office/officeart/2005/8/layout/orgChart1"/>
    <dgm:cxn modelId="{92EFE2C2-9D50-460A-8391-8DA19B70F664}" type="presParOf" srcId="{23CD9465-10A5-4ACB-B03C-9BA0610CB81F}" destId="{9E754F18-99EE-46ED-83B7-52C8940644EB}" srcOrd="1" destOrd="0" presId="urn:microsoft.com/office/officeart/2005/8/layout/orgChart1"/>
    <dgm:cxn modelId="{D0ABA939-D3B7-48B9-BDB1-5333BDF6B955}" type="presParOf" srcId="{23CD9465-10A5-4ACB-B03C-9BA0610CB81F}" destId="{809C9F99-646D-4911-9D76-142FE5D68CB6}" srcOrd="2" destOrd="0" presId="urn:microsoft.com/office/officeart/2005/8/layout/orgChart1"/>
    <dgm:cxn modelId="{8846E64C-498C-4208-9E89-7F984CC27286}" type="presParOf" srcId="{37B96B5A-2084-41FE-88CE-3E234AD24946}" destId="{4FAA6A9C-D3F5-4A48-8BE5-BA8B8249B979}" srcOrd="2" destOrd="0" presId="urn:microsoft.com/office/officeart/2005/8/layout/orgChart1"/>
    <dgm:cxn modelId="{5C1BA9B5-8FFF-4343-9524-8F32955534D6}" type="presParOf" srcId="{3AFDB49F-E33F-42C6-9E6D-20479ED5AE3B}" destId="{D5060D1F-A586-42F9-A039-F5233E4F1E99}" srcOrd="10" destOrd="0" presId="urn:microsoft.com/office/officeart/2005/8/layout/orgChart1"/>
    <dgm:cxn modelId="{B9CDA492-1E07-4532-9C77-7B0F06209DDE}" type="presParOf" srcId="{3AFDB49F-E33F-42C6-9E6D-20479ED5AE3B}" destId="{FEFC2D3D-919C-4FD9-8741-A08CCE744A08}" srcOrd="11" destOrd="0" presId="urn:microsoft.com/office/officeart/2005/8/layout/orgChart1"/>
    <dgm:cxn modelId="{494FAB7B-8072-4EFF-BF95-93A59C177DA2}" type="presParOf" srcId="{FEFC2D3D-919C-4FD9-8741-A08CCE744A08}" destId="{8FF46D31-1A21-4020-AEC7-FF05FFC3A5C4}" srcOrd="0" destOrd="0" presId="urn:microsoft.com/office/officeart/2005/8/layout/orgChart1"/>
    <dgm:cxn modelId="{B342D4E2-BC58-4C8C-972A-94480C0F8F41}" type="presParOf" srcId="{8FF46D31-1A21-4020-AEC7-FF05FFC3A5C4}" destId="{E1D20AD2-40D0-48B4-A968-2369DF8AFFEF}" srcOrd="0" destOrd="0" presId="urn:microsoft.com/office/officeart/2005/8/layout/orgChart1"/>
    <dgm:cxn modelId="{9547C15B-E97A-43F7-AFF2-0A34E0FA5375}" type="presParOf" srcId="{8FF46D31-1A21-4020-AEC7-FF05FFC3A5C4}" destId="{19918913-ADA0-42BA-A67C-085BD22EDA9E}" srcOrd="1" destOrd="0" presId="urn:microsoft.com/office/officeart/2005/8/layout/orgChart1"/>
    <dgm:cxn modelId="{F1E2637C-6F23-4873-8795-352E8C416778}" type="presParOf" srcId="{FEFC2D3D-919C-4FD9-8741-A08CCE744A08}" destId="{EAB04D65-F389-4981-AC6F-7CB4E6DD352D}" srcOrd="1" destOrd="0" presId="urn:microsoft.com/office/officeart/2005/8/layout/orgChart1"/>
    <dgm:cxn modelId="{A04A5F91-94F5-4358-971D-678406F566F2}" type="presParOf" srcId="{EAB04D65-F389-4981-AC6F-7CB4E6DD352D}" destId="{698FD7D3-A7F4-4CE5-BCE3-BD9FD3764DB9}" srcOrd="0" destOrd="0" presId="urn:microsoft.com/office/officeart/2005/8/layout/orgChart1"/>
    <dgm:cxn modelId="{1B3B0B99-2F09-4BD2-9107-29F2ED15DD6C}" type="presParOf" srcId="{EAB04D65-F389-4981-AC6F-7CB4E6DD352D}" destId="{C6E08C88-9B99-4F5B-94DC-1F33D1F546C1}" srcOrd="1" destOrd="0" presId="urn:microsoft.com/office/officeart/2005/8/layout/orgChart1"/>
    <dgm:cxn modelId="{D3A67F1E-B18C-44E8-A544-B6C9849FC631}" type="presParOf" srcId="{C6E08C88-9B99-4F5B-94DC-1F33D1F546C1}" destId="{EDB47D86-128D-49A0-BC14-A17C8769A8D9}" srcOrd="0" destOrd="0" presId="urn:microsoft.com/office/officeart/2005/8/layout/orgChart1"/>
    <dgm:cxn modelId="{54AA9ACD-FE3D-4AF4-9282-B43F2D507AF2}" type="presParOf" srcId="{EDB47D86-128D-49A0-BC14-A17C8769A8D9}" destId="{5F8A7D07-AAA5-4280-A04D-C85CEF9ACBEA}" srcOrd="0" destOrd="0" presId="urn:microsoft.com/office/officeart/2005/8/layout/orgChart1"/>
    <dgm:cxn modelId="{E8D1F3C8-7F38-4132-819A-4C0FE78AF1B2}" type="presParOf" srcId="{EDB47D86-128D-49A0-BC14-A17C8769A8D9}" destId="{C2DC1F37-39A6-4854-89BB-64571B920BF8}" srcOrd="1" destOrd="0" presId="urn:microsoft.com/office/officeart/2005/8/layout/orgChart1"/>
    <dgm:cxn modelId="{1A611592-CBC8-42AD-91C1-A59E1F250668}" type="presParOf" srcId="{C6E08C88-9B99-4F5B-94DC-1F33D1F546C1}" destId="{9A2B7277-6D23-4D3C-825C-28584DF96EA9}" srcOrd="1" destOrd="0" presId="urn:microsoft.com/office/officeart/2005/8/layout/orgChart1"/>
    <dgm:cxn modelId="{07FC8F40-E220-4455-AE41-1D1B1A3C6198}" type="presParOf" srcId="{C6E08C88-9B99-4F5B-94DC-1F33D1F546C1}" destId="{300BACBB-31FA-4802-B167-591B4DAFD88C}" srcOrd="2" destOrd="0" presId="urn:microsoft.com/office/officeart/2005/8/layout/orgChart1"/>
    <dgm:cxn modelId="{A583AB9E-CC22-4291-9098-75BA0ABD7192}" type="presParOf" srcId="{EAB04D65-F389-4981-AC6F-7CB4E6DD352D}" destId="{084C382B-52D8-422C-94CD-3914D5E66CD1}" srcOrd="2" destOrd="0" presId="urn:microsoft.com/office/officeart/2005/8/layout/orgChart1"/>
    <dgm:cxn modelId="{AA554596-A21B-4573-86A0-E010178F0B58}" type="presParOf" srcId="{EAB04D65-F389-4981-AC6F-7CB4E6DD352D}" destId="{9639BBC7-D564-43E9-8F16-595677316B23}" srcOrd="3" destOrd="0" presId="urn:microsoft.com/office/officeart/2005/8/layout/orgChart1"/>
    <dgm:cxn modelId="{D56EE6D1-85EB-4702-BA37-E57F6D93DC79}" type="presParOf" srcId="{9639BBC7-D564-43E9-8F16-595677316B23}" destId="{3FD76EAE-9874-4D82-92B1-CBFCAFDE1949}" srcOrd="0" destOrd="0" presId="urn:microsoft.com/office/officeart/2005/8/layout/orgChart1"/>
    <dgm:cxn modelId="{DCD6AB21-0770-4DF9-BD1F-A509CAFBB403}" type="presParOf" srcId="{3FD76EAE-9874-4D82-92B1-CBFCAFDE1949}" destId="{E266774C-AEC1-49B4-A116-CBE5CE0CFCE2}" srcOrd="0" destOrd="0" presId="urn:microsoft.com/office/officeart/2005/8/layout/orgChart1"/>
    <dgm:cxn modelId="{0DF8126B-0480-4261-A5BA-CBC0B104EC36}" type="presParOf" srcId="{3FD76EAE-9874-4D82-92B1-CBFCAFDE1949}" destId="{879B6960-565A-4DEA-9528-FD4BD5CB2083}" srcOrd="1" destOrd="0" presId="urn:microsoft.com/office/officeart/2005/8/layout/orgChart1"/>
    <dgm:cxn modelId="{E44C3A80-1F45-4CC8-BD9E-FC2AC15FCCDB}" type="presParOf" srcId="{9639BBC7-D564-43E9-8F16-595677316B23}" destId="{3D66A921-3F16-4EEE-A526-CB636808F324}" srcOrd="1" destOrd="0" presId="urn:microsoft.com/office/officeart/2005/8/layout/orgChart1"/>
    <dgm:cxn modelId="{AE462DF2-DCC7-4C63-9E3B-FDBBA72D02C1}" type="presParOf" srcId="{9639BBC7-D564-43E9-8F16-595677316B23}" destId="{EC5EB7BF-15F7-43A4-B92D-F7B6B10EB801}" srcOrd="2" destOrd="0" presId="urn:microsoft.com/office/officeart/2005/8/layout/orgChart1"/>
    <dgm:cxn modelId="{97A6AAB0-C64F-4BAC-BA36-21A9328D5596}" type="presParOf" srcId="{EAB04D65-F389-4981-AC6F-7CB4E6DD352D}" destId="{110D735F-B869-4177-9A0A-A72D8098C2FB}" srcOrd="4" destOrd="0" presId="urn:microsoft.com/office/officeart/2005/8/layout/orgChart1"/>
    <dgm:cxn modelId="{D157EC83-659D-442D-B315-23D3C467108E}" type="presParOf" srcId="{EAB04D65-F389-4981-AC6F-7CB4E6DD352D}" destId="{3422AB7A-FB0A-4C3A-9765-556E45B69B0E}" srcOrd="5" destOrd="0" presId="urn:microsoft.com/office/officeart/2005/8/layout/orgChart1"/>
    <dgm:cxn modelId="{E9A532DA-0535-4841-B626-C10F4FA97B24}" type="presParOf" srcId="{3422AB7A-FB0A-4C3A-9765-556E45B69B0E}" destId="{1B084A67-360C-4C99-9808-18BBE76E3464}" srcOrd="0" destOrd="0" presId="urn:microsoft.com/office/officeart/2005/8/layout/orgChart1"/>
    <dgm:cxn modelId="{D60313E4-221F-4A6E-A7CA-E2E363B8C33C}" type="presParOf" srcId="{1B084A67-360C-4C99-9808-18BBE76E3464}" destId="{1D41772C-FDBB-4EB4-93D8-860CD81F3E37}" srcOrd="0" destOrd="0" presId="urn:microsoft.com/office/officeart/2005/8/layout/orgChart1"/>
    <dgm:cxn modelId="{95CDBDE5-15D4-4AAE-B0F6-80F841FD0E02}" type="presParOf" srcId="{1B084A67-360C-4C99-9808-18BBE76E3464}" destId="{11B97025-0138-49EC-9695-AEB9280E86B6}" srcOrd="1" destOrd="0" presId="urn:microsoft.com/office/officeart/2005/8/layout/orgChart1"/>
    <dgm:cxn modelId="{E8226266-E17F-4628-89E5-470B1AEAB497}" type="presParOf" srcId="{3422AB7A-FB0A-4C3A-9765-556E45B69B0E}" destId="{1F8D041A-45A0-45B2-9B52-D71DE552DBA2}" srcOrd="1" destOrd="0" presId="urn:microsoft.com/office/officeart/2005/8/layout/orgChart1"/>
    <dgm:cxn modelId="{5CF4466F-A549-422A-8EB0-FA3244544CA9}" type="presParOf" srcId="{3422AB7A-FB0A-4C3A-9765-556E45B69B0E}" destId="{7B09933B-AD12-432C-83D1-7DDF67345AEC}" srcOrd="2" destOrd="0" presId="urn:microsoft.com/office/officeart/2005/8/layout/orgChart1"/>
    <dgm:cxn modelId="{5B1FE48B-40D1-41F4-BFC8-F87AD46A50E1}" type="presParOf" srcId="{EAB04D65-F389-4981-AC6F-7CB4E6DD352D}" destId="{B0E7C8C5-0FE0-4980-9D5D-6CA1FE606EC4}" srcOrd="6" destOrd="0" presId="urn:microsoft.com/office/officeart/2005/8/layout/orgChart1"/>
    <dgm:cxn modelId="{1C41E7DC-8970-4A7C-AB41-1CF9AE77B160}" type="presParOf" srcId="{EAB04D65-F389-4981-AC6F-7CB4E6DD352D}" destId="{DA903BC4-3CFF-4D0D-BF78-E524E5A18A6D}" srcOrd="7" destOrd="0" presId="urn:microsoft.com/office/officeart/2005/8/layout/orgChart1"/>
    <dgm:cxn modelId="{B513B73B-A2C2-43F8-81C1-A45FD5FB5599}" type="presParOf" srcId="{DA903BC4-3CFF-4D0D-BF78-E524E5A18A6D}" destId="{539896C6-98B6-4660-BABF-41205CFE65ED}" srcOrd="0" destOrd="0" presId="urn:microsoft.com/office/officeart/2005/8/layout/orgChart1"/>
    <dgm:cxn modelId="{579961BA-1582-4BD0-8077-EFF7D5ACB776}" type="presParOf" srcId="{539896C6-98B6-4660-BABF-41205CFE65ED}" destId="{56F81732-99C3-4EFC-96F2-1C7614D60BC2}" srcOrd="0" destOrd="0" presId="urn:microsoft.com/office/officeart/2005/8/layout/orgChart1"/>
    <dgm:cxn modelId="{7E493CB6-655D-4FC1-BCCE-AE6640CAE65F}" type="presParOf" srcId="{539896C6-98B6-4660-BABF-41205CFE65ED}" destId="{6534F250-04A6-4869-B92E-7DF5C570973D}" srcOrd="1" destOrd="0" presId="urn:microsoft.com/office/officeart/2005/8/layout/orgChart1"/>
    <dgm:cxn modelId="{2476138D-2117-4FCC-A6E5-69E8D9EEA6B6}" type="presParOf" srcId="{DA903BC4-3CFF-4D0D-BF78-E524E5A18A6D}" destId="{BAD83091-5DD0-4E22-B672-E5BC34E2B3B6}" srcOrd="1" destOrd="0" presId="urn:microsoft.com/office/officeart/2005/8/layout/orgChart1"/>
    <dgm:cxn modelId="{81A84C60-4773-4DC7-BFDD-B03281261AE8}" type="presParOf" srcId="{DA903BC4-3CFF-4D0D-BF78-E524E5A18A6D}" destId="{BE564A2E-561C-44D1-9EDE-265657E9F140}" srcOrd="2" destOrd="0" presId="urn:microsoft.com/office/officeart/2005/8/layout/orgChart1"/>
    <dgm:cxn modelId="{D92B8EC3-0904-4B84-9444-3F7B097D8CA7}" type="presParOf" srcId="{FEFC2D3D-919C-4FD9-8741-A08CCE744A08}" destId="{A2C1E5D5-C9EC-41CB-BB84-82BCBCE880F1}" srcOrd="2" destOrd="0" presId="urn:microsoft.com/office/officeart/2005/8/layout/orgChart1"/>
    <dgm:cxn modelId="{8C2E6183-87B5-4539-B6F0-5049A608314C}" type="presParOf" srcId="{50A6C0BB-D276-40B7-BF82-F2FEC194FC3C}" destId="{D649FB73-ABB0-4F8E-9446-C6FAFC126C18}" srcOrd="2" destOrd="0" presId="urn:microsoft.com/office/officeart/2005/8/layout/orgChart1"/>
    <dgm:cxn modelId="{EC97E96D-B75E-42E9-AA68-C046AB898DD0}" type="presParOf" srcId="{09B9909A-B783-4246-8C90-3A65EA31BE5F}" destId="{E2248FB8-8F4E-49EC-BF74-58E9883F8EC6}" srcOrd="2" destOrd="0" presId="urn:microsoft.com/office/officeart/2005/8/layout/orgChar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E7C8C5-0FE0-4980-9D5D-6CA1FE606EC4}">
      <dsp:nvSpPr>
        <dsp:cNvPr id="0" name=""/>
        <dsp:cNvSpPr/>
      </dsp:nvSpPr>
      <dsp:spPr>
        <a:xfrm>
          <a:off x="6387147" y="1908516"/>
          <a:ext cx="148913" cy="2571246"/>
        </a:xfrm>
        <a:custGeom>
          <a:avLst/>
          <a:gdLst/>
          <a:ahLst/>
          <a:cxnLst/>
          <a:rect l="0" t="0" r="0" b="0"/>
          <a:pathLst>
            <a:path>
              <a:moveTo>
                <a:pt x="0" y="0"/>
              </a:moveTo>
              <a:lnTo>
                <a:pt x="0" y="2571246"/>
              </a:lnTo>
              <a:lnTo>
                <a:pt x="148913" y="257124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0D735F-B869-4177-9A0A-A72D8098C2FB}">
      <dsp:nvSpPr>
        <dsp:cNvPr id="0" name=""/>
        <dsp:cNvSpPr/>
      </dsp:nvSpPr>
      <dsp:spPr>
        <a:xfrm>
          <a:off x="6387147" y="1908516"/>
          <a:ext cx="148913" cy="1866387"/>
        </a:xfrm>
        <a:custGeom>
          <a:avLst/>
          <a:gdLst/>
          <a:ahLst/>
          <a:cxnLst/>
          <a:rect l="0" t="0" r="0" b="0"/>
          <a:pathLst>
            <a:path>
              <a:moveTo>
                <a:pt x="0" y="0"/>
              </a:moveTo>
              <a:lnTo>
                <a:pt x="0" y="1866387"/>
              </a:lnTo>
              <a:lnTo>
                <a:pt x="148913" y="1866387"/>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4C382B-52D8-422C-94CD-3914D5E66CD1}">
      <dsp:nvSpPr>
        <dsp:cNvPr id="0" name=""/>
        <dsp:cNvSpPr/>
      </dsp:nvSpPr>
      <dsp:spPr>
        <a:xfrm>
          <a:off x="6387147" y="1908516"/>
          <a:ext cx="148913" cy="1161528"/>
        </a:xfrm>
        <a:custGeom>
          <a:avLst/>
          <a:gdLst/>
          <a:ahLst/>
          <a:cxnLst/>
          <a:rect l="0" t="0" r="0" b="0"/>
          <a:pathLst>
            <a:path>
              <a:moveTo>
                <a:pt x="0" y="0"/>
              </a:moveTo>
              <a:lnTo>
                <a:pt x="0" y="1161528"/>
              </a:lnTo>
              <a:lnTo>
                <a:pt x="148913" y="116152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98FD7D3-A7F4-4CE5-BCE3-BD9FD3764DB9}">
      <dsp:nvSpPr>
        <dsp:cNvPr id="0" name=""/>
        <dsp:cNvSpPr/>
      </dsp:nvSpPr>
      <dsp:spPr>
        <a:xfrm>
          <a:off x="6387147" y="1908516"/>
          <a:ext cx="148913" cy="456669"/>
        </a:xfrm>
        <a:custGeom>
          <a:avLst/>
          <a:gdLst/>
          <a:ahLst/>
          <a:cxnLst/>
          <a:rect l="0" t="0" r="0" b="0"/>
          <a:pathLst>
            <a:path>
              <a:moveTo>
                <a:pt x="0" y="0"/>
              </a:moveTo>
              <a:lnTo>
                <a:pt x="0" y="456669"/>
              </a:lnTo>
              <a:lnTo>
                <a:pt x="148913" y="4566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060D1F-A586-42F9-A039-F5233E4F1E99}">
      <dsp:nvSpPr>
        <dsp:cNvPr id="0" name=""/>
        <dsp:cNvSpPr/>
      </dsp:nvSpPr>
      <dsp:spPr>
        <a:xfrm>
          <a:off x="3781155" y="1203657"/>
          <a:ext cx="3003096" cy="208479"/>
        </a:xfrm>
        <a:custGeom>
          <a:avLst/>
          <a:gdLst/>
          <a:ahLst/>
          <a:cxnLst/>
          <a:rect l="0" t="0" r="0" b="0"/>
          <a:pathLst>
            <a:path>
              <a:moveTo>
                <a:pt x="0" y="0"/>
              </a:moveTo>
              <a:lnTo>
                <a:pt x="0" y="104239"/>
              </a:lnTo>
              <a:lnTo>
                <a:pt x="3003096" y="104239"/>
              </a:lnTo>
              <a:lnTo>
                <a:pt x="3003096" y="2084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1F471E-1EDC-4F5D-BB2C-0935AA8CDCFC}">
      <dsp:nvSpPr>
        <dsp:cNvPr id="0" name=""/>
        <dsp:cNvSpPr/>
      </dsp:nvSpPr>
      <dsp:spPr>
        <a:xfrm>
          <a:off x="5185909" y="1908516"/>
          <a:ext cx="148913" cy="1161528"/>
        </a:xfrm>
        <a:custGeom>
          <a:avLst/>
          <a:gdLst/>
          <a:ahLst/>
          <a:cxnLst/>
          <a:rect l="0" t="0" r="0" b="0"/>
          <a:pathLst>
            <a:path>
              <a:moveTo>
                <a:pt x="0" y="0"/>
              </a:moveTo>
              <a:lnTo>
                <a:pt x="0" y="1161528"/>
              </a:lnTo>
              <a:lnTo>
                <a:pt x="148913" y="116152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9C9D02-36F8-41E0-8610-D084094AF68E}">
      <dsp:nvSpPr>
        <dsp:cNvPr id="0" name=""/>
        <dsp:cNvSpPr/>
      </dsp:nvSpPr>
      <dsp:spPr>
        <a:xfrm>
          <a:off x="5185909" y="1908516"/>
          <a:ext cx="148913" cy="456669"/>
        </a:xfrm>
        <a:custGeom>
          <a:avLst/>
          <a:gdLst/>
          <a:ahLst/>
          <a:cxnLst/>
          <a:rect l="0" t="0" r="0" b="0"/>
          <a:pathLst>
            <a:path>
              <a:moveTo>
                <a:pt x="0" y="0"/>
              </a:moveTo>
              <a:lnTo>
                <a:pt x="0" y="456669"/>
              </a:lnTo>
              <a:lnTo>
                <a:pt x="148913" y="4566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CA96ED4-703D-4BCA-8F3E-0B51D981D579}">
      <dsp:nvSpPr>
        <dsp:cNvPr id="0" name=""/>
        <dsp:cNvSpPr/>
      </dsp:nvSpPr>
      <dsp:spPr>
        <a:xfrm>
          <a:off x="3781155" y="1203657"/>
          <a:ext cx="1801857" cy="208479"/>
        </a:xfrm>
        <a:custGeom>
          <a:avLst/>
          <a:gdLst/>
          <a:ahLst/>
          <a:cxnLst/>
          <a:rect l="0" t="0" r="0" b="0"/>
          <a:pathLst>
            <a:path>
              <a:moveTo>
                <a:pt x="0" y="0"/>
              </a:moveTo>
              <a:lnTo>
                <a:pt x="0" y="104239"/>
              </a:lnTo>
              <a:lnTo>
                <a:pt x="1801857" y="104239"/>
              </a:lnTo>
              <a:lnTo>
                <a:pt x="1801857" y="2084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B4AE93-7431-4B93-8C55-463EBAC63777}">
      <dsp:nvSpPr>
        <dsp:cNvPr id="0" name=""/>
        <dsp:cNvSpPr/>
      </dsp:nvSpPr>
      <dsp:spPr>
        <a:xfrm>
          <a:off x="3984670" y="1908516"/>
          <a:ext cx="148913" cy="1161528"/>
        </a:xfrm>
        <a:custGeom>
          <a:avLst/>
          <a:gdLst/>
          <a:ahLst/>
          <a:cxnLst/>
          <a:rect l="0" t="0" r="0" b="0"/>
          <a:pathLst>
            <a:path>
              <a:moveTo>
                <a:pt x="0" y="0"/>
              </a:moveTo>
              <a:lnTo>
                <a:pt x="0" y="1161528"/>
              </a:lnTo>
              <a:lnTo>
                <a:pt x="148913" y="1161528"/>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6506C2-F87B-40D3-B4BE-7B4D459AA5CF}">
      <dsp:nvSpPr>
        <dsp:cNvPr id="0" name=""/>
        <dsp:cNvSpPr/>
      </dsp:nvSpPr>
      <dsp:spPr>
        <a:xfrm>
          <a:off x="3984670" y="1908516"/>
          <a:ext cx="148913" cy="456669"/>
        </a:xfrm>
        <a:custGeom>
          <a:avLst/>
          <a:gdLst/>
          <a:ahLst/>
          <a:cxnLst/>
          <a:rect l="0" t="0" r="0" b="0"/>
          <a:pathLst>
            <a:path>
              <a:moveTo>
                <a:pt x="0" y="0"/>
              </a:moveTo>
              <a:lnTo>
                <a:pt x="0" y="456669"/>
              </a:lnTo>
              <a:lnTo>
                <a:pt x="148913" y="4566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241009-92C1-42C2-B62F-27587FF383B8}">
      <dsp:nvSpPr>
        <dsp:cNvPr id="0" name=""/>
        <dsp:cNvSpPr/>
      </dsp:nvSpPr>
      <dsp:spPr>
        <a:xfrm>
          <a:off x="3781155" y="1203657"/>
          <a:ext cx="600619" cy="208479"/>
        </a:xfrm>
        <a:custGeom>
          <a:avLst/>
          <a:gdLst/>
          <a:ahLst/>
          <a:cxnLst/>
          <a:rect l="0" t="0" r="0" b="0"/>
          <a:pathLst>
            <a:path>
              <a:moveTo>
                <a:pt x="0" y="0"/>
              </a:moveTo>
              <a:lnTo>
                <a:pt x="0" y="104239"/>
              </a:lnTo>
              <a:lnTo>
                <a:pt x="600619" y="104239"/>
              </a:lnTo>
              <a:lnTo>
                <a:pt x="600619" y="2084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A4764D-1DFE-432E-9DA7-E2DE85C9B7F5}">
      <dsp:nvSpPr>
        <dsp:cNvPr id="0" name=""/>
        <dsp:cNvSpPr/>
      </dsp:nvSpPr>
      <dsp:spPr>
        <a:xfrm>
          <a:off x="3180535" y="1203657"/>
          <a:ext cx="600619" cy="208479"/>
        </a:xfrm>
        <a:custGeom>
          <a:avLst/>
          <a:gdLst/>
          <a:ahLst/>
          <a:cxnLst/>
          <a:rect l="0" t="0" r="0" b="0"/>
          <a:pathLst>
            <a:path>
              <a:moveTo>
                <a:pt x="600619" y="0"/>
              </a:moveTo>
              <a:lnTo>
                <a:pt x="600619" y="104239"/>
              </a:lnTo>
              <a:lnTo>
                <a:pt x="0" y="104239"/>
              </a:lnTo>
              <a:lnTo>
                <a:pt x="0" y="2084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C2D17B-1E23-4516-B5B7-92F40015FC60}">
      <dsp:nvSpPr>
        <dsp:cNvPr id="0" name=""/>
        <dsp:cNvSpPr/>
      </dsp:nvSpPr>
      <dsp:spPr>
        <a:xfrm>
          <a:off x="1582193" y="1908516"/>
          <a:ext cx="148913" cy="456669"/>
        </a:xfrm>
        <a:custGeom>
          <a:avLst/>
          <a:gdLst/>
          <a:ahLst/>
          <a:cxnLst/>
          <a:rect l="0" t="0" r="0" b="0"/>
          <a:pathLst>
            <a:path>
              <a:moveTo>
                <a:pt x="0" y="0"/>
              </a:moveTo>
              <a:lnTo>
                <a:pt x="0" y="456669"/>
              </a:lnTo>
              <a:lnTo>
                <a:pt x="148913" y="45666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023CB1-F6EA-4971-A708-AA8CE25598B3}">
      <dsp:nvSpPr>
        <dsp:cNvPr id="0" name=""/>
        <dsp:cNvSpPr/>
      </dsp:nvSpPr>
      <dsp:spPr>
        <a:xfrm>
          <a:off x="1979297" y="1203657"/>
          <a:ext cx="1801857" cy="208479"/>
        </a:xfrm>
        <a:custGeom>
          <a:avLst/>
          <a:gdLst/>
          <a:ahLst/>
          <a:cxnLst/>
          <a:rect l="0" t="0" r="0" b="0"/>
          <a:pathLst>
            <a:path>
              <a:moveTo>
                <a:pt x="1801857" y="0"/>
              </a:moveTo>
              <a:lnTo>
                <a:pt x="1801857" y="104239"/>
              </a:lnTo>
              <a:lnTo>
                <a:pt x="0" y="104239"/>
              </a:lnTo>
              <a:lnTo>
                <a:pt x="0" y="2084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12E972-93AD-44EA-921A-D64640132E2D}">
      <dsp:nvSpPr>
        <dsp:cNvPr id="0" name=""/>
        <dsp:cNvSpPr/>
      </dsp:nvSpPr>
      <dsp:spPr>
        <a:xfrm>
          <a:off x="778058" y="1203657"/>
          <a:ext cx="3003096" cy="208479"/>
        </a:xfrm>
        <a:custGeom>
          <a:avLst/>
          <a:gdLst/>
          <a:ahLst/>
          <a:cxnLst/>
          <a:rect l="0" t="0" r="0" b="0"/>
          <a:pathLst>
            <a:path>
              <a:moveTo>
                <a:pt x="3003096" y="0"/>
              </a:moveTo>
              <a:lnTo>
                <a:pt x="3003096" y="104239"/>
              </a:lnTo>
              <a:lnTo>
                <a:pt x="0" y="104239"/>
              </a:lnTo>
              <a:lnTo>
                <a:pt x="0" y="2084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CF180C9-ACE6-4E7A-9BAF-649D60F824C4}">
      <dsp:nvSpPr>
        <dsp:cNvPr id="0" name=""/>
        <dsp:cNvSpPr/>
      </dsp:nvSpPr>
      <dsp:spPr>
        <a:xfrm>
          <a:off x="3735435" y="498798"/>
          <a:ext cx="91440" cy="208479"/>
        </a:xfrm>
        <a:custGeom>
          <a:avLst/>
          <a:gdLst/>
          <a:ahLst/>
          <a:cxnLst/>
          <a:rect l="0" t="0" r="0" b="0"/>
          <a:pathLst>
            <a:path>
              <a:moveTo>
                <a:pt x="45720" y="0"/>
              </a:moveTo>
              <a:lnTo>
                <a:pt x="45720" y="2084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A26517B-EB9A-4550-9C45-F9B1FC3C92F1}">
      <dsp:nvSpPr>
        <dsp:cNvPr id="0" name=""/>
        <dsp:cNvSpPr/>
      </dsp:nvSpPr>
      <dsp:spPr>
        <a:xfrm>
          <a:off x="3284775" y="2418"/>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Program Director / Manager</a:t>
          </a:r>
        </a:p>
      </dsp:txBody>
      <dsp:txXfrm>
        <a:off x="3284775" y="2418"/>
        <a:ext cx="992759" cy="496379"/>
      </dsp:txXfrm>
    </dsp:sp>
    <dsp:sp modelId="{175A471F-C9CC-4FF2-8F48-FDD6DF680464}">
      <dsp:nvSpPr>
        <dsp:cNvPr id="0" name=""/>
        <dsp:cNvSpPr/>
      </dsp:nvSpPr>
      <dsp:spPr>
        <a:xfrm>
          <a:off x="3284775" y="707277"/>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Project Manager</a:t>
          </a:r>
        </a:p>
      </dsp:txBody>
      <dsp:txXfrm>
        <a:off x="3284775" y="707277"/>
        <a:ext cx="992759" cy="496379"/>
      </dsp:txXfrm>
    </dsp:sp>
    <dsp:sp modelId="{D886DEBB-7C7D-4FFD-A40F-4F6EBDA45157}">
      <dsp:nvSpPr>
        <dsp:cNvPr id="0" name=""/>
        <dsp:cNvSpPr/>
      </dsp:nvSpPr>
      <dsp:spPr>
        <a:xfrm>
          <a:off x="281679" y="1412136"/>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Site Safety and Health Officer</a:t>
          </a:r>
        </a:p>
      </dsp:txBody>
      <dsp:txXfrm>
        <a:off x="281679" y="1412136"/>
        <a:ext cx="992759" cy="496379"/>
      </dsp:txXfrm>
    </dsp:sp>
    <dsp:sp modelId="{0C3BE808-BE6F-4209-BC17-8D92B419ECD3}">
      <dsp:nvSpPr>
        <dsp:cNvPr id="0" name=""/>
        <dsp:cNvSpPr/>
      </dsp:nvSpPr>
      <dsp:spPr>
        <a:xfrm>
          <a:off x="1482917" y="1412136"/>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Quality Control Manager</a:t>
          </a:r>
        </a:p>
      </dsp:txBody>
      <dsp:txXfrm>
        <a:off x="1482917" y="1412136"/>
        <a:ext cx="992759" cy="496379"/>
      </dsp:txXfrm>
    </dsp:sp>
    <dsp:sp modelId="{882DE9C0-FFB3-4D04-AA62-4D1A7FF8C070}">
      <dsp:nvSpPr>
        <dsp:cNvPr id="0" name=""/>
        <dsp:cNvSpPr/>
      </dsp:nvSpPr>
      <dsp:spPr>
        <a:xfrm>
          <a:off x="1731107" y="2116995"/>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3 QC Specialists</a:t>
          </a:r>
        </a:p>
      </dsp:txBody>
      <dsp:txXfrm>
        <a:off x="1731107" y="2116995"/>
        <a:ext cx="992759" cy="496379"/>
      </dsp:txXfrm>
    </dsp:sp>
    <dsp:sp modelId="{97131EF5-8EF9-40A4-A4C9-849EED37F977}">
      <dsp:nvSpPr>
        <dsp:cNvPr id="0" name=""/>
        <dsp:cNvSpPr/>
      </dsp:nvSpPr>
      <dsp:spPr>
        <a:xfrm>
          <a:off x="2684156" y="1412136"/>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Field Office Administrator</a:t>
          </a:r>
        </a:p>
      </dsp:txBody>
      <dsp:txXfrm>
        <a:off x="2684156" y="1412136"/>
        <a:ext cx="992759" cy="496379"/>
      </dsp:txXfrm>
    </dsp:sp>
    <dsp:sp modelId="{9EE388ED-C6B6-4094-949D-32BA5F826AE3}">
      <dsp:nvSpPr>
        <dsp:cNvPr id="0" name=""/>
        <dsp:cNvSpPr/>
      </dsp:nvSpPr>
      <dsp:spPr>
        <a:xfrm>
          <a:off x="3885394" y="1412136"/>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Property Manger</a:t>
          </a:r>
        </a:p>
      </dsp:txBody>
      <dsp:txXfrm>
        <a:off x="3885394" y="1412136"/>
        <a:ext cx="992759" cy="496379"/>
      </dsp:txXfrm>
    </dsp:sp>
    <dsp:sp modelId="{F89ED213-71E3-4250-8E49-C834241DB22D}">
      <dsp:nvSpPr>
        <dsp:cNvPr id="0" name=""/>
        <dsp:cNvSpPr/>
      </dsp:nvSpPr>
      <dsp:spPr>
        <a:xfrm>
          <a:off x="4133584" y="2116995"/>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Materials Control Supervisor</a:t>
          </a:r>
        </a:p>
      </dsp:txBody>
      <dsp:txXfrm>
        <a:off x="4133584" y="2116995"/>
        <a:ext cx="992759" cy="496379"/>
      </dsp:txXfrm>
    </dsp:sp>
    <dsp:sp modelId="{119A01AE-B6D2-46A6-969D-85B7A3FADD96}">
      <dsp:nvSpPr>
        <dsp:cNvPr id="0" name=""/>
        <dsp:cNvSpPr/>
      </dsp:nvSpPr>
      <dsp:spPr>
        <a:xfrm>
          <a:off x="4133584" y="2821854"/>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Materials Control Specialist</a:t>
          </a:r>
        </a:p>
      </dsp:txBody>
      <dsp:txXfrm>
        <a:off x="4133584" y="2821854"/>
        <a:ext cx="992759" cy="496379"/>
      </dsp:txXfrm>
    </dsp:sp>
    <dsp:sp modelId="{77B15598-C55C-4DEA-A0FD-B17CA8174B06}">
      <dsp:nvSpPr>
        <dsp:cNvPr id="0" name=""/>
        <dsp:cNvSpPr/>
      </dsp:nvSpPr>
      <dsp:spPr>
        <a:xfrm>
          <a:off x="5086633" y="1412136"/>
          <a:ext cx="992759" cy="496379"/>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Area of Operations Lead</a:t>
          </a:r>
        </a:p>
      </dsp:txBody>
      <dsp:txXfrm>
        <a:off x="5086633" y="1412136"/>
        <a:ext cx="992759" cy="496379"/>
      </dsp:txXfrm>
    </dsp:sp>
    <dsp:sp modelId="{5C1F0393-820F-47DC-8510-8C24FF608224}">
      <dsp:nvSpPr>
        <dsp:cNvPr id="0" name=""/>
        <dsp:cNvSpPr/>
      </dsp:nvSpPr>
      <dsp:spPr>
        <a:xfrm>
          <a:off x="5334823" y="2116995"/>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3 Electrical Teams</a:t>
          </a:r>
        </a:p>
        <a:p>
          <a:pPr marL="0" lvl="0" indent="0" algn="ctr" defTabSz="444500">
            <a:lnSpc>
              <a:spcPct val="90000"/>
            </a:lnSpc>
            <a:spcBef>
              <a:spcPct val="0"/>
            </a:spcBef>
            <a:spcAft>
              <a:spcPct val="35000"/>
            </a:spcAft>
            <a:buNone/>
          </a:pPr>
          <a:r>
            <a:rPr lang="en-US" sz="1000" b="1" kern="1200" dirty="0"/>
            <a:t>ARCENT</a:t>
          </a:r>
        </a:p>
      </dsp:txBody>
      <dsp:txXfrm>
        <a:off x="5334823" y="2116995"/>
        <a:ext cx="992759" cy="496379"/>
      </dsp:txXfrm>
    </dsp:sp>
    <dsp:sp modelId="{1535330A-EEF5-4E8F-BE13-4068A5EE6405}">
      <dsp:nvSpPr>
        <dsp:cNvPr id="0" name=""/>
        <dsp:cNvSpPr/>
      </dsp:nvSpPr>
      <dsp:spPr>
        <a:xfrm>
          <a:off x="5334823" y="2821854"/>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9 Electrical Teams</a:t>
          </a:r>
        </a:p>
        <a:p>
          <a:pPr marL="0" lvl="0" indent="0" algn="ctr" defTabSz="444500">
            <a:lnSpc>
              <a:spcPct val="90000"/>
            </a:lnSpc>
            <a:spcBef>
              <a:spcPct val="0"/>
            </a:spcBef>
            <a:spcAft>
              <a:spcPct val="35000"/>
            </a:spcAft>
            <a:buNone/>
          </a:pPr>
          <a:r>
            <a:rPr lang="en-US" sz="1000" b="1" kern="1200" dirty="0"/>
            <a:t>OIR</a:t>
          </a:r>
        </a:p>
      </dsp:txBody>
      <dsp:txXfrm>
        <a:off x="5334823" y="2821854"/>
        <a:ext cx="992759" cy="496379"/>
      </dsp:txXfrm>
    </dsp:sp>
    <dsp:sp modelId="{E1D20AD2-40D0-48B4-A968-2369DF8AFFEF}">
      <dsp:nvSpPr>
        <dsp:cNvPr id="0" name=""/>
        <dsp:cNvSpPr/>
      </dsp:nvSpPr>
      <dsp:spPr>
        <a:xfrm>
          <a:off x="6287872" y="1412136"/>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UFC Team Lead</a:t>
          </a:r>
        </a:p>
        <a:p>
          <a:pPr marL="0" lvl="0" indent="0" algn="ctr" defTabSz="444500">
            <a:lnSpc>
              <a:spcPct val="90000"/>
            </a:lnSpc>
            <a:spcBef>
              <a:spcPct val="0"/>
            </a:spcBef>
            <a:spcAft>
              <a:spcPct val="35000"/>
            </a:spcAft>
            <a:buNone/>
          </a:pPr>
          <a:r>
            <a:rPr lang="en-US" sz="1000" kern="1200" dirty="0"/>
            <a:t>Fire Prevention Specialist</a:t>
          </a:r>
        </a:p>
      </dsp:txBody>
      <dsp:txXfrm>
        <a:off x="6287872" y="1412136"/>
        <a:ext cx="992759" cy="496379"/>
      </dsp:txXfrm>
    </dsp:sp>
    <dsp:sp modelId="{5F8A7D07-AAA5-4280-A04D-C85CEF9ACBEA}">
      <dsp:nvSpPr>
        <dsp:cNvPr id="0" name=""/>
        <dsp:cNvSpPr/>
      </dsp:nvSpPr>
      <dsp:spPr>
        <a:xfrm>
          <a:off x="6536061" y="2116995"/>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UFC Civil Eng</a:t>
          </a:r>
        </a:p>
      </dsp:txBody>
      <dsp:txXfrm>
        <a:off x="6536061" y="2116995"/>
        <a:ext cx="992759" cy="496379"/>
      </dsp:txXfrm>
    </dsp:sp>
    <dsp:sp modelId="{E266774C-AEC1-49B4-A116-CBE5CE0CFCE2}">
      <dsp:nvSpPr>
        <dsp:cNvPr id="0" name=""/>
        <dsp:cNvSpPr/>
      </dsp:nvSpPr>
      <dsp:spPr>
        <a:xfrm>
          <a:off x="6536061" y="2821854"/>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UFC Mech / Plumb Specialist</a:t>
          </a:r>
        </a:p>
      </dsp:txBody>
      <dsp:txXfrm>
        <a:off x="6536061" y="2821854"/>
        <a:ext cx="992759" cy="496379"/>
      </dsp:txXfrm>
    </dsp:sp>
    <dsp:sp modelId="{1D41772C-FDBB-4EB4-93D8-860CD81F3E37}">
      <dsp:nvSpPr>
        <dsp:cNvPr id="0" name=""/>
        <dsp:cNvSpPr/>
      </dsp:nvSpPr>
      <dsp:spPr>
        <a:xfrm>
          <a:off x="6536061" y="3526713"/>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UFC Environmental Specialist</a:t>
          </a:r>
        </a:p>
      </dsp:txBody>
      <dsp:txXfrm>
        <a:off x="6536061" y="3526713"/>
        <a:ext cx="992759" cy="496379"/>
      </dsp:txXfrm>
    </dsp:sp>
    <dsp:sp modelId="{56F81732-99C3-4EFC-96F2-1C7614D60BC2}">
      <dsp:nvSpPr>
        <dsp:cNvPr id="0" name=""/>
        <dsp:cNvSpPr/>
      </dsp:nvSpPr>
      <dsp:spPr>
        <a:xfrm>
          <a:off x="6536061" y="4231572"/>
          <a:ext cx="992759" cy="496379"/>
        </a:xfrm>
        <a:prstGeom prst="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t>UFC Electrical SME</a:t>
          </a:r>
        </a:p>
      </dsp:txBody>
      <dsp:txXfrm>
        <a:off x="6536061" y="4231572"/>
        <a:ext cx="992759" cy="49637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11/21/2025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DC240-60F4-7565-2476-AE2B118BE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1FEEEA-FFC4-FC49-5C2A-96CDFDAA0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8132F8-F8EE-0DC6-90DA-586F7B831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858B31-DB7F-D233-049D-F0E22EF7F6DC}"/>
              </a:ext>
            </a:extLst>
          </p:cNvPr>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10415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0518F-D93C-770E-8FF1-4A24E97ED3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A1ED2-2D69-6070-13A7-B1B08F5D2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EE46ED-D7B7-288F-0DDE-9F906961B9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7A834-44B6-BEB5-804F-6057BD4CDF4B}"/>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1078265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66933-AD1D-56C3-7158-EE9EDE4E9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4394F-30D8-91DB-9D68-AD3618D2D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3A13CA-4F6C-4FDC-4A84-FB41F4C412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20C374-A88B-12DB-E8CF-0F0D8297A306}"/>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2283316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051D1-3517-C641-7EC6-7BD1A7ACD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7F070-DA78-B7A3-6D11-2DA9F0225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336A9-4DC2-A1A0-E3BE-1AF6EF4AB1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19D02F-9CA5-AEF2-EFD0-545152108C17}"/>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1116757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B4298-B40E-BF35-F112-B7841A7454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C96BD-66DC-FF70-2185-0C93933B7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D9079-14F5-222D-1E8B-14E13F3937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AE471F-58B8-4199-92FA-20BED1474F6F}"/>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4206034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FE45F-ED40-3F86-61BE-7E6B5D25F2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AA89D-BCC8-B295-2990-0FAF8CCCC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AB30BB-F415-88EC-351E-9F47938067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DFC02B-D1CF-3B2E-C059-3E74C057D5B9}"/>
              </a:ext>
            </a:extLst>
          </p:cNvPr>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3251415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DC86F-8152-D56B-79E8-49B45E20B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C0A01-AA71-5E7F-ABFD-D053C7F81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D9ECC-CBF2-B5B8-88DC-4CFE40EF5B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A990B7-1A02-86F6-07E9-F45D3EE117B6}"/>
              </a:ext>
            </a:extLst>
          </p:cNvPr>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893817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14660-6A01-336C-9AD5-BB0062DF8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380B33-0DE5-4626-3CC0-3225EDCB7B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FEAFC-793E-B9C5-2D61-FB0530D801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96648-35CD-F045-E5C1-550E5BD69F8F}"/>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4101260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11B9-28B1-52AB-92EA-BF454AD38F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A24A44-9FA9-F37A-C3C3-DE3FC6A1C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2580B-47C5-BD20-E0BE-608C94D39E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D6477E-1A94-5928-B1F0-9C1356F85CF1}"/>
              </a:ext>
            </a:extLst>
          </p:cNvPr>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2403636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B2D34-B7D9-A9E1-CB7A-E13518F80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7A477A-A60A-1E21-5F2D-D8284DB13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1D0C0-82C5-A82C-5612-26F713FA41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629E25-1024-C33A-DE86-3EC5E660F8E3}"/>
              </a:ext>
            </a:extLst>
          </p:cNvPr>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39439732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2D479-AF90-BEC1-7298-21ED66E0D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EC3E9-5F6C-E4E2-0859-04891D4CD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88AC4B-E514-EDF1-56D4-5A9F86A5A6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D5236C-3AD5-98D4-37F6-6E19EC3E4646}"/>
              </a:ext>
            </a:extLst>
          </p:cNvPr>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2137040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BCA6E-C018-F8E8-C9AB-445513067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F84B4-57BA-4E0D-FD3F-0D5A017CAA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14CC1B-1432-81D6-CA4F-15A4D31779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4FF4B4-7D54-6E78-73EA-FB4A074084C3}"/>
              </a:ext>
            </a:extLst>
          </p:cNvPr>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4044043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70BAF-397F-4DCA-6A39-3EB5A6E45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C4219-30AD-DE56-5A89-30DC1FD48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4A3E05-CD3A-3970-A324-3909260DAD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974D22-B64E-9B7C-1ADA-5B88FC8F1855}"/>
              </a:ext>
            </a:extLst>
          </p:cNvPr>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2723722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5549-4E67-EE6A-A3EB-418FEF9CF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7D18F-60E4-A1B8-EC1B-1488C9792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1D4C32-0D09-25DA-29F3-DBC8B7F74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9AB62-6FEB-F0A0-991D-186A6C6BD74F}"/>
              </a:ext>
            </a:extLst>
          </p:cNvPr>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4097657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4C77E-5B77-988C-6929-ABC010865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17334A-80B4-02E2-6E49-857E7BB6C9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0C26BE-1379-F08C-9325-FB6E0648FE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14FC3A-05A3-3943-8B0A-E13CAC263623}"/>
              </a:ext>
            </a:extLst>
          </p:cNvPr>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41753206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44E5F-7030-2576-5ACC-D5A71F229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9DFC6-2107-FA78-9A36-70944322E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7F830-1A66-611C-1334-C4658BE299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9D164A-0422-B72B-197F-E6353261DB54}"/>
              </a:ext>
            </a:extLst>
          </p:cNvPr>
          <p:cNvSpPr>
            <a:spLocks noGrp="1"/>
          </p:cNvSpPr>
          <p:nvPr>
            <p:ph type="sldNum" sz="quarter" idx="5"/>
          </p:nvPr>
        </p:nvSpPr>
        <p:spPr/>
        <p:txBody>
          <a:bodyPr/>
          <a:lstStyle/>
          <a:p>
            <a:fld id="{A89C7E07-3C67-C64C-8DA0-0404F6303970}" type="slidenum">
              <a:rPr lang="en-US" smtClean="0"/>
              <a:t>19</a:t>
            </a:fld>
            <a:endParaRPr lang="en-US" dirty="0"/>
          </a:p>
        </p:txBody>
      </p:sp>
    </p:spTree>
    <p:extLst>
      <p:ext uri="{BB962C8B-B14F-4D97-AF65-F5344CB8AC3E}">
        <p14:creationId xmlns:p14="http://schemas.microsoft.com/office/powerpoint/2010/main" val="115583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1B42D-1622-F799-2050-F5B8966E2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A2489-C03B-1654-1593-B469FB70CA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2A5F1-4BB4-E5B7-2115-EEE751CBD0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801EFD-AB0F-2554-CBC9-193504EB59A5}"/>
              </a:ext>
            </a:extLst>
          </p:cNvPr>
          <p:cNvSpPr>
            <a:spLocks noGrp="1"/>
          </p:cNvSpPr>
          <p:nvPr>
            <p:ph type="sldNum" sz="quarter" idx="5"/>
          </p:nvPr>
        </p:nvSpPr>
        <p:spPr/>
        <p:txBody>
          <a:bodyPr/>
          <a:lstStyle/>
          <a:p>
            <a:fld id="{A89C7E07-3C67-C64C-8DA0-0404F6303970}" type="slidenum">
              <a:rPr lang="en-US" smtClean="0"/>
              <a:t>20</a:t>
            </a:fld>
            <a:endParaRPr lang="en-US" dirty="0"/>
          </a:p>
        </p:txBody>
      </p:sp>
    </p:spTree>
    <p:extLst>
      <p:ext uri="{BB962C8B-B14F-4D97-AF65-F5344CB8AC3E}">
        <p14:creationId xmlns:p14="http://schemas.microsoft.com/office/powerpoint/2010/main" val="18734246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23174-D3DB-4B2D-F1A7-651B77096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9D85DA-9755-46E6-51C1-FF5A9EBB0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34CEEC-27B5-BDB4-7F76-F6B7F15D4D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9CEF43-BBA9-5CA9-FB14-008FD3815B35}"/>
              </a:ext>
            </a:extLst>
          </p:cNvPr>
          <p:cNvSpPr>
            <a:spLocks noGrp="1"/>
          </p:cNvSpPr>
          <p:nvPr>
            <p:ph type="sldNum" sz="quarter" idx="5"/>
          </p:nvPr>
        </p:nvSpPr>
        <p:spPr/>
        <p:txBody>
          <a:bodyPr/>
          <a:lstStyle/>
          <a:p>
            <a:fld id="{A89C7E07-3C67-C64C-8DA0-0404F6303970}" type="slidenum">
              <a:rPr lang="en-US" smtClean="0"/>
              <a:t>21</a:t>
            </a:fld>
            <a:endParaRPr lang="en-US" dirty="0"/>
          </a:p>
        </p:txBody>
      </p:sp>
    </p:spTree>
    <p:extLst>
      <p:ext uri="{BB962C8B-B14F-4D97-AF65-F5344CB8AC3E}">
        <p14:creationId xmlns:p14="http://schemas.microsoft.com/office/powerpoint/2010/main" val="255936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6812B-E73F-6A69-ACDD-4E9F0E51E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29BC2-13A8-0786-4D8C-E34C2ACB9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6C22B-9123-BCB2-1CCA-595F4D04D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E41F2D-8A37-C427-A398-36785259151E}"/>
              </a:ext>
            </a:extLst>
          </p:cNvPr>
          <p:cNvSpPr>
            <a:spLocks noGrp="1"/>
          </p:cNvSpPr>
          <p:nvPr>
            <p:ph type="sldNum" sz="quarter" idx="5"/>
          </p:nvPr>
        </p:nvSpPr>
        <p:spPr/>
        <p:txBody>
          <a:bodyPr/>
          <a:lstStyle/>
          <a:p>
            <a:fld id="{A89C7E07-3C67-C64C-8DA0-0404F6303970}" type="slidenum">
              <a:rPr lang="en-US" smtClean="0"/>
              <a:t>22</a:t>
            </a:fld>
            <a:endParaRPr lang="en-US" dirty="0"/>
          </a:p>
        </p:txBody>
      </p:sp>
    </p:spTree>
    <p:extLst>
      <p:ext uri="{BB962C8B-B14F-4D97-AF65-F5344CB8AC3E}">
        <p14:creationId xmlns:p14="http://schemas.microsoft.com/office/powerpoint/2010/main" val="6763295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02730-7B7A-C675-1875-73F8C60AF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45420B-3013-4A39-C508-870CA6BEBF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62C99-587A-DA1D-4143-78DB93126D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2ABCA1-F506-3869-0FB8-61A0C08B1FA0}"/>
              </a:ext>
            </a:extLst>
          </p:cNvPr>
          <p:cNvSpPr>
            <a:spLocks noGrp="1"/>
          </p:cNvSpPr>
          <p:nvPr>
            <p:ph type="sldNum" sz="quarter" idx="5"/>
          </p:nvPr>
        </p:nvSpPr>
        <p:spPr/>
        <p:txBody>
          <a:bodyPr/>
          <a:lstStyle/>
          <a:p>
            <a:fld id="{A89C7E07-3C67-C64C-8DA0-0404F6303970}" type="slidenum">
              <a:rPr lang="en-US" smtClean="0"/>
              <a:t>23</a:t>
            </a:fld>
            <a:endParaRPr lang="en-US" dirty="0"/>
          </a:p>
        </p:txBody>
      </p:sp>
    </p:spTree>
    <p:extLst>
      <p:ext uri="{BB962C8B-B14F-4D97-AF65-F5344CB8AC3E}">
        <p14:creationId xmlns:p14="http://schemas.microsoft.com/office/powerpoint/2010/main" val="3044275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0E1D-887E-25F6-B016-1A962CEC9F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EDC29-18E9-5E95-1E23-BE465B53B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29BE6-DF78-3E85-787E-146485F132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3F8703-2DDD-CF42-B613-79B1511F2835}"/>
              </a:ext>
            </a:extLst>
          </p:cNvPr>
          <p:cNvSpPr>
            <a:spLocks noGrp="1"/>
          </p:cNvSpPr>
          <p:nvPr>
            <p:ph type="sldNum" sz="quarter" idx="5"/>
          </p:nvPr>
        </p:nvSpPr>
        <p:spPr/>
        <p:txBody>
          <a:bodyPr/>
          <a:lstStyle/>
          <a:p>
            <a:fld id="{A89C7E07-3C67-C64C-8DA0-0404F6303970}" type="slidenum">
              <a:rPr lang="en-US" smtClean="0"/>
              <a:t>24</a:t>
            </a:fld>
            <a:endParaRPr lang="en-US" dirty="0"/>
          </a:p>
        </p:txBody>
      </p:sp>
    </p:spTree>
    <p:extLst>
      <p:ext uri="{BB962C8B-B14F-4D97-AF65-F5344CB8AC3E}">
        <p14:creationId xmlns:p14="http://schemas.microsoft.com/office/powerpoint/2010/main" val="27080870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0157-BB49-3021-1586-F679B04B1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8BB67-922F-2511-9493-CDB503FCD6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CDDE1-7679-E79C-A27E-B26EF14923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058F76-A91F-494F-A214-206E7F72DA13}"/>
              </a:ext>
            </a:extLst>
          </p:cNvPr>
          <p:cNvSpPr>
            <a:spLocks noGrp="1"/>
          </p:cNvSpPr>
          <p:nvPr>
            <p:ph type="sldNum" sz="quarter" idx="5"/>
          </p:nvPr>
        </p:nvSpPr>
        <p:spPr/>
        <p:txBody>
          <a:bodyPr/>
          <a:lstStyle/>
          <a:p>
            <a:fld id="{A89C7E07-3C67-C64C-8DA0-0404F6303970}" type="slidenum">
              <a:rPr lang="en-US" smtClean="0"/>
              <a:t>25</a:t>
            </a:fld>
            <a:endParaRPr lang="en-US" dirty="0"/>
          </a:p>
        </p:txBody>
      </p:sp>
    </p:spTree>
    <p:extLst>
      <p:ext uri="{BB962C8B-B14F-4D97-AF65-F5344CB8AC3E}">
        <p14:creationId xmlns:p14="http://schemas.microsoft.com/office/powerpoint/2010/main" val="39238090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054B-921A-35B2-7EB1-2F1DBFD5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D6AC0-98C7-150C-8511-DAF34FC6AE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71A52-1B04-BA96-19FC-D0C4F6AD80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3CF19F-F93B-54C9-65D1-0CA3C33BC560}"/>
              </a:ext>
            </a:extLst>
          </p:cNvPr>
          <p:cNvSpPr>
            <a:spLocks noGrp="1"/>
          </p:cNvSpPr>
          <p:nvPr>
            <p:ph type="sldNum" sz="quarter" idx="5"/>
          </p:nvPr>
        </p:nvSpPr>
        <p:spPr/>
        <p:txBody>
          <a:bodyPr/>
          <a:lstStyle/>
          <a:p>
            <a:fld id="{A89C7E07-3C67-C64C-8DA0-0404F6303970}" type="slidenum">
              <a:rPr lang="en-US" smtClean="0"/>
              <a:t>26</a:t>
            </a:fld>
            <a:endParaRPr lang="en-US" dirty="0"/>
          </a:p>
        </p:txBody>
      </p:sp>
    </p:spTree>
    <p:extLst>
      <p:ext uri="{BB962C8B-B14F-4D97-AF65-F5344CB8AC3E}">
        <p14:creationId xmlns:p14="http://schemas.microsoft.com/office/powerpoint/2010/main" val="7911903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670C6-7AAF-6B12-C2EF-4B0438401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B750D-64E2-E18C-A07F-10C1A419AB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55918-917B-76AB-AFEF-75012EFEDC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4D088F-FCAF-9E75-982B-B971DE5419DF}"/>
              </a:ext>
            </a:extLst>
          </p:cNvPr>
          <p:cNvSpPr>
            <a:spLocks noGrp="1"/>
          </p:cNvSpPr>
          <p:nvPr>
            <p:ph type="sldNum" sz="quarter" idx="5"/>
          </p:nvPr>
        </p:nvSpPr>
        <p:spPr/>
        <p:txBody>
          <a:bodyPr/>
          <a:lstStyle/>
          <a:p>
            <a:fld id="{A89C7E07-3C67-C64C-8DA0-0404F6303970}" type="slidenum">
              <a:rPr lang="en-US" smtClean="0"/>
              <a:t>27</a:t>
            </a:fld>
            <a:endParaRPr lang="en-US" dirty="0"/>
          </a:p>
        </p:txBody>
      </p:sp>
    </p:spTree>
    <p:extLst>
      <p:ext uri="{BB962C8B-B14F-4D97-AF65-F5344CB8AC3E}">
        <p14:creationId xmlns:p14="http://schemas.microsoft.com/office/powerpoint/2010/main" val="21466979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2ADE2-E1B9-AED4-55D3-F964017BE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494A6-638B-B362-505B-3FAEF34BC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D52D5F-ED53-59AC-DBBB-549A28619F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350871-8399-1132-544D-767E249C3FA0}"/>
              </a:ext>
            </a:extLst>
          </p:cNvPr>
          <p:cNvSpPr>
            <a:spLocks noGrp="1"/>
          </p:cNvSpPr>
          <p:nvPr>
            <p:ph type="sldNum" sz="quarter" idx="5"/>
          </p:nvPr>
        </p:nvSpPr>
        <p:spPr/>
        <p:txBody>
          <a:bodyPr/>
          <a:lstStyle/>
          <a:p>
            <a:fld id="{A89C7E07-3C67-C64C-8DA0-0404F6303970}" type="slidenum">
              <a:rPr lang="en-US" smtClean="0"/>
              <a:t>28</a:t>
            </a:fld>
            <a:endParaRPr lang="en-US" dirty="0"/>
          </a:p>
        </p:txBody>
      </p:sp>
    </p:spTree>
    <p:extLst>
      <p:ext uri="{BB962C8B-B14F-4D97-AF65-F5344CB8AC3E}">
        <p14:creationId xmlns:p14="http://schemas.microsoft.com/office/powerpoint/2010/main" val="1478970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791D6-BA78-EA32-F2FE-8CEC4F3B6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30653-674B-797D-9A57-9A25F34246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4CED16-7358-21F0-7577-F0DC82AA1A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D1E3F7-0F49-7EE3-00B1-DABB78FB36A2}"/>
              </a:ext>
            </a:extLst>
          </p:cNvPr>
          <p:cNvSpPr>
            <a:spLocks noGrp="1"/>
          </p:cNvSpPr>
          <p:nvPr>
            <p:ph type="sldNum" sz="quarter" idx="5"/>
          </p:nvPr>
        </p:nvSpPr>
        <p:spPr/>
        <p:txBody>
          <a:bodyPr/>
          <a:lstStyle/>
          <a:p>
            <a:fld id="{A89C7E07-3C67-C64C-8DA0-0404F6303970}" type="slidenum">
              <a:rPr lang="en-US" smtClean="0"/>
              <a:t>29</a:t>
            </a:fld>
            <a:endParaRPr lang="en-US" dirty="0"/>
          </a:p>
        </p:txBody>
      </p:sp>
    </p:spTree>
    <p:extLst>
      <p:ext uri="{BB962C8B-B14F-4D97-AF65-F5344CB8AC3E}">
        <p14:creationId xmlns:p14="http://schemas.microsoft.com/office/powerpoint/2010/main" val="19292892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23C18-0668-B018-F935-8F1499C24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15D872-DC65-D1C9-CBE8-79ED9D6DA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B31D6-03EF-17AC-0C0B-3DD9A75AD0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23D0F3-0A4C-C378-721C-7B11FC0EAAFE}"/>
              </a:ext>
            </a:extLst>
          </p:cNvPr>
          <p:cNvSpPr>
            <a:spLocks noGrp="1"/>
          </p:cNvSpPr>
          <p:nvPr>
            <p:ph type="sldNum" sz="quarter" idx="5"/>
          </p:nvPr>
        </p:nvSpPr>
        <p:spPr/>
        <p:txBody>
          <a:bodyPr/>
          <a:lstStyle/>
          <a:p>
            <a:fld id="{A89C7E07-3C67-C64C-8DA0-0404F6303970}" type="slidenum">
              <a:rPr lang="en-US" smtClean="0"/>
              <a:t>30</a:t>
            </a:fld>
            <a:endParaRPr lang="en-US" dirty="0"/>
          </a:p>
        </p:txBody>
      </p:sp>
    </p:spTree>
    <p:extLst>
      <p:ext uri="{BB962C8B-B14F-4D97-AF65-F5344CB8AC3E}">
        <p14:creationId xmlns:p14="http://schemas.microsoft.com/office/powerpoint/2010/main" val="23878380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485A2-5FB4-0555-B431-854D62DF0C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5B40D-1931-C2B4-1E93-9A1D0CAE11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FE2976-619B-055E-8E7C-7141FB7A20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19EEA9-C6E1-49F4-81FD-913095049E15}"/>
              </a:ext>
            </a:extLst>
          </p:cNvPr>
          <p:cNvSpPr>
            <a:spLocks noGrp="1"/>
          </p:cNvSpPr>
          <p:nvPr>
            <p:ph type="sldNum" sz="quarter" idx="5"/>
          </p:nvPr>
        </p:nvSpPr>
        <p:spPr/>
        <p:txBody>
          <a:bodyPr/>
          <a:lstStyle/>
          <a:p>
            <a:fld id="{A89C7E07-3C67-C64C-8DA0-0404F6303970}" type="slidenum">
              <a:rPr lang="en-US" smtClean="0"/>
              <a:t>31</a:t>
            </a:fld>
            <a:endParaRPr lang="en-US" dirty="0"/>
          </a:p>
        </p:txBody>
      </p:sp>
    </p:spTree>
    <p:extLst>
      <p:ext uri="{BB962C8B-B14F-4D97-AF65-F5344CB8AC3E}">
        <p14:creationId xmlns:p14="http://schemas.microsoft.com/office/powerpoint/2010/main" val="8334491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D970D-43D2-B693-84F2-DDD6DA4A48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11B92-2C7B-64F4-6ADA-115EB59E4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C162F-B849-4DE0-46A4-48B4C00D57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E728A-C780-E871-2C93-2819C330C8B9}"/>
              </a:ext>
            </a:extLst>
          </p:cNvPr>
          <p:cNvSpPr>
            <a:spLocks noGrp="1"/>
          </p:cNvSpPr>
          <p:nvPr>
            <p:ph type="sldNum" sz="quarter" idx="5"/>
          </p:nvPr>
        </p:nvSpPr>
        <p:spPr/>
        <p:txBody>
          <a:bodyPr/>
          <a:lstStyle/>
          <a:p>
            <a:fld id="{A89C7E07-3C67-C64C-8DA0-0404F6303970}" type="slidenum">
              <a:rPr lang="en-US" smtClean="0"/>
              <a:t>36</a:t>
            </a:fld>
            <a:endParaRPr lang="en-US" dirty="0"/>
          </a:p>
        </p:txBody>
      </p:sp>
    </p:spTree>
    <p:extLst>
      <p:ext uri="{BB962C8B-B14F-4D97-AF65-F5344CB8AC3E}">
        <p14:creationId xmlns:p14="http://schemas.microsoft.com/office/powerpoint/2010/main" val="955842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hyperlink" Target="http://www.nytimes.com/2008/07/01/washington/01electrocute.html?_r=0"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7.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4.png"/><Relationship Id="rId7" Type="http://schemas.openxmlformats.org/officeDocument/2006/relationships/diagramQuickStyle" Target="../diagrams/quickStyle1.xm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3.png"/><Relationship Id="rId9" Type="http://schemas.microsoft.com/office/2007/relationships/diagramDrawing" Target="../diagrams/drawing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xml"/><Relationship Id="rId5" Type="http://schemas.openxmlformats.org/officeDocument/2006/relationships/image" Target="../media/image7.jp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7.jp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5.xml"/><Relationship Id="rId5" Type="http://schemas.openxmlformats.org/officeDocument/2006/relationships/image" Target="../media/image7.jp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7.jp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615266" y="450869"/>
            <a:ext cx="7721600" cy="3291840"/>
          </a:xfrm>
        </p:spPr>
        <p:txBody>
          <a:bodyPr/>
          <a:lstStyle/>
          <a:p>
            <a:pPr algn="ctr"/>
            <a:r>
              <a:rPr lang="en-US" sz="7200" dirty="0"/>
              <a:t>The Task Force SAFE / UFC Program</a:t>
            </a:r>
            <a:br>
              <a:rPr lang="en-US" sz="7200" dirty="0"/>
            </a:br>
            <a:r>
              <a:rPr lang="en-US" sz="7200" dirty="0"/>
              <a:t>Mission Brief</a:t>
            </a:r>
          </a:p>
        </p:txBody>
      </p:sp>
      <p:pic>
        <p:nvPicPr>
          <p:cNvPr id="3" name="Picture 2">
            <a:extLst>
              <a:ext uri="{FF2B5EF4-FFF2-40B4-BE49-F238E27FC236}">
                <a16:creationId xmlns:a16="http://schemas.microsoft.com/office/drawing/2014/main" id="{491F3201-11EE-0742-C17B-1625CDFB0150}"/>
              </a:ext>
            </a:extLst>
          </p:cNvPr>
          <p:cNvPicPr>
            <a:picLocks noChangeAspect="1"/>
          </p:cNvPicPr>
          <p:nvPr/>
        </p:nvPicPr>
        <p:blipFill>
          <a:blip r:embed="rId3"/>
          <a:stretch>
            <a:fillRect/>
          </a:stretch>
        </p:blipFill>
        <p:spPr>
          <a:xfrm>
            <a:off x="10279676" y="4610388"/>
            <a:ext cx="1635162" cy="2100553"/>
          </a:xfrm>
          <a:prstGeom prst="rect">
            <a:avLst/>
          </a:prstGeom>
        </p:spPr>
      </p:pic>
      <p:pic>
        <p:nvPicPr>
          <p:cNvPr id="4" name="Picture 3">
            <a:extLst>
              <a:ext uri="{FF2B5EF4-FFF2-40B4-BE49-F238E27FC236}">
                <a16:creationId xmlns:a16="http://schemas.microsoft.com/office/drawing/2014/main" id="{EA38F7A8-BEC1-E195-6A3E-F18A05771733}"/>
              </a:ext>
            </a:extLst>
          </p:cNvPr>
          <p:cNvPicPr>
            <a:picLocks noChangeAspect="1"/>
          </p:cNvPicPr>
          <p:nvPr/>
        </p:nvPicPr>
        <p:blipFill>
          <a:blip r:embed="rId4"/>
          <a:stretch>
            <a:fillRect/>
          </a:stretch>
        </p:blipFill>
        <p:spPr>
          <a:xfrm>
            <a:off x="158629" y="118534"/>
            <a:ext cx="1704344" cy="1342004"/>
          </a:xfrm>
          <a:prstGeom prst="rect">
            <a:avLst/>
          </a:prstGeom>
        </p:spPr>
      </p:pic>
      <p:sp>
        <p:nvSpPr>
          <p:cNvPr id="5" name="TextBox 4">
            <a:extLst>
              <a:ext uri="{FF2B5EF4-FFF2-40B4-BE49-F238E27FC236}">
                <a16:creationId xmlns:a16="http://schemas.microsoft.com/office/drawing/2014/main" id="{79ACF643-8F48-4C32-895F-C4D3BC01DE20}"/>
              </a:ext>
            </a:extLst>
          </p:cNvPr>
          <p:cNvSpPr txBox="1"/>
          <p:nvPr/>
        </p:nvSpPr>
        <p:spPr>
          <a:xfrm>
            <a:off x="6096000" y="3914938"/>
            <a:ext cx="2692400" cy="523220"/>
          </a:xfrm>
          <a:prstGeom prst="rect">
            <a:avLst/>
          </a:prstGeom>
          <a:noFill/>
        </p:spPr>
        <p:txBody>
          <a:bodyPr wrap="square" rtlCol="0">
            <a:spAutoFit/>
          </a:bodyPr>
          <a:lstStyle/>
          <a:p>
            <a:r>
              <a:rPr lang="en-US" sz="2800" b="1" dirty="0">
                <a:solidFill>
                  <a:schemeClr val="bg1"/>
                </a:solidFill>
              </a:rPr>
              <a:t>November 2025</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Contents</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1866774"/>
            <a:ext cx="9190355" cy="4387190"/>
          </a:xfrm>
        </p:spPr>
        <p:txBody>
          <a:bodyPr tIns="457200">
            <a:noAutofit/>
          </a:bodyPr>
          <a:lstStyle/>
          <a:p>
            <a:pPr marL="0" indent="0">
              <a:buNone/>
            </a:pPr>
            <a:r>
              <a:rPr lang="en-US" sz="2800" dirty="0">
                <a:solidFill>
                  <a:schemeClr val="bg1"/>
                </a:solidFill>
                <a:latin typeface="Aptos Display" panose="020B0004020202020204" pitchFamily="34" charset="0"/>
              </a:rPr>
              <a:t>Introduction</a:t>
            </a:r>
          </a:p>
          <a:p>
            <a:pPr lvl="1">
              <a:lnSpc>
                <a:spcPct val="100000"/>
              </a:lnSpc>
            </a:pPr>
            <a:r>
              <a:rPr lang="en-US" sz="2400" dirty="0">
                <a:latin typeface="Aptos Display" panose="020B0004020202020204" pitchFamily="34" charset="0"/>
              </a:rPr>
              <a:t>Program Overviews</a:t>
            </a:r>
          </a:p>
          <a:p>
            <a:pPr lvl="2">
              <a:lnSpc>
                <a:spcPct val="100000"/>
              </a:lnSpc>
            </a:pPr>
            <a:r>
              <a:rPr lang="en-US" sz="2400" dirty="0">
                <a:latin typeface="Aptos Display" panose="020B0004020202020204" pitchFamily="34" charset="0"/>
              </a:rPr>
              <a:t>SAFE</a:t>
            </a:r>
          </a:p>
          <a:p>
            <a:pPr lvl="2">
              <a:lnSpc>
                <a:spcPct val="100000"/>
              </a:lnSpc>
            </a:pPr>
            <a:r>
              <a:rPr lang="en-US" sz="2400" dirty="0">
                <a:latin typeface="Aptos Display" panose="020B0004020202020204" pitchFamily="34" charset="0"/>
              </a:rPr>
              <a:t>UFC</a:t>
            </a:r>
          </a:p>
          <a:p>
            <a:pPr marL="0" indent="0">
              <a:buNone/>
            </a:pPr>
            <a:r>
              <a:rPr lang="en-US" sz="2800" dirty="0">
                <a:solidFill>
                  <a:schemeClr val="bg1"/>
                </a:solidFill>
                <a:latin typeface="Aptos Display" panose="020B0004020202020204" pitchFamily="34" charset="0"/>
              </a:rPr>
              <a:t>Program Operations</a:t>
            </a:r>
          </a:p>
          <a:p>
            <a:pPr lvl="1"/>
            <a:r>
              <a:rPr lang="en-US" sz="2400" dirty="0">
                <a:latin typeface="Aptos Display" panose="020B0004020202020204" pitchFamily="34" charset="0"/>
              </a:rPr>
              <a:t>Management</a:t>
            </a:r>
          </a:p>
          <a:p>
            <a:pPr lvl="1"/>
            <a:r>
              <a:rPr lang="en-US" sz="2400" dirty="0">
                <a:latin typeface="Aptos Display" panose="020B0004020202020204" pitchFamily="34" charset="0"/>
              </a:rPr>
              <a:t>Electricians</a:t>
            </a:r>
          </a:p>
          <a:p>
            <a:pPr lvl="1"/>
            <a:r>
              <a:rPr lang="en-US" sz="2400" dirty="0">
                <a:latin typeface="Aptos Display" panose="020B0004020202020204" pitchFamily="34" charset="0"/>
              </a:rPr>
              <a:t>UFC Team</a:t>
            </a:r>
          </a:p>
          <a:p>
            <a:pPr lvl="1"/>
            <a:r>
              <a:rPr lang="en-US" sz="2400" dirty="0">
                <a:latin typeface="Aptos Display" panose="020B0004020202020204" pitchFamily="34" charset="0"/>
              </a:rPr>
              <a:t>Property-Materials-Logistics Team</a:t>
            </a:r>
          </a:p>
          <a:p>
            <a:pPr lvl="1"/>
            <a:endParaRPr lang="en-US" sz="4400" dirty="0"/>
          </a:p>
          <a:p>
            <a:pPr lvl="1"/>
            <a:endParaRPr lang="en-US" sz="4400" dirty="0"/>
          </a:p>
          <a:p>
            <a:pPr lvl="1"/>
            <a:endParaRPr lang="en-US" sz="4400" dirty="0"/>
          </a:p>
          <a:p>
            <a:pPr marL="402336" lvl="1" indent="0">
              <a:buNone/>
            </a:pPr>
            <a:endParaRPr lang="en-US" sz="4400" dirty="0"/>
          </a:p>
        </p:txBody>
      </p:sp>
      <p:pic>
        <p:nvPicPr>
          <p:cNvPr id="4" name="Picture 3">
            <a:extLst>
              <a:ext uri="{FF2B5EF4-FFF2-40B4-BE49-F238E27FC236}">
                <a16:creationId xmlns:a16="http://schemas.microsoft.com/office/drawing/2014/main" id="{B041F661-667B-CD94-6446-47D6C6858042}"/>
              </a:ext>
            </a:extLst>
          </p:cNvPr>
          <p:cNvPicPr>
            <a:picLocks noChangeAspect="1"/>
          </p:cNvPicPr>
          <p:nvPr/>
        </p:nvPicPr>
        <p:blipFill>
          <a:blip r:embed="rId3"/>
          <a:stretch>
            <a:fillRect/>
          </a:stretch>
        </p:blipFill>
        <p:spPr>
          <a:xfrm>
            <a:off x="10387738" y="4598843"/>
            <a:ext cx="1633870" cy="2097206"/>
          </a:xfrm>
          <a:prstGeom prst="rect">
            <a:avLst/>
          </a:prstGeom>
        </p:spPr>
      </p:pic>
      <p:pic>
        <p:nvPicPr>
          <p:cNvPr id="5" name="Picture 4">
            <a:extLst>
              <a:ext uri="{FF2B5EF4-FFF2-40B4-BE49-F238E27FC236}">
                <a16:creationId xmlns:a16="http://schemas.microsoft.com/office/drawing/2014/main" id="{59669FE3-4693-09A2-D867-36C096861953}"/>
              </a:ext>
            </a:extLst>
          </p:cNvPr>
          <p:cNvPicPr>
            <a:picLocks noChangeAspect="1"/>
          </p:cNvPicPr>
          <p:nvPr/>
        </p:nvPicPr>
        <p:blipFill>
          <a:blip r:embed="rId4"/>
          <a:stretch>
            <a:fillRect/>
          </a:stretch>
        </p:blipFill>
        <p:spPr>
          <a:xfrm>
            <a:off x="593725" y="105877"/>
            <a:ext cx="1434399" cy="1136209"/>
          </a:xfrm>
          <a:prstGeom prst="rect">
            <a:avLst/>
          </a:prstGeom>
        </p:spPr>
      </p:pic>
      <p:pic>
        <p:nvPicPr>
          <p:cNvPr id="6" name="Picture 5">
            <a:extLst>
              <a:ext uri="{FF2B5EF4-FFF2-40B4-BE49-F238E27FC236}">
                <a16:creationId xmlns:a16="http://schemas.microsoft.com/office/drawing/2014/main" id="{ECD7F8C4-0441-1EB6-BA6F-BB1D56288FF2}"/>
              </a:ext>
            </a:extLst>
          </p:cNvPr>
          <p:cNvPicPr>
            <a:picLocks noChangeAspect="1"/>
          </p:cNvPicPr>
          <p:nvPr/>
        </p:nvPicPr>
        <p:blipFill>
          <a:blip r:embed="rId5"/>
          <a:stretch>
            <a:fillRect/>
          </a:stretch>
        </p:blipFill>
        <p:spPr>
          <a:xfrm>
            <a:off x="7697837" y="280169"/>
            <a:ext cx="3899803" cy="1923833"/>
          </a:xfrm>
          <a:prstGeom prst="rect">
            <a:avLst/>
          </a:prstGeom>
        </p:spPr>
      </p:pic>
      <p:sp>
        <p:nvSpPr>
          <p:cNvPr id="7" name="TextBox 6">
            <a:extLst>
              <a:ext uri="{FF2B5EF4-FFF2-40B4-BE49-F238E27FC236}">
                <a16:creationId xmlns:a16="http://schemas.microsoft.com/office/drawing/2014/main" id="{1542A7B8-E8F5-9549-6E94-E0B61A2C9036}"/>
              </a:ext>
            </a:extLst>
          </p:cNvPr>
          <p:cNvSpPr txBox="1"/>
          <p:nvPr/>
        </p:nvSpPr>
        <p:spPr>
          <a:xfrm>
            <a:off x="8217699" y="1774612"/>
            <a:ext cx="2860078" cy="646331"/>
          </a:xfrm>
          <a:prstGeom prst="rect">
            <a:avLst/>
          </a:prstGeom>
          <a:noFill/>
        </p:spPr>
        <p:txBody>
          <a:bodyPr wrap="none" rtlCol="0">
            <a:spAutoFit/>
          </a:bodyPr>
          <a:lstStyle/>
          <a:p>
            <a:r>
              <a:rPr lang="en-US" sz="3600" b="1" dirty="0">
                <a:solidFill>
                  <a:schemeClr val="bg1"/>
                </a:solidFill>
                <a:latin typeface="+mj-lt"/>
              </a:rPr>
              <a:t>Mission Brief</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81543-0CEE-53F2-5556-24D97C80E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C8C1-7BAE-FBB4-3C43-81127EC2D9AE}"/>
              </a:ext>
            </a:extLst>
          </p:cNvPr>
          <p:cNvSpPr>
            <a:spLocks noGrp="1"/>
          </p:cNvSpPr>
          <p:nvPr>
            <p:ph type="title"/>
          </p:nvPr>
        </p:nvSpPr>
        <p:spPr>
          <a:xfrm>
            <a:off x="594360" y="189572"/>
            <a:ext cx="6787747" cy="1593507"/>
          </a:xfrm>
        </p:spPr>
        <p:txBody>
          <a:bodyPr/>
          <a:lstStyle/>
          <a:p>
            <a:r>
              <a:rPr lang="en-US" dirty="0"/>
              <a:t>Contents</a:t>
            </a:r>
          </a:p>
        </p:txBody>
      </p:sp>
      <p:sp>
        <p:nvSpPr>
          <p:cNvPr id="3" name="Text Placeholder 2">
            <a:extLst>
              <a:ext uri="{FF2B5EF4-FFF2-40B4-BE49-F238E27FC236}">
                <a16:creationId xmlns:a16="http://schemas.microsoft.com/office/drawing/2014/main" id="{1EE4C464-7516-78B0-8279-1962071A6973}"/>
              </a:ext>
            </a:extLst>
          </p:cNvPr>
          <p:cNvSpPr>
            <a:spLocks noGrp="1"/>
          </p:cNvSpPr>
          <p:nvPr>
            <p:ph sz="quarter" idx="13"/>
          </p:nvPr>
        </p:nvSpPr>
        <p:spPr>
          <a:xfrm>
            <a:off x="593725" y="1866774"/>
            <a:ext cx="9190355" cy="4387190"/>
          </a:xfrm>
        </p:spPr>
        <p:txBody>
          <a:bodyPr tIns="457200">
            <a:noAutofit/>
          </a:bodyPr>
          <a:lstStyle/>
          <a:p>
            <a:pPr marL="0" indent="0">
              <a:buNone/>
            </a:pPr>
            <a:r>
              <a:rPr lang="en-US" sz="2800" dirty="0">
                <a:solidFill>
                  <a:schemeClr val="bg1"/>
                </a:solidFill>
                <a:latin typeface="Aptos Display" panose="020B0004020202020204" pitchFamily="34" charset="0"/>
              </a:rPr>
              <a:t>QA/QC Process</a:t>
            </a:r>
          </a:p>
          <a:p>
            <a:pPr lvl="1">
              <a:lnSpc>
                <a:spcPct val="100000"/>
              </a:lnSpc>
            </a:pPr>
            <a:r>
              <a:rPr lang="en-US" sz="2400" dirty="0">
                <a:latin typeface="Aptos Display" panose="020B0004020202020204" pitchFamily="34" charset="0"/>
              </a:rPr>
              <a:t>Definitions</a:t>
            </a:r>
          </a:p>
          <a:p>
            <a:pPr lvl="1">
              <a:lnSpc>
                <a:spcPct val="100000"/>
              </a:lnSpc>
            </a:pPr>
            <a:r>
              <a:rPr lang="en-US" sz="2400" dirty="0">
                <a:latin typeface="Aptos Display" panose="020B0004020202020204" pitchFamily="34" charset="0"/>
              </a:rPr>
              <a:t>Workflow</a:t>
            </a:r>
          </a:p>
          <a:p>
            <a:pPr lvl="1">
              <a:lnSpc>
                <a:spcPct val="100000"/>
              </a:lnSpc>
            </a:pPr>
            <a:r>
              <a:rPr lang="en-US" sz="2400" dirty="0">
                <a:latin typeface="Aptos Display" panose="020B0004020202020204" pitchFamily="34" charset="0"/>
              </a:rPr>
              <a:t>Submittal and Review</a:t>
            </a:r>
          </a:p>
          <a:p>
            <a:pPr lvl="1">
              <a:lnSpc>
                <a:spcPct val="100000"/>
              </a:lnSpc>
            </a:pPr>
            <a:r>
              <a:rPr lang="en-US" sz="2400" dirty="0">
                <a:latin typeface="Aptos Display" panose="020B0004020202020204" pitchFamily="34" charset="0"/>
              </a:rPr>
              <a:t>Flow of Re-Inspections</a:t>
            </a:r>
          </a:p>
          <a:p>
            <a:pPr marL="0" indent="0">
              <a:buNone/>
            </a:pPr>
            <a:r>
              <a:rPr lang="en-US" sz="2800" dirty="0">
                <a:solidFill>
                  <a:schemeClr val="bg1"/>
                </a:solidFill>
                <a:latin typeface="Aptos Display" panose="020B0004020202020204" pitchFamily="34" charset="0"/>
              </a:rPr>
              <a:t>Program Summary</a:t>
            </a:r>
          </a:p>
          <a:p>
            <a:pPr lvl="1"/>
            <a:endParaRPr lang="en-US" sz="4400" dirty="0"/>
          </a:p>
          <a:p>
            <a:pPr lvl="1"/>
            <a:endParaRPr lang="en-US" sz="4400" dirty="0"/>
          </a:p>
          <a:p>
            <a:pPr lvl="1"/>
            <a:endParaRPr lang="en-US" sz="4400" dirty="0"/>
          </a:p>
          <a:p>
            <a:pPr marL="402336" lvl="1" indent="0">
              <a:buNone/>
            </a:pPr>
            <a:endParaRPr lang="en-US" sz="4400" dirty="0"/>
          </a:p>
        </p:txBody>
      </p:sp>
      <p:pic>
        <p:nvPicPr>
          <p:cNvPr id="4" name="Picture 3">
            <a:extLst>
              <a:ext uri="{FF2B5EF4-FFF2-40B4-BE49-F238E27FC236}">
                <a16:creationId xmlns:a16="http://schemas.microsoft.com/office/drawing/2014/main" id="{26677DA9-DEED-898E-967C-66C987D6C406}"/>
              </a:ext>
            </a:extLst>
          </p:cNvPr>
          <p:cNvPicPr>
            <a:picLocks noChangeAspect="1"/>
          </p:cNvPicPr>
          <p:nvPr/>
        </p:nvPicPr>
        <p:blipFill>
          <a:blip r:embed="rId3"/>
          <a:stretch>
            <a:fillRect/>
          </a:stretch>
        </p:blipFill>
        <p:spPr>
          <a:xfrm>
            <a:off x="10387738" y="4598843"/>
            <a:ext cx="1633870" cy="2097206"/>
          </a:xfrm>
          <a:prstGeom prst="rect">
            <a:avLst/>
          </a:prstGeom>
        </p:spPr>
      </p:pic>
      <p:pic>
        <p:nvPicPr>
          <p:cNvPr id="5" name="Picture 4">
            <a:extLst>
              <a:ext uri="{FF2B5EF4-FFF2-40B4-BE49-F238E27FC236}">
                <a16:creationId xmlns:a16="http://schemas.microsoft.com/office/drawing/2014/main" id="{ABC9124F-A59F-05BF-08EE-9CE53411BBA5}"/>
              </a:ext>
            </a:extLst>
          </p:cNvPr>
          <p:cNvPicPr>
            <a:picLocks noChangeAspect="1"/>
          </p:cNvPicPr>
          <p:nvPr/>
        </p:nvPicPr>
        <p:blipFill>
          <a:blip r:embed="rId4"/>
          <a:stretch>
            <a:fillRect/>
          </a:stretch>
        </p:blipFill>
        <p:spPr>
          <a:xfrm>
            <a:off x="593725" y="105877"/>
            <a:ext cx="1434399" cy="1136209"/>
          </a:xfrm>
          <a:prstGeom prst="rect">
            <a:avLst/>
          </a:prstGeom>
        </p:spPr>
      </p:pic>
      <p:pic>
        <p:nvPicPr>
          <p:cNvPr id="6" name="Picture 5">
            <a:extLst>
              <a:ext uri="{FF2B5EF4-FFF2-40B4-BE49-F238E27FC236}">
                <a16:creationId xmlns:a16="http://schemas.microsoft.com/office/drawing/2014/main" id="{4DE4E908-C790-F78E-5548-8E3DBEFC8727}"/>
              </a:ext>
            </a:extLst>
          </p:cNvPr>
          <p:cNvPicPr>
            <a:picLocks noChangeAspect="1"/>
          </p:cNvPicPr>
          <p:nvPr/>
        </p:nvPicPr>
        <p:blipFill>
          <a:blip r:embed="rId5"/>
          <a:stretch>
            <a:fillRect/>
          </a:stretch>
        </p:blipFill>
        <p:spPr>
          <a:xfrm>
            <a:off x="7695862" y="189572"/>
            <a:ext cx="3901778" cy="1926503"/>
          </a:xfrm>
          <a:prstGeom prst="rect">
            <a:avLst/>
          </a:prstGeom>
        </p:spPr>
      </p:pic>
      <p:sp>
        <p:nvSpPr>
          <p:cNvPr id="7" name="TextBox 6">
            <a:extLst>
              <a:ext uri="{FF2B5EF4-FFF2-40B4-BE49-F238E27FC236}">
                <a16:creationId xmlns:a16="http://schemas.microsoft.com/office/drawing/2014/main" id="{3C05CBCD-90AE-0501-8B81-A925C42EE40C}"/>
              </a:ext>
            </a:extLst>
          </p:cNvPr>
          <p:cNvSpPr txBox="1"/>
          <p:nvPr/>
        </p:nvSpPr>
        <p:spPr>
          <a:xfrm>
            <a:off x="8216712" y="1697821"/>
            <a:ext cx="2860078" cy="646331"/>
          </a:xfrm>
          <a:prstGeom prst="rect">
            <a:avLst/>
          </a:prstGeom>
          <a:noFill/>
        </p:spPr>
        <p:txBody>
          <a:bodyPr wrap="none" rtlCol="0">
            <a:spAutoFit/>
          </a:bodyPr>
          <a:lstStyle/>
          <a:p>
            <a:r>
              <a:rPr lang="en-US" sz="3600" b="1" dirty="0">
                <a:solidFill>
                  <a:schemeClr val="bg1"/>
                </a:solidFill>
                <a:latin typeface="+mj-lt"/>
              </a:rPr>
              <a:t>Mission Brief</a:t>
            </a:r>
          </a:p>
        </p:txBody>
      </p:sp>
    </p:spTree>
    <p:extLst>
      <p:ext uri="{BB962C8B-B14F-4D97-AF65-F5344CB8AC3E}">
        <p14:creationId xmlns:p14="http://schemas.microsoft.com/office/powerpoint/2010/main" val="686676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Program Overview</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1609344" y="2141089"/>
            <a:ext cx="10076688" cy="4531074"/>
          </a:xfrm>
        </p:spPr>
        <p:txBody>
          <a:bodyPr>
            <a:normAutofit/>
          </a:bodyPr>
          <a:lstStyle/>
          <a:p>
            <a:pPr marL="0" indent="0">
              <a:buNone/>
            </a:pPr>
            <a:r>
              <a:rPr lang="en-US" sz="2800" b="1" dirty="0"/>
              <a:t>The purpose of the Task Force SAFE / UFC program is to provide electrical and facility-related technical services including, but not limited to inspections, assessments, repairs, testing, reports, and training for facilities, and operations-related projects within the U.S. Army Central Command. </a:t>
            </a:r>
          </a:p>
          <a:p>
            <a:pPr marL="0" indent="0">
              <a:buNone/>
            </a:pPr>
            <a:r>
              <a:rPr lang="en-US" sz="2800" b="1" dirty="0"/>
              <a:t>The program has two components:</a:t>
            </a:r>
          </a:p>
          <a:p>
            <a:pPr lvl="1"/>
            <a:r>
              <a:rPr lang="en-US" sz="2800" dirty="0"/>
              <a:t>Task Force SAFE (TFS)</a:t>
            </a:r>
          </a:p>
          <a:p>
            <a:pPr lvl="1"/>
            <a:r>
              <a:rPr lang="en-US" sz="2800" dirty="0"/>
              <a:t>Task Force UFC (UFC)</a:t>
            </a:r>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8E575980-2054-460F-7E73-9236239D7277}"/>
              </a:ext>
            </a:extLst>
          </p:cNvPr>
          <p:cNvPicPr>
            <a:picLocks noChangeAspect="1"/>
          </p:cNvPicPr>
          <p:nvPr/>
        </p:nvPicPr>
        <p:blipFill>
          <a:blip r:embed="rId3"/>
          <a:stretch>
            <a:fillRect/>
          </a:stretch>
        </p:blipFill>
        <p:spPr>
          <a:xfrm>
            <a:off x="484177" y="53694"/>
            <a:ext cx="1344623" cy="1065096"/>
          </a:xfrm>
          <a:prstGeom prst="rect">
            <a:avLst/>
          </a:prstGeom>
        </p:spPr>
      </p:pic>
      <p:pic>
        <p:nvPicPr>
          <p:cNvPr id="4" name="Picture 3">
            <a:extLst>
              <a:ext uri="{FF2B5EF4-FFF2-40B4-BE49-F238E27FC236}">
                <a16:creationId xmlns:a16="http://schemas.microsoft.com/office/drawing/2014/main" id="{45EB6FEB-FD09-62F9-5F05-D73ED4EAB3F1}"/>
              </a:ext>
            </a:extLst>
          </p:cNvPr>
          <p:cNvPicPr>
            <a:picLocks noChangeAspect="1"/>
          </p:cNvPicPr>
          <p:nvPr/>
        </p:nvPicPr>
        <p:blipFill>
          <a:blip r:embed="rId4"/>
          <a:stretch>
            <a:fillRect/>
          </a:stretch>
        </p:blipFill>
        <p:spPr>
          <a:xfrm>
            <a:off x="9834230" y="4574957"/>
            <a:ext cx="1633870" cy="2097206"/>
          </a:xfrm>
          <a:prstGeom prst="rect">
            <a:avLst/>
          </a:prstGeom>
        </p:spPr>
      </p:pic>
    </p:spTree>
    <p:extLst>
      <p:ext uri="{BB962C8B-B14F-4D97-AF65-F5344CB8AC3E}">
        <p14:creationId xmlns:p14="http://schemas.microsoft.com/office/powerpoint/2010/main" val="320031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00D30-EF64-2E47-8FF5-903ACB32093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165560-B873-4BD2-5965-176583EC87AC}"/>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B050"/>
                </a:solidFill>
              </a:rPr>
              <a:t>S.A.F.E.</a:t>
            </a:r>
            <a:r>
              <a:rPr lang="en-US" sz="3200" dirty="0"/>
              <a:t> (TFS)</a:t>
            </a:r>
            <a:br>
              <a:rPr lang="en-US" sz="3200" dirty="0"/>
            </a:br>
            <a:r>
              <a:rPr lang="en-US" sz="2800" dirty="0"/>
              <a:t>S</a:t>
            </a:r>
            <a:r>
              <a:rPr lang="en-US" sz="2800" dirty="0">
                <a:solidFill>
                  <a:srgbClr val="00B050"/>
                </a:solidFill>
              </a:rPr>
              <a:t>afety </a:t>
            </a:r>
            <a:r>
              <a:rPr lang="en-US" sz="2800" dirty="0"/>
              <a:t>A</a:t>
            </a:r>
            <a:r>
              <a:rPr lang="en-US" sz="2800" dirty="0">
                <a:solidFill>
                  <a:srgbClr val="00B050"/>
                </a:solidFill>
              </a:rPr>
              <a:t>ssessments for </a:t>
            </a:r>
            <a:r>
              <a:rPr lang="en-US" sz="2800" dirty="0"/>
              <a:t>F</a:t>
            </a:r>
            <a:r>
              <a:rPr lang="en-US" sz="2800" dirty="0">
                <a:solidFill>
                  <a:srgbClr val="00B050"/>
                </a:solidFill>
              </a:rPr>
              <a:t>ire and </a:t>
            </a:r>
            <a:r>
              <a:rPr lang="en-US" sz="2800" dirty="0"/>
              <a:t>E</a:t>
            </a:r>
            <a:r>
              <a:rPr lang="en-US" sz="2800" dirty="0">
                <a:solidFill>
                  <a:srgbClr val="00B050"/>
                </a:solidFill>
              </a:rPr>
              <a:t>lectrical</a:t>
            </a:r>
          </a:p>
        </p:txBody>
      </p:sp>
      <p:pic>
        <p:nvPicPr>
          <p:cNvPr id="4" name="Content Placeholder 3">
            <a:extLst>
              <a:ext uri="{FF2B5EF4-FFF2-40B4-BE49-F238E27FC236}">
                <a16:creationId xmlns:a16="http://schemas.microsoft.com/office/drawing/2014/main" id="{02147B1C-9527-2E6B-74D8-8F1BCD48B9C0}"/>
              </a:ext>
            </a:extLst>
          </p:cNvPr>
          <p:cNvPicPr>
            <a:picLocks noGrp="1" noChangeAspect="1"/>
          </p:cNvPicPr>
          <p:nvPr>
            <p:ph sz="quarter" idx="13"/>
          </p:nvPr>
        </p:nvPicPr>
        <p:blipFill>
          <a:blip r:embed="rId3"/>
          <a:stretch>
            <a:fillRect/>
          </a:stretch>
        </p:blipFill>
        <p:spPr>
          <a:xfrm>
            <a:off x="10399550" y="4754468"/>
            <a:ext cx="1633870" cy="2097206"/>
          </a:xfrm>
          <a:prstGeom prst="rect">
            <a:avLst/>
          </a:prstGeom>
        </p:spPr>
      </p:pic>
      <p:grpSp>
        <p:nvGrpSpPr>
          <p:cNvPr id="19" name="Group 18">
            <a:extLst>
              <a:ext uri="{FF2B5EF4-FFF2-40B4-BE49-F238E27FC236}">
                <a16:creationId xmlns:a16="http://schemas.microsoft.com/office/drawing/2014/main" id="{ACE73D71-E392-63BD-9C74-F00DCD71E0F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11EE7F12-9485-29B3-1933-3EB0EBDED99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CD72EB37-41AD-6FBD-C0A6-CF435CDC1BF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47770F8B-87BF-ECC0-2DA3-08335CF5C36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481A6701-5E14-22DE-340D-D1558F866ECC}"/>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4E154833-8505-7A1D-C2DE-119CF58CD549}"/>
              </a:ext>
            </a:extLst>
          </p:cNvPr>
          <p:cNvSpPr txBox="1">
            <a:spLocks/>
          </p:cNvSpPr>
          <p:nvPr/>
        </p:nvSpPr>
        <p:spPr>
          <a:xfrm>
            <a:off x="975514" y="2048095"/>
            <a:ext cx="9421537" cy="5486561"/>
          </a:xfrm>
          <a:prstGeom prst="rect">
            <a:avLst/>
          </a:prstGeom>
        </p:spPr>
        <p:txBody>
          <a:bodyPr vert="horz" lIns="0" tIns="228600" rIns="0" bIns="0" rtlCol="0">
            <a:normAutofit fontScale="25000" lnSpcReduction="20000"/>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800" b="1" dirty="0"/>
              <a:t>Mission</a:t>
            </a:r>
          </a:p>
          <a:p>
            <a:pPr lvl="1"/>
            <a:r>
              <a:rPr lang="en-US" sz="9600" b="1" i="0" u="none" strike="noStrike" baseline="0" dirty="0">
                <a:latin typeface="Calibri,Bold"/>
              </a:rPr>
              <a:t>Task Force SAFE is tasked to </a:t>
            </a:r>
            <a:r>
              <a:rPr lang="en-US" sz="9600" b="1" i="1" u="none" strike="noStrike" baseline="0" dirty="0">
                <a:solidFill>
                  <a:srgbClr val="00B050"/>
                </a:solidFill>
                <a:latin typeface="ArialBlack"/>
              </a:rPr>
              <a:t>INSPECT</a:t>
            </a:r>
            <a:r>
              <a:rPr lang="en-US" sz="9600" b="0" i="0" u="none" strike="noStrike" baseline="0" dirty="0">
                <a:solidFill>
                  <a:srgbClr val="00B050"/>
                </a:solidFill>
                <a:latin typeface="ArialBlack"/>
              </a:rPr>
              <a:t> </a:t>
            </a:r>
            <a:r>
              <a:rPr lang="en-US" sz="9600" b="0" i="0" u="none" strike="noStrike" baseline="0" dirty="0">
                <a:latin typeface="ArialBlack"/>
              </a:rPr>
              <a:t>and </a:t>
            </a:r>
            <a:r>
              <a:rPr lang="en-US" sz="9600" b="1" i="1" u="none" strike="noStrike" baseline="0" dirty="0">
                <a:solidFill>
                  <a:srgbClr val="00B050"/>
                </a:solidFill>
                <a:latin typeface="ArialBlack"/>
              </a:rPr>
              <a:t>REPAIR</a:t>
            </a:r>
            <a:r>
              <a:rPr lang="en-US" sz="9600" b="0" i="0" u="none" strike="noStrike" baseline="0" dirty="0">
                <a:latin typeface="ArialBlack"/>
              </a:rPr>
              <a:t> </a:t>
            </a:r>
            <a:r>
              <a:rPr lang="en-US" sz="9600" b="1" i="0" u="none" strike="noStrike" baseline="0" dirty="0">
                <a:latin typeface="Calibri,Bold"/>
              </a:rPr>
              <a:t>all DOD and Allied Force occupied facilities for Imminent Life, Health and Safety (LHS) issues on electrical systems 1000V and below throughout the ARCENT / CENTCOM AOR.</a:t>
            </a:r>
            <a:endParaRPr lang="en-US" sz="9600" b="1" dirty="0"/>
          </a:p>
          <a:p>
            <a:pPr marL="402336" lvl="1" indent="0">
              <a:buNone/>
            </a:pPr>
            <a:r>
              <a:rPr lang="en-US" sz="7200" b="1" dirty="0"/>
              <a:t>TF SAFE ensures personnel and facilities are electrically safe by doing the following:</a:t>
            </a:r>
          </a:p>
          <a:p>
            <a:pPr lvl="1"/>
            <a:r>
              <a:rPr lang="en-US" sz="7200" dirty="0">
                <a:latin typeface="Aptos" panose="020B0004020202020204" pitchFamily="34" charset="0"/>
              </a:rPr>
              <a:t>Conducting inspections and repairs (LHS) of Non-Density (i.e., no O&amp;M) buildings.</a:t>
            </a:r>
          </a:p>
          <a:p>
            <a:pPr lvl="1"/>
            <a:r>
              <a:rPr lang="en-US" sz="7200" dirty="0">
                <a:latin typeface="Aptos" panose="020B0004020202020204" pitchFamily="34" charset="0"/>
              </a:rPr>
              <a:t>Conducting inspections (and repairs when authorized) and QA for Density (i.e., O&amp;M available) buildings. Density repair on case-by-case basis in coordination with O&amp;M KO.</a:t>
            </a:r>
          </a:p>
          <a:p>
            <a:pPr lvl="1"/>
            <a:r>
              <a:rPr lang="en-US" sz="7200" dirty="0">
                <a:latin typeface="Aptos" panose="020B0004020202020204" pitchFamily="34" charset="0"/>
              </a:rPr>
              <a:t>Conducting QA for contracted work to ensure electrical compliance.</a:t>
            </a:r>
          </a:p>
          <a:p>
            <a:pPr lvl="1"/>
            <a:r>
              <a:rPr lang="en-US" sz="7200" dirty="0">
                <a:latin typeface="Aptos" panose="020B0004020202020204" pitchFamily="34" charset="0"/>
              </a:rPr>
              <a:t>Offering assistance with gaining electrical materials available in our Electrical Bill of Materials (EBOM).</a:t>
            </a:r>
          </a:p>
          <a:p>
            <a:pPr lvl="1"/>
            <a:r>
              <a:rPr lang="en-US" sz="7200" dirty="0">
                <a:latin typeface="Aptos" panose="020B0004020202020204" pitchFamily="34" charset="0"/>
              </a:rPr>
              <a:t>Offering assistance with electrical language in contracts.</a:t>
            </a:r>
          </a:p>
          <a:p>
            <a:pPr lvl="1"/>
            <a:endParaRPr lang="en-US" b="1" dirty="0"/>
          </a:p>
        </p:txBody>
      </p:sp>
    </p:spTree>
    <p:extLst>
      <p:ext uri="{BB962C8B-B14F-4D97-AF65-F5344CB8AC3E}">
        <p14:creationId xmlns:p14="http://schemas.microsoft.com/office/powerpoint/2010/main" val="1593863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854AA-AD66-6BE6-F1A1-9D6D6D2CC0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713F97-3D74-83F7-13C2-128AF541C3F8}"/>
              </a:ext>
            </a:extLst>
          </p:cNvPr>
          <p:cNvSpPr>
            <a:spLocks noGrp="1"/>
          </p:cNvSpPr>
          <p:nvPr>
            <p:ph type="title"/>
          </p:nvPr>
        </p:nvSpPr>
        <p:spPr>
          <a:xfrm>
            <a:off x="594360" y="423328"/>
            <a:ext cx="10873740" cy="1680205"/>
          </a:xfrm>
          <a:ln>
            <a:solidFill>
              <a:schemeClr val="tx1">
                <a:lumMod val="85000"/>
              </a:schemeClr>
            </a:solidFill>
          </a:ln>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B050"/>
                </a:solidFill>
              </a:rPr>
              <a:t>S.A.F.E.</a:t>
            </a:r>
            <a:r>
              <a:rPr lang="en-US" sz="3200" dirty="0"/>
              <a:t> (TFS)</a:t>
            </a:r>
            <a:br>
              <a:rPr lang="en-US" sz="3200" dirty="0"/>
            </a:br>
            <a:r>
              <a:rPr lang="en-US" sz="2800" dirty="0"/>
              <a:t>S</a:t>
            </a:r>
            <a:r>
              <a:rPr lang="en-US" sz="2800" dirty="0">
                <a:solidFill>
                  <a:srgbClr val="00B050"/>
                </a:solidFill>
              </a:rPr>
              <a:t>afety </a:t>
            </a:r>
            <a:r>
              <a:rPr lang="en-US" sz="2800" dirty="0"/>
              <a:t>A</a:t>
            </a:r>
            <a:r>
              <a:rPr lang="en-US" sz="2800" dirty="0">
                <a:solidFill>
                  <a:srgbClr val="00B050"/>
                </a:solidFill>
              </a:rPr>
              <a:t>ssessments for </a:t>
            </a:r>
            <a:r>
              <a:rPr lang="en-US" sz="2800" dirty="0"/>
              <a:t>F</a:t>
            </a:r>
            <a:r>
              <a:rPr lang="en-US" sz="2800" dirty="0">
                <a:solidFill>
                  <a:srgbClr val="00B050"/>
                </a:solidFill>
              </a:rPr>
              <a:t>ire and </a:t>
            </a:r>
            <a:r>
              <a:rPr lang="en-US" sz="2800" dirty="0"/>
              <a:t>E</a:t>
            </a:r>
            <a:r>
              <a:rPr lang="en-US" sz="2800" dirty="0">
                <a:solidFill>
                  <a:srgbClr val="00B050"/>
                </a:solidFill>
              </a:rPr>
              <a:t>lectrical</a:t>
            </a:r>
          </a:p>
        </p:txBody>
      </p:sp>
      <p:pic>
        <p:nvPicPr>
          <p:cNvPr id="4" name="Content Placeholder 3">
            <a:extLst>
              <a:ext uri="{FF2B5EF4-FFF2-40B4-BE49-F238E27FC236}">
                <a16:creationId xmlns:a16="http://schemas.microsoft.com/office/drawing/2014/main" id="{39D09984-DEE0-0AE4-C0F5-D62AD98A77EC}"/>
              </a:ext>
            </a:extLst>
          </p:cNvPr>
          <p:cNvPicPr>
            <a:picLocks noGrp="1" noChangeAspect="1"/>
          </p:cNvPicPr>
          <p:nvPr>
            <p:ph sz="quarter" idx="13"/>
          </p:nvPr>
        </p:nvPicPr>
        <p:blipFill>
          <a:blip r:embed="rId3"/>
          <a:stretch>
            <a:fillRect/>
          </a:stretch>
        </p:blipFill>
        <p:spPr>
          <a:xfrm>
            <a:off x="9834230" y="4657919"/>
            <a:ext cx="1633870" cy="2097206"/>
          </a:xfrm>
          <a:prstGeom prst="rect">
            <a:avLst/>
          </a:prstGeom>
        </p:spPr>
      </p:pic>
      <p:grpSp>
        <p:nvGrpSpPr>
          <p:cNvPr id="19" name="Group 18">
            <a:extLst>
              <a:ext uri="{FF2B5EF4-FFF2-40B4-BE49-F238E27FC236}">
                <a16:creationId xmlns:a16="http://schemas.microsoft.com/office/drawing/2014/main" id="{C4104DC2-E00B-1321-A373-B7200D1534C7}"/>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5D4708AC-3579-E196-4048-9048E7E4EF26}"/>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0C924B5-DD31-6742-0C02-0926E9CEA38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86FD95D-E195-ECB5-0239-7334EB9F41C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625E1406-4AA4-C3D5-CDEB-CA41F43A3F78}"/>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3423A49D-7734-7D08-4424-92D7ECF86EC4}"/>
              </a:ext>
            </a:extLst>
          </p:cNvPr>
          <p:cNvSpPr txBox="1">
            <a:spLocks/>
          </p:cNvSpPr>
          <p:nvPr/>
        </p:nvSpPr>
        <p:spPr>
          <a:xfrm>
            <a:off x="1142078" y="2258329"/>
            <a:ext cx="8550561" cy="4496795"/>
          </a:xfrm>
          <a:prstGeom prst="rect">
            <a:avLst/>
          </a:prstGeom>
        </p:spPr>
        <p:txBody>
          <a:bodyPr vert="horz" lIns="0" tIns="228600" rIns="0" bIns="0" rtlCol="0">
            <a:normAutofit fontScale="92500" lnSpcReduction="20000"/>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900" b="1" dirty="0"/>
              <a:t>History</a:t>
            </a:r>
          </a:p>
          <a:p>
            <a:pPr lvl="1"/>
            <a:r>
              <a:rPr lang="en-US" sz="2600" i="0" u="none" strike="noStrike" baseline="0" dirty="0">
                <a:latin typeface="Aptos" panose="020B0004020202020204" pitchFamily="34" charset="0"/>
              </a:rPr>
              <a:t>Task Force SAFE is a congressionally mandated program and our mission, as the electrical safety surveillance arm for he military, is to ensure that all DOD occupied facilities are inspected for electrical Life, Health, Safety (LHS), (Urgent) hazards as well as all non-code compliant (Priority) electrical conditions.</a:t>
            </a:r>
          </a:p>
          <a:p>
            <a:pPr lvl="1"/>
            <a:r>
              <a:rPr lang="en-US" sz="2600" dirty="0">
                <a:latin typeface="Aptos" panose="020B0004020202020204" pitchFamily="34" charset="0"/>
              </a:rPr>
              <a:t>Task Force SAFE, CENTCOM provides support to ARCENT and CENTCOM’s electrical safety program by providing qualified licensed electricians performing inspections and repairs across the CENTCOM theatre along with the management of the Task Force SAFE electrical materials yard located at Camp Arifjan, Kuwait.</a:t>
            </a:r>
          </a:p>
        </p:txBody>
      </p:sp>
    </p:spTree>
    <p:extLst>
      <p:ext uri="{BB962C8B-B14F-4D97-AF65-F5344CB8AC3E}">
        <p14:creationId xmlns:p14="http://schemas.microsoft.com/office/powerpoint/2010/main" val="792350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890C-A426-DBB0-40D4-B19C768A922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A6948E-0DB3-5211-3B18-05D741C17C2C}"/>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B050"/>
                </a:solidFill>
              </a:rPr>
              <a:t>S.A.F.E.</a:t>
            </a:r>
            <a:r>
              <a:rPr lang="en-US" sz="3200" dirty="0"/>
              <a:t> (TFS)</a:t>
            </a:r>
            <a:br>
              <a:rPr lang="en-US" sz="3200" dirty="0"/>
            </a:br>
            <a:r>
              <a:rPr lang="en-US" sz="2800" dirty="0"/>
              <a:t>S</a:t>
            </a:r>
            <a:r>
              <a:rPr lang="en-US" sz="2800" dirty="0">
                <a:solidFill>
                  <a:srgbClr val="00B050"/>
                </a:solidFill>
              </a:rPr>
              <a:t>afety </a:t>
            </a:r>
            <a:r>
              <a:rPr lang="en-US" sz="2800" dirty="0"/>
              <a:t>A</a:t>
            </a:r>
            <a:r>
              <a:rPr lang="en-US" sz="2800" dirty="0">
                <a:solidFill>
                  <a:srgbClr val="00B050"/>
                </a:solidFill>
              </a:rPr>
              <a:t>ssessments for </a:t>
            </a:r>
            <a:r>
              <a:rPr lang="en-US" sz="2800" dirty="0"/>
              <a:t>F</a:t>
            </a:r>
            <a:r>
              <a:rPr lang="en-US" sz="2800" dirty="0">
                <a:solidFill>
                  <a:srgbClr val="00B050"/>
                </a:solidFill>
              </a:rPr>
              <a:t>ire and </a:t>
            </a:r>
            <a:r>
              <a:rPr lang="en-US" sz="2800" dirty="0"/>
              <a:t>E</a:t>
            </a:r>
            <a:r>
              <a:rPr lang="en-US" sz="2800" dirty="0">
                <a:solidFill>
                  <a:srgbClr val="00B050"/>
                </a:solidFill>
              </a:rPr>
              <a:t>lectrical</a:t>
            </a:r>
          </a:p>
        </p:txBody>
      </p:sp>
      <p:pic>
        <p:nvPicPr>
          <p:cNvPr id="4" name="Content Placeholder 3">
            <a:extLst>
              <a:ext uri="{FF2B5EF4-FFF2-40B4-BE49-F238E27FC236}">
                <a16:creationId xmlns:a16="http://schemas.microsoft.com/office/drawing/2014/main" id="{54515448-18C5-06BB-CB52-CEDCE1922186}"/>
              </a:ext>
            </a:extLst>
          </p:cNvPr>
          <p:cNvPicPr>
            <a:picLocks noGrp="1" noChangeAspect="1"/>
          </p:cNvPicPr>
          <p:nvPr>
            <p:ph sz="quarter" idx="13"/>
          </p:nvPr>
        </p:nvPicPr>
        <p:blipFill>
          <a:blip r:embed="rId3"/>
          <a:stretch>
            <a:fillRect/>
          </a:stretch>
        </p:blipFill>
        <p:spPr>
          <a:xfrm>
            <a:off x="10549466" y="5575983"/>
            <a:ext cx="918633" cy="1179141"/>
          </a:xfrm>
          <a:prstGeom prst="rect">
            <a:avLst/>
          </a:prstGeom>
        </p:spPr>
      </p:pic>
      <p:grpSp>
        <p:nvGrpSpPr>
          <p:cNvPr id="19" name="Group 18">
            <a:extLst>
              <a:ext uri="{FF2B5EF4-FFF2-40B4-BE49-F238E27FC236}">
                <a16:creationId xmlns:a16="http://schemas.microsoft.com/office/drawing/2014/main" id="{23AA8860-5563-A6BB-3649-6EDCB7BB404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224148DA-8A3F-C1DD-9B37-357D7680A16E}"/>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73C49FA7-257C-708E-8087-B2F6FB7BE62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1AD78B63-0F36-0841-3FA2-676FE05BD4B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E22F6173-6D2A-F7BA-0439-790B6B756302}"/>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CBC8B1BA-7631-47FE-BC63-5921E5B76CF0}"/>
              </a:ext>
            </a:extLst>
          </p:cNvPr>
          <p:cNvSpPr txBox="1">
            <a:spLocks/>
          </p:cNvSpPr>
          <p:nvPr/>
        </p:nvSpPr>
        <p:spPr>
          <a:xfrm>
            <a:off x="594360" y="2103533"/>
            <a:ext cx="9836573" cy="5110066"/>
          </a:xfrm>
          <a:prstGeom prst="rect">
            <a:avLst/>
          </a:prstGeom>
        </p:spPr>
        <p:txBody>
          <a:bodyPr vert="horz" lIns="0" tIns="228600" rIns="0" bIns="0" rtlCol="0">
            <a:normAutofit fontScale="47500" lnSpcReduction="20000"/>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900" b="1" dirty="0"/>
              <a:t>History</a:t>
            </a:r>
          </a:p>
          <a:p>
            <a:pPr lvl="1" algn="just"/>
            <a:r>
              <a:rPr lang="en-US" sz="4200" i="0" u="none" strike="noStrike" baseline="0" dirty="0">
                <a:latin typeface="Aptos Light" panose="020B0004020202020204" pitchFamily="34" charset="0"/>
              </a:rPr>
              <a:t>In 2008, there were 14 fatalities in Iraq of U.S. personnel due to electrocution, and many more were injured to varying degrees from electric shock. A Congressional Investigation was undertaken in Iraq to investigate these hazards and it was determined that unqualified host nation contractors, third country contractors, and defense contractors on the BOS-I/LOGCAP contract were facilitators of the problem. These groups comprised the enforcement of the Uniform Facilities Code (UFC), which establishes “the minimum requirements” for OCONUS construction; the National Fire Protection Act (NFPA) 70; the National Electric Safety Code (NESC); the National Electric Code (NEC); the American Standards Institute (ANSI) C2 and the British Standard Code (BS-7671). Lack of awareness and understanding of the risks associated with electrical hazards, missing requirements in construction contracts, and lack of technical experts to effectively enforce the standards created a serious problem. It was acknowledged that these incidents could have been prevented if proper safeguards and measures had been in place to ensure electrical code compliance with new construction and existing structure renovations.</a:t>
            </a:r>
            <a:endParaRPr lang="en-US" sz="4200" b="1" dirty="0">
              <a:latin typeface="Aptos Light" panose="020B0004020202020204" pitchFamily="34" charset="0"/>
            </a:endParaRPr>
          </a:p>
          <a:p>
            <a:pPr marL="0" indent="0" algn="ctr">
              <a:buNone/>
            </a:pPr>
            <a:r>
              <a:rPr lang="en-US" sz="4200" b="1" dirty="0"/>
              <a:t>“After</a:t>
            </a:r>
            <a:r>
              <a:rPr lang="en-US" sz="4200" dirty="0"/>
              <a:t> </a:t>
            </a:r>
            <a:r>
              <a:rPr lang="en-US" sz="4200" b="1" dirty="0"/>
              <a:t>Deaths,</a:t>
            </a:r>
            <a:r>
              <a:rPr lang="en-US" sz="4200" dirty="0"/>
              <a:t> </a:t>
            </a:r>
            <a:r>
              <a:rPr lang="en-US" sz="4200" b="1" dirty="0"/>
              <a:t>U.S.</a:t>
            </a:r>
            <a:r>
              <a:rPr lang="en-US" sz="4200" dirty="0"/>
              <a:t> </a:t>
            </a:r>
            <a:r>
              <a:rPr lang="en-US" sz="4200" b="1" dirty="0"/>
              <a:t>Inspects</a:t>
            </a:r>
            <a:r>
              <a:rPr lang="en-US" sz="4200" dirty="0"/>
              <a:t> </a:t>
            </a:r>
            <a:r>
              <a:rPr lang="en-US" sz="4200" b="1" dirty="0"/>
              <a:t>Electric</a:t>
            </a:r>
            <a:r>
              <a:rPr lang="en-US" sz="4200" dirty="0"/>
              <a:t> </a:t>
            </a:r>
            <a:r>
              <a:rPr lang="en-US" sz="4200" b="1" dirty="0"/>
              <a:t>Work</a:t>
            </a:r>
            <a:r>
              <a:rPr lang="en-US" sz="4200" dirty="0"/>
              <a:t> </a:t>
            </a:r>
            <a:r>
              <a:rPr lang="en-US" sz="4200" b="1" dirty="0"/>
              <a:t>Done</a:t>
            </a:r>
            <a:r>
              <a:rPr lang="en-US" sz="4200" dirty="0"/>
              <a:t> </a:t>
            </a:r>
            <a:r>
              <a:rPr lang="en-US" sz="4200" b="1" dirty="0"/>
              <a:t>in</a:t>
            </a:r>
            <a:r>
              <a:rPr lang="en-US" sz="4200" dirty="0"/>
              <a:t> </a:t>
            </a:r>
            <a:r>
              <a:rPr lang="en-US" sz="4200" b="1" dirty="0"/>
              <a:t>Iraq”,</a:t>
            </a:r>
            <a:r>
              <a:rPr lang="en-US" sz="4200" dirty="0"/>
              <a:t> </a:t>
            </a:r>
            <a:r>
              <a:rPr lang="en-US" sz="4200" b="1" dirty="0"/>
              <a:t>James</a:t>
            </a:r>
            <a:r>
              <a:rPr lang="en-US" sz="4200" dirty="0"/>
              <a:t> </a:t>
            </a:r>
            <a:r>
              <a:rPr lang="en-US" sz="4200" b="1" dirty="0"/>
              <a:t>Risen,</a:t>
            </a:r>
            <a:r>
              <a:rPr lang="en-US" sz="4200" dirty="0"/>
              <a:t> </a:t>
            </a:r>
            <a:r>
              <a:rPr lang="en-US" sz="4200" b="1" dirty="0"/>
              <a:t>2008,</a:t>
            </a:r>
          </a:p>
          <a:p>
            <a:pPr marL="0" indent="0" algn="ctr">
              <a:buNone/>
            </a:pPr>
            <a:r>
              <a:rPr lang="en-US" sz="4200" b="1" u="sng" dirty="0">
                <a:hlinkClick r:id="rId5"/>
              </a:rPr>
              <a:t>http://www.nytimes.com/2008/07/01/washington/01electrocute.html?_r=0</a:t>
            </a:r>
            <a:endParaRPr lang="en-US" sz="4200" b="1" dirty="0">
              <a:hlinkClick r:id="rId5"/>
            </a:endParaRPr>
          </a:p>
          <a:p>
            <a:pPr marL="402336" lvl="1" indent="0" algn="just">
              <a:buNone/>
            </a:pPr>
            <a:endParaRPr lang="en-US" sz="2900" b="1" dirty="0">
              <a:latin typeface="Calibri,Bold"/>
            </a:endParaRPr>
          </a:p>
        </p:txBody>
      </p:sp>
    </p:spTree>
    <p:extLst>
      <p:ext uri="{BB962C8B-B14F-4D97-AF65-F5344CB8AC3E}">
        <p14:creationId xmlns:p14="http://schemas.microsoft.com/office/powerpoint/2010/main" val="174587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48826-9A6D-C9C1-7957-66098B79ED0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5521C26-DA41-305A-084E-A30EE85B6186}"/>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B050"/>
                </a:solidFill>
              </a:rPr>
              <a:t>S.A.F.E.</a:t>
            </a:r>
            <a:r>
              <a:rPr lang="en-US" sz="3200" dirty="0"/>
              <a:t> (TFS)</a:t>
            </a:r>
            <a:br>
              <a:rPr lang="en-US" sz="3200" dirty="0"/>
            </a:br>
            <a:r>
              <a:rPr lang="en-US" sz="2800" dirty="0"/>
              <a:t>S</a:t>
            </a:r>
            <a:r>
              <a:rPr lang="en-US" sz="2800" dirty="0">
                <a:solidFill>
                  <a:srgbClr val="00B050"/>
                </a:solidFill>
              </a:rPr>
              <a:t>afety </a:t>
            </a:r>
            <a:r>
              <a:rPr lang="en-US" sz="2800" dirty="0"/>
              <a:t>A</a:t>
            </a:r>
            <a:r>
              <a:rPr lang="en-US" sz="2800" dirty="0">
                <a:solidFill>
                  <a:srgbClr val="00B050"/>
                </a:solidFill>
              </a:rPr>
              <a:t>ssessments for </a:t>
            </a:r>
            <a:r>
              <a:rPr lang="en-US" sz="2800" dirty="0"/>
              <a:t>F</a:t>
            </a:r>
            <a:r>
              <a:rPr lang="en-US" sz="2800" dirty="0">
                <a:solidFill>
                  <a:srgbClr val="00B050"/>
                </a:solidFill>
              </a:rPr>
              <a:t>ire and </a:t>
            </a:r>
            <a:r>
              <a:rPr lang="en-US" sz="2800" dirty="0"/>
              <a:t>E</a:t>
            </a:r>
            <a:r>
              <a:rPr lang="en-US" sz="2800" dirty="0">
                <a:solidFill>
                  <a:srgbClr val="00B050"/>
                </a:solidFill>
              </a:rPr>
              <a:t>lectrical</a:t>
            </a:r>
          </a:p>
        </p:txBody>
      </p:sp>
      <p:pic>
        <p:nvPicPr>
          <p:cNvPr id="4" name="Content Placeholder 3">
            <a:extLst>
              <a:ext uri="{FF2B5EF4-FFF2-40B4-BE49-F238E27FC236}">
                <a16:creationId xmlns:a16="http://schemas.microsoft.com/office/drawing/2014/main" id="{BA3466E6-6AC7-B8F6-CCAC-8151E4244588}"/>
              </a:ext>
            </a:extLst>
          </p:cNvPr>
          <p:cNvPicPr>
            <a:picLocks noGrp="1" noChangeAspect="1"/>
          </p:cNvPicPr>
          <p:nvPr>
            <p:ph sz="quarter" idx="13"/>
          </p:nvPr>
        </p:nvPicPr>
        <p:blipFill>
          <a:blip r:embed="rId3"/>
          <a:stretch>
            <a:fillRect/>
          </a:stretch>
        </p:blipFill>
        <p:spPr>
          <a:xfrm>
            <a:off x="10404213" y="4754468"/>
            <a:ext cx="1633870" cy="2097206"/>
          </a:xfrm>
          <a:prstGeom prst="rect">
            <a:avLst/>
          </a:prstGeom>
        </p:spPr>
      </p:pic>
      <p:grpSp>
        <p:nvGrpSpPr>
          <p:cNvPr id="19" name="Group 18">
            <a:extLst>
              <a:ext uri="{FF2B5EF4-FFF2-40B4-BE49-F238E27FC236}">
                <a16:creationId xmlns:a16="http://schemas.microsoft.com/office/drawing/2014/main" id="{46D235FD-B0BA-693A-4022-52B59D1852AF}"/>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6EFAC6F3-691C-6AAD-8A86-B14DFEB095F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9134D1E0-C40D-C57A-04A3-E9DAF649596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0EFEC9D4-7262-3018-6F7F-A1C719EC987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CB45625E-80CF-5877-CCAD-099D44034D6C}"/>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ADA7AC45-6283-9805-9D11-E114D72429C7}"/>
              </a:ext>
            </a:extLst>
          </p:cNvPr>
          <p:cNvSpPr txBox="1">
            <a:spLocks/>
          </p:cNvSpPr>
          <p:nvPr/>
        </p:nvSpPr>
        <p:spPr>
          <a:xfrm>
            <a:off x="1078537" y="2034037"/>
            <a:ext cx="9323177" cy="4825321"/>
          </a:xfrm>
          <a:prstGeom prst="rect">
            <a:avLst/>
          </a:prstGeom>
        </p:spPr>
        <p:txBody>
          <a:bodyPr vert="horz" lIns="0" tIns="228600" rIns="0" bIns="0" rtlCol="0">
            <a:normAutofit fontScale="32500" lnSpcReduction="20000"/>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8600" b="1" dirty="0"/>
              <a:t>History</a:t>
            </a:r>
          </a:p>
          <a:p>
            <a:pPr lvl="1" algn="just"/>
            <a:r>
              <a:rPr lang="en-US" sz="5500" i="0" u="none" strike="noStrike" baseline="0" dirty="0">
                <a:latin typeface="Calibri,Bold"/>
              </a:rPr>
              <a:t>TF Power was established by the Combined Joint Task Force-101 (CJTF-101) in October 2008, to “prevent the loss of life and government property through immediate and long-term measures that will significantly reduce the numbers of electrical and fire incidents throughout the combined (Joint Operations) area.” At that time, TF Power was a part of Task Force Safety Actions for Fire and Electricity (TF SAFE), due to the 14 fatalities in Iraq related to electrical hazards in 2008. TF POWER re-named TF SAFE for ARCENT / CENTCOM AOR in 2016 to prevent confusion in theater with military Prime Power assets.</a:t>
            </a:r>
          </a:p>
          <a:p>
            <a:pPr lvl="2">
              <a:buFont typeface="Wingdings" panose="05000000000000000000" pitchFamily="2" charset="2"/>
              <a:buChar char="§"/>
            </a:pPr>
            <a:r>
              <a:rPr lang="en-US" sz="4200" dirty="0"/>
              <a:t>The non-combat deaths resulted in the Inspector General's Report No. SPO-2009-005 Assessment of Electrical Safety in Afghanistan, dated 24 July 2009.</a:t>
            </a:r>
          </a:p>
          <a:p>
            <a:pPr lvl="2">
              <a:buFont typeface="Wingdings" panose="05000000000000000000" pitchFamily="2" charset="2"/>
              <a:buChar char="§"/>
            </a:pPr>
            <a:r>
              <a:rPr lang="en-US" sz="4200" dirty="0"/>
              <a:t>Resulting in the Congressional Mandate, National Defense Authorization Act (NDAA)</a:t>
            </a:r>
          </a:p>
          <a:p>
            <a:pPr lvl="2">
              <a:buFont typeface="Wingdings" panose="05000000000000000000" pitchFamily="2" charset="2"/>
              <a:buChar char="§"/>
            </a:pPr>
            <a:r>
              <a:rPr lang="en-US" sz="4200" dirty="0"/>
              <a:t>FY 2010 Section 807 Policy and Requirements to Ensure the Safety of Facilities, Infrastructure, and Equipment for Military Operation, dated 28 October 2009.</a:t>
            </a:r>
          </a:p>
          <a:p>
            <a:pPr lvl="2">
              <a:buFont typeface="Wingdings" panose="05000000000000000000" pitchFamily="2" charset="2"/>
              <a:buChar char="§"/>
            </a:pPr>
            <a:r>
              <a:rPr lang="en-US" sz="4200" dirty="0"/>
              <a:t>The USFOR-A Fragmentary Order (FRAGO) 10-213, dated July 2010, that establishes a theater-wide electrical and fire safety programmed outlines parameters for the TF POWER program.</a:t>
            </a:r>
          </a:p>
          <a:p>
            <a:pPr lvl="2">
              <a:buFont typeface="Wingdings" panose="05000000000000000000" pitchFamily="2" charset="2"/>
              <a:buChar char="§"/>
            </a:pPr>
            <a:r>
              <a:rPr lang="en-US" sz="4200" dirty="0"/>
              <a:t>Leading to the Policy Letter USARCENT Theater Electrical Standards, dated 22 January 2016, which was superseded by Policy Letter #30.1, dated 8 May 2014</a:t>
            </a:r>
            <a:r>
              <a:rPr lang="en-US" dirty="0"/>
              <a:t>.</a:t>
            </a:r>
            <a:endParaRPr lang="en-US" sz="2900" dirty="0">
              <a:latin typeface="Calibri,Bold"/>
            </a:endParaRPr>
          </a:p>
        </p:txBody>
      </p:sp>
    </p:spTree>
    <p:extLst>
      <p:ext uri="{BB962C8B-B14F-4D97-AF65-F5344CB8AC3E}">
        <p14:creationId xmlns:p14="http://schemas.microsoft.com/office/powerpoint/2010/main" val="3510071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CA795-B179-B4B5-5566-C9136F4A370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77BD32-56B2-AC40-045A-A73DD1950FAD}"/>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B050"/>
                </a:solidFill>
              </a:rPr>
              <a:t>S.A.F.E.</a:t>
            </a:r>
            <a:r>
              <a:rPr lang="en-US" sz="3200" dirty="0"/>
              <a:t> (TFS)</a:t>
            </a:r>
            <a:br>
              <a:rPr lang="en-US" sz="3200" dirty="0"/>
            </a:br>
            <a:r>
              <a:rPr lang="en-US" sz="2800" dirty="0"/>
              <a:t>S</a:t>
            </a:r>
            <a:r>
              <a:rPr lang="en-US" sz="2800" dirty="0">
                <a:solidFill>
                  <a:srgbClr val="00B050"/>
                </a:solidFill>
              </a:rPr>
              <a:t>afety </a:t>
            </a:r>
            <a:r>
              <a:rPr lang="en-US" sz="2800" dirty="0"/>
              <a:t>A</a:t>
            </a:r>
            <a:r>
              <a:rPr lang="en-US" sz="2800" dirty="0">
                <a:solidFill>
                  <a:srgbClr val="00B050"/>
                </a:solidFill>
              </a:rPr>
              <a:t>ssessments for </a:t>
            </a:r>
            <a:r>
              <a:rPr lang="en-US" sz="2800" dirty="0"/>
              <a:t>F</a:t>
            </a:r>
            <a:r>
              <a:rPr lang="en-US" sz="2800" dirty="0">
                <a:solidFill>
                  <a:srgbClr val="00B050"/>
                </a:solidFill>
              </a:rPr>
              <a:t>ire and </a:t>
            </a:r>
            <a:r>
              <a:rPr lang="en-US" sz="2800" dirty="0"/>
              <a:t>E</a:t>
            </a:r>
            <a:r>
              <a:rPr lang="en-US" sz="2800" dirty="0">
                <a:solidFill>
                  <a:srgbClr val="00B050"/>
                </a:solidFill>
              </a:rPr>
              <a:t>lectrical</a:t>
            </a:r>
          </a:p>
        </p:txBody>
      </p:sp>
      <p:pic>
        <p:nvPicPr>
          <p:cNvPr id="4" name="Content Placeholder 3">
            <a:extLst>
              <a:ext uri="{FF2B5EF4-FFF2-40B4-BE49-F238E27FC236}">
                <a16:creationId xmlns:a16="http://schemas.microsoft.com/office/drawing/2014/main" id="{569E04E6-7E07-C83E-C01F-D3BA63344700}"/>
              </a:ext>
            </a:extLst>
          </p:cNvPr>
          <p:cNvPicPr>
            <a:picLocks noGrp="1" noChangeAspect="1"/>
          </p:cNvPicPr>
          <p:nvPr>
            <p:ph sz="quarter" idx="13"/>
          </p:nvPr>
        </p:nvPicPr>
        <p:blipFill>
          <a:blip r:embed="rId3"/>
          <a:stretch>
            <a:fillRect/>
          </a:stretch>
        </p:blipFill>
        <p:spPr>
          <a:xfrm>
            <a:off x="9834230" y="4657919"/>
            <a:ext cx="1633870" cy="2097206"/>
          </a:xfrm>
          <a:prstGeom prst="rect">
            <a:avLst/>
          </a:prstGeom>
        </p:spPr>
      </p:pic>
      <p:grpSp>
        <p:nvGrpSpPr>
          <p:cNvPr id="19" name="Group 18">
            <a:extLst>
              <a:ext uri="{FF2B5EF4-FFF2-40B4-BE49-F238E27FC236}">
                <a16:creationId xmlns:a16="http://schemas.microsoft.com/office/drawing/2014/main" id="{D52C7CF2-E72F-3CCD-7323-C058374F3E93}"/>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952D5166-B68C-56D3-B6F0-6EBBD244FCB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949CA9B9-8BF6-3A5F-90AB-139D9BDD5F5A}"/>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DAA9E7F0-3BEE-F7D7-90A0-E2532A8A5E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0299421F-DA58-1856-34B5-B29CA98FEE81}"/>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919F7643-E3AB-1B46-B035-BCD37A802125}"/>
              </a:ext>
            </a:extLst>
          </p:cNvPr>
          <p:cNvSpPr txBox="1">
            <a:spLocks/>
          </p:cNvSpPr>
          <p:nvPr/>
        </p:nvSpPr>
        <p:spPr>
          <a:xfrm>
            <a:off x="1419829" y="2190269"/>
            <a:ext cx="8147503" cy="4564855"/>
          </a:xfrm>
          <a:prstGeom prst="rect">
            <a:avLst/>
          </a:prstGeom>
        </p:spPr>
        <p:txBody>
          <a:bodyPr vert="horz" lIns="0" tIns="228600" rIns="0" bIns="0" rtlCol="0">
            <a:normAutofit fontScale="77500" lnSpcReduction="20000"/>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900" b="1" dirty="0"/>
              <a:t>TASK FORCE SAFE is a Safety Organization</a:t>
            </a:r>
          </a:p>
          <a:p>
            <a:pPr lvl="1"/>
            <a:r>
              <a:rPr lang="en-US" sz="2800" dirty="0">
                <a:latin typeface="Aptos Display" panose="020B0004020202020204" pitchFamily="34" charset="0"/>
              </a:rPr>
              <a:t>They are the Authority Having Jurisdiction (AHJ) for all electrical matters 1000V and below in the CENTCOM AOR.</a:t>
            </a:r>
          </a:p>
          <a:p>
            <a:pPr lvl="1"/>
            <a:r>
              <a:rPr lang="en-US" sz="2800" dirty="0">
                <a:latin typeface="Aptos Display" panose="020B0004020202020204" pitchFamily="34" charset="0"/>
              </a:rPr>
              <a:t>They are the Electrical Subject Matter Experts (SMEs) in theater.</a:t>
            </a:r>
          </a:p>
          <a:p>
            <a:pPr lvl="1"/>
            <a:r>
              <a:rPr lang="en-US" sz="2800" dirty="0">
                <a:latin typeface="Aptos Display" panose="020B0004020202020204" pitchFamily="34" charset="0"/>
              </a:rPr>
              <a:t>The teams are comprised of licensed Master and Journeyman Electricians from both the U.S. and U.K.</a:t>
            </a:r>
          </a:p>
          <a:p>
            <a:pPr lvl="1"/>
            <a:r>
              <a:rPr lang="en-US" sz="2800" dirty="0">
                <a:latin typeface="Aptos Display" panose="020B0004020202020204" pitchFamily="34" charset="0"/>
              </a:rPr>
              <a:t>They will provide all materials to affect repairs on Imminent Life Health Safety (LHS) issues on 1000V and below electrical systems for non-density facilities and for density facilities when authorized by the COR.</a:t>
            </a:r>
          </a:p>
          <a:p>
            <a:pPr lvl="1"/>
            <a:r>
              <a:rPr lang="en-US" sz="2800" dirty="0">
                <a:latin typeface="Aptos Display" panose="020B0004020202020204" pitchFamily="34" charset="0"/>
              </a:rPr>
              <a:t>They will complete a comprehensive hands-on evaluation of the electrical system from the source to the final device / end user.</a:t>
            </a:r>
          </a:p>
        </p:txBody>
      </p:sp>
    </p:spTree>
    <p:extLst>
      <p:ext uri="{BB962C8B-B14F-4D97-AF65-F5344CB8AC3E}">
        <p14:creationId xmlns:p14="http://schemas.microsoft.com/office/powerpoint/2010/main" val="3879151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C16D2-800A-B040-9112-6A5AC4E0D4B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ED32D1-2C3C-BF97-EE80-A889DFB3A41B}"/>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70C0"/>
                </a:solidFill>
              </a:rPr>
              <a:t>U.F.C.</a:t>
            </a:r>
            <a:r>
              <a:rPr lang="en-US" sz="3200" dirty="0"/>
              <a:t> (UFC)</a:t>
            </a:r>
            <a:br>
              <a:rPr lang="en-US" sz="3200" dirty="0"/>
            </a:br>
            <a:r>
              <a:rPr lang="en-US" sz="2800" dirty="0"/>
              <a:t>U</a:t>
            </a:r>
            <a:r>
              <a:rPr lang="en-US" sz="2800" dirty="0">
                <a:solidFill>
                  <a:srgbClr val="0070C0"/>
                </a:solidFill>
              </a:rPr>
              <a:t>nified</a:t>
            </a:r>
            <a:r>
              <a:rPr lang="en-US" sz="2800" dirty="0"/>
              <a:t> F</a:t>
            </a:r>
            <a:r>
              <a:rPr lang="en-US" sz="2800" dirty="0">
                <a:solidFill>
                  <a:srgbClr val="0070C0"/>
                </a:solidFill>
              </a:rPr>
              <a:t>acilities</a:t>
            </a:r>
            <a:r>
              <a:rPr lang="en-US" sz="2800" dirty="0"/>
              <a:t> C</a:t>
            </a:r>
            <a:r>
              <a:rPr lang="en-US" sz="2800" dirty="0">
                <a:solidFill>
                  <a:srgbClr val="0070C0"/>
                </a:solidFill>
              </a:rPr>
              <a:t>riteria</a:t>
            </a:r>
          </a:p>
        </p:txBody>
      </p:sp>
      <p:pic>
        <p:nvPicPr>
          <p:cNvPr id="4" name="Content Placeholder 3">
            <a:extLst>
              <a:ext uri="{FF2B5EF4-FFF2-40B4-BE49-F238E27FC236}">
                <a16:creationId xmlns:a16="http://schemas.microsoft.com/office/drawing/2014/main" id="{7E9F7FC2-2189-D2D9-8942-7991762F2EBE}"/>
              </a:ext>
            </a:extLst>
          </p:cNvPr>
          <p:cNvPicPr>
            <a:picLocks noGrp="1" noChangeAspect="1"/>
          </p:cNvPicPr>
          <p:nvPr>
            <p:ph sz="quarter" idx="13"/>
          </p:nvPr>
        </p:nvPicPr>
        <p:blipFill>
          <a:blip r:embed="rId3"/>
          <a:stretch>
            <a:fillRect/>
          </a:stretch>
        </p:blipFill>
        <p:spPr>
          <a:xfrm>
            <a:off x="10404213" y="4767173"/>
            <a:ext cx="1633870" cy="2097206"/>
          </a:xfrm>
          <a:prstGeom prst="rect">
            <a:avLst/>
          </a:prstGeom>
        </p:spPr>
      </p:pic>
      <p:grpSp>
        <p:nvGrpSpPr>
          <p:cNvPr id="19" name="Group 18">
            <a:extLst>
              <a:ext uri="{FF2B5EF4-FFF2-40B4-BE49-F238E27FC236}">
                <a16:creationId xmlns:a16="http://schemas.microsoft.com/office/drawing/2014/main" id="{057633DF-60F3-D34B-EC0C-2F88D91586C7}"/>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C2A84BFA-EC0F-A263-112D-AD308CC30C9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38935437-B574-8F36-215B-F8E3E1EC913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F422C1EB-133C-3727-E440-05EE3F4538A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23E950A7-ADF6-4B05-C6FB-501A832FC245}"/>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65029D5F-6A68-E396-76C6-0AB843F3F57A}"/>
              </a:ext>
            </a:extLst>
          </p:cNvPr>
          <p:cNvSpPr txBox="1">
            <a:spLocks/>
          </p:cNvSpPr>
          <p:nvPr/>
        </p:nvSpPr>
        <p:spPr>
          <a:xfrm>
            <a:off x="968354" y="2015869"/>
            <a:ext cx="10873739" cy="5367064"/>
          </a:xfrm>
          <a:prstGeom prst="rect">
            <a:avLst/>
          </a:prstGeom>
        </p:spPr>
        <p:txBody>
          <a:bodyPr vert="horz" lIns="0" tIns="228600" rIns="0" bIns="0" rtlCol="0">
            <a:normAutofit fontScale="32500" lnSpcReduction="20000"/>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1200" b="1" dirty="0"/>
              <a:t>Mission</a:t>
            </a:r>
          </a:p>
          <a:p>
            <a:pPr marL="402336" lvl="1" indent="0">
              <a:buNone/>
            </a:pPr>
            <a:r>
              <a:rPr lang="en-US" sz="6200" b="1" dirty="0">
                <a:latin typeface="Aptos Display" panose="020B0004020202020204" pitchFamily="34" charset="0"/>
              </a:rPr>
              <a:t>TASK FORCE UFC is tasked to assess a facility to determine if the building achieves the minimum Life Safety and Habitability requirements to allow for occupancy in support of military operations and to provide options for mitigating the risks inherent with common building deficiencies to ensure protection of life safety and health of personnel occupying these facilities.</a:t>
            </a:r>
          </a:p>
          <a:p>
            <a:pPr marL="402336" lvl="1" indent="0">
              <a:buNone/>
            </a:pPr>
            <a:r>
              <a:rPr lang="en-US" sz="6200" b="1" dirty="0">
                <a:latin typeface="Aptos Display" panose="020B0004020202020204" pitchFamily="34" charset="0"/>
              </a:rPr>
              <a:t>For practical assessment of facilities to ensure the minimum standards for Life, Safety and Health of personnel consistent with the requirements of military operations in the following disciplines:</a:t>
            </a:r>
          </a:p>
          <a:p>
            <a:pPr lvl="1">
              <a:buFont typeface="Wingdings" panose="05000000000000000000" pitchFamily="2" charset="2"/>
              <a:buChar char="§"/>
            </a:pPr>
            <a:r>
              <a:rPr lang="en-US" sz="5500" dirty="0">
                <a:latin typeface="Aptos Display" panose="020B0004020202020204" pitchFamily="34" charset="0"/>
              </a:rPr>
              <a:t>Fire Protection (includes Life Safety)</a:t>
            </a:r>
          </a:p>
          <a:p>
            <a:pPr lvl="1">
              <a:buFont typeface="Wingdings" panose="05000000000000000000" pitchFamily="2" charset="2"/>
              <a:buChar char="§"/>
            </a:pPr>
            <a:r>
              <a:rPr lang="en-US" sz="5500" dirty="0">
                <a:latin typeface="Aptos Display" panose="020B0004020202020204" pitchFamily="34" charset="0"/>
              </a:rPr>
              <a:t>Structural Integrity</a:t>
            </a:r>
          </a:p>
          <a:p>
            <a:pPr lvl="1">
              <a:buFont typeface="Wingdings" panose="05000000000000000000" pitchFamily="2" charset="2"/>
              <a:buChar char="§"/>
            </a:pPr>
            <a:r>
              <a:rPr lang="en-US" sz="5500" dirty="0">
                <a:latin typeface="Aptos Display" panose="020B0004020202020204" pitchFamily="34" charset="0"/>
              </a:rPr>
              <a:t>Electrical Systems</a:t>
            </a:r>
          </a:p>
          <a:p>
            <a:pPr lvl="1">
              <a:buFont typeface="Wingdings" panose="05000000000000000000" pitchFamily="2" charset="2"/>
              <a:buChar char="§"/>
            </a:pPr>
            <a:r>
              <a:rPr lang="en-US" sz="5500" dirty="0">
                <a:latin typeface="Aptos Display" panose="020B0004020202020204" pitchFamily="34" charset="0"/>
              </a:rPr>
              <a:t>Plumbing and Mechanical Systems</a:t>
            </a:r>
          </a:p>
          <a:p>
            <a:pPr lvl="1">
              <a:buFont typeface="Wingdings" panose="05000000000000000000" pitchFamily="2" charset="2"/>
              <a:buChar char="§"/>
            </a:pPr>
            <a:r>
              <a:rPr lang="en-US" sz="5500" dirty="0">
                <a:latin typeface="Aptos Display" panose="020B0004020202020204" pitchFamily="34" charset="0"/>
              </a:rPr>
              <a:t>Telecommunications Networks</a:t>
            </a:r>
          </a:p>
          <a:p>
            <a:pPr lvl="1">
              <a:buFont typeface="Wingdings" panose="05000000000000000000" pitchFamily="2" charset="2"/>
              <a:buChar char="§"/>
            </a:pPr>
            <a:r>
              <a:rPr lang="en-US" sz="5500" dirty="0">
                <a:latin typeface="Aptos Display" panose="020B0004020202020204" pitchFamily="34" charset="0"/>
              </a:rPr>
              <a:t>Other Hazards</a:t>
            </a:r>
          </a:p>
          <a:p>
            <a:pPr lvl="1"/>
            <a:endParaRPr lang="en-US" b="1" dirty="0"/>
          </a:p>
        </p:txBody>
      </p:sp>
    </p:spTree>
    <p:extLst>
      <p:ext uri="{BB962C8B-B14F-4D97-AF65-F5344CB8AC3E}">
        <p14:creationId xmlns:p14="http://schemas.microsoft.com/office/powerpoint/2010/main" val="3178909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B7E8-359F-F05D-8183-CEE4FF3E12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13EFDB-0FFF-C23A-2CC2-02520765609D}"/>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70C0"/>
                </a:solidFill>
              </a:rPr>
              <a:t>U.F.C.</a:t>
            </a:r>
            <a:r>
              <a:rPr lang="en-US" sz="3200" dirty="0"/>
              <a:t> (UFC)</a:t>
            </a:r>
            <a:br>
              <a:rPr lang="en-US" sz="3200" dirty="0"/>
            </a:br>
            <a:r>
              <a:rPr lang="en-US" sz="2800" dirty="0"/>
              <a:t>U</a:t>
            </a:r>
            <a:r>
              <a:rPr lang="en-US" sz="2800" dirty="0">
                <a:solidFill>
                  <a:srgbClr val="0070C0"/>
                </a:solidFill>
              </a:rPr>
              <a:t>nified</a:t>
            </a:r>
            <a:r>
              <a:rPr lang="en-US" sz="2800" dirty="0"/>
              <a:t> F</a:t>
            </a:r>
            <a:r>
              <a:rPr lang="en-US" sz="2800" dirty="0">
                <a:solidFill>
                  <a:srgbClr val="0070C0"/>
                </a:solidFill>
              </a:rPr>
              <a:t>acilities</a:t>
            </a:r>
            <a:r>
              <a:rPr lang="en-US" sz="2800" dirty="0"/>
              <a:t> C</a:t>
            </a:r>
            <a:r>
              <a:rPr lang="en-US" sz="2800" dirty="0">
                <a:solidFill>
                  <a:srgbClr val="0070C0"/>
                </a:solidFill>
              </a:rPr>
              <a:t>riteria</a:t>
            </a:r>
          </a:p>
        </p:txBody>
      </p:sp>
      <p:pic>
        <p:nvPicPr>
          <p:cNvPr id="4" name="Content Placeholder 3">
            <a:extLst>
              <a:ext uri="{FF2B5EF4-FFF2-40B4-BE49-F238E27FC236}">
                <a16:creationId xmlns:a16="http://schemas.microsoft.com/office/drawing/2014/main" id="{5F00DABD-97E9-0D5B-1F56-666D54B02D25}"/>
              </a:ext>
            </a:extLst>
          </p:cNvPr>
          <p:cNvPicPr>
            <a:picLocks noGrp="1" noChangeAspect="1"/>
          </p:cNvPicPr>
          <p:nvPr>
            <p:ph sz="quarter" idx="13"/>
          </p:nvPr>
        </p:nvPicPr>
        <p:blipFill>
          <a:blip r:embed="rId3"/>
          <a:stretch>
            <a:fillRect/>
          </a:stretch>
        </p:blipFill>
        <p:spPr>
          <a:xfrm>
            <a:off x="9834230" y="4657919"/>
            <a:ext cx="1633870" cy="2097206"/>
          </a:xfrm>
          <a:prstGeom prst="rect">
            <a:avLst/>
          </a:prstGeom>
        </p:spPr>
      </p:pic>
      <p:grpSp>
        <p:nvGrpSpPr>
          <p:cNvPr id="19" name="Group 18">
            <a:extLst>
              <a:ext uri="{FF2B5EF4-FFF2-40B4-BE49-F238E27FC236}">
                <a16:creationId xmlns:a16="http://schemas.microsoft.com/office/drawing/2014/main" id="{0CF24E87-352F-BC81-3CAE-00A4688D19C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C7D9C917-D9BB-F088-51FB-BF942C974AF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F83778A2-B60E-A70E-1613-984528F86696}"/>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AD42A0EC-8A39-891A-C3FA-A9D7147D6AF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1BE349A3-410E-3D88-DAAF-1EB93D8D154B}"/>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1D0BA915-901F-6556-272B-F4E412516B26}"/>
              </a:ext>
            </a:extLst>
          </p:cNvPr>
          <p:cNvSpPr txBox="1">
            <a:spLocks/>
          </p:cNvSpPr>
          <p:nvPr/>
        </p:nvSpPr>
        <p:spPr>
          <a:xfrm>
            <a:off x="952003" y="2103533"/>
            <a:ext cx="8879728" cy="4418803"/>
          </a:xfrm>
          <a:prstGeom prst="rect">
            <a:avLst/>
          </a:prstGeom>
        </p:spPr>
        <p:txBody>
          <a:bodyPr vert="horz" lIns="0" tIns="228600" rIns="0" bIns="0" rtlCol="0">
            <a:normAutofit/>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900" b="1" dirty="0"/>
              <a:t>Mission</a:t>
            </a:r>
          </a:p>
          <a:p>
            <a:pPr marL="402336" lvl="1" indent="0">
              <a:buNone/>
            </a:pPr>
            <a:r>
              <a:rPr lang="en-US" sz="2400" b="1" dirty="0"/>
              <a:t>There are two levels of evaluation for facility occupancy:</a:t>
            </a:r>
          </a:p>
          <a:p>
            <a:pPr lvl="1">
              <a:buFont typeface="Wingdings" panose="05000000000000000000" pitchFamily="2" charset="2"/>
              <a:buChar char="§"/>
            </a:pPr>
            <a:r>
              <a:rPr lang="en-US" sz="2400" b="1" dirty="0"/>
              <a:t>Preliminary Evaluation</a:t>
            </a:r>
          </a:p>
          <a:p>
            <a:pPr lvl="1">
              <a:buFont typeface="Wingdings" panose="05000000000000000000" pitchFamily="2" charset="2"/>
              <a:buChar char="§"/>
            </a:pPr>
            <a:r>
              <a:rPr lang="en-US" sz="2400" b="1" dirty="0"/>
              <a:t>Detailed Evaluation</a:t>
            </a:r>
          </a:p>
          <a:p>
            <a:pPr marL="402336" lvl="1" indent="0">
              <a:buNone/>
            </a:pPr>
            <a:r>
              <a:rPr lang="en-US" sz="2400" dirty="0"/>
              <a:t>The Preliminary and Detailed Evaluations assess different items, and both evaluations are necessary to ensure building safety and habitability.</a:t>
            </a:r>
          </a:p>
          <a:p>
            <a:pPr marL="402336" lvl="1" indent="0">
              <a:buNone/>
            </a:pPr>
            <a:endParaRPr lang="en-US" b="1" dirty="0"/>
          </a:p>
        </p:txBody>
      </p:sp>
    </p:spTree>
    <p:extLst>
      <p:ext uri="{BB962C8B-B14F-4D97-AF65-F5344CB8AC3E}">
        <p14:creationId xmlns:p14="http://schemas.microsoft.com/office/powerpoint/2010/main" val="4139242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D6C2D-73A8-628A-DB3D-B07D00B8FA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48C39F-06A6-6937-89BA-5DEA03DA9DB2}"/>
              </a:ext>
            </a:extLst>
          </p:cNvPr>
          <p:cNvSpPr>
            <a:spLocks noGrp="1"/>
          </p:cNvSpPr>
          <p:nvPr>
            <p:ph type="title"/>
          </p:nvPr>
        </p:nvSpPr>
        <p:spPr>
          <a:xfrm>
            <a:off x="594360" y="423328"/>
            <a:ext cx="10873740" cy="1680205"/>
          </a:xfrm>
        </p:spPr>
        <p:txBody>
          <a:bodyPr/>
          <a:lstStyle/>
          <a:p>
            <a:br>
              <a:rPr lang="en-US" dirty="0"/>
            </a:br>
            <a:br>
              <a:rPr lang="en-US" dirty="0"/>
            </a:br>
            <a:br>
              <a:rPr lang="en-US" dirty="0"/>
            </a:br>
            <a:br>
              <a:rPr lang="en-US" dirty="0"/>
            </a:br>
            <a:br>
              <a:rPr lang="en-US" dirty="0"/>
            </a:br>
            <a:br>
              <a:rPr lang="en-US" dirty="0"/>
            </a:br>
            <a:br>
              <a:rPr lang="en-US" dirty="0"/>
            </a:br>
            <a:r>
              <a:rPr lang="en-US" dirty="0"/>
              <a:t>Program Overview</a:t>
            </a:r>
            <a:br>
              <a:rPr lang="en-US" dirty="0"/>
            </a:br>
            <a:r>
              <a:rPr lang="en-US" sz="3200" dirty="0"/>
              <a:t>Task Force </a:t>
            </a:r>
            <a:r>
              <a:rPr lang="en-US" sz="3200" dirty="0">
                <a:solidFill>
                  <a:srgbClr val="0070C0"/>
                </a:solidFill>
              </a:rPr>
              <a:t>U.F.C.</a:t>
            </a:r>
            <a:r>
              <a:rPr lang="en-US" sz="3200" dirty="0"/>
              <a:t> (UFC)</a:t>
            </a:r>
            <a:br>
              <a:rPr lang="en-US" sz="3200" dirty="0"/>
            </a:br>
            <a:r>
              <a:rPr lang="en-US" sz="2800" dirty="0"/>
              <a:t>U</a:t>
            </a:r>
            <a:r>
              <a:rPr lang="en-US" sz="2800" dirty="0">
                <a:solidFill>
                  <a:srgbClr val="0070C0"/>
                </a:solidFill>
              </a:rPr>
              <a:t>nified</a:t>
            </a:r>
            <a:r>
              <a:rPr lang="en-US" sz="2800" dirty="0"/>
              <a:t> F</a:t>
            </a:r>
            <a:r>
              <a:rPr lang="en-US" sz="2800" dirty="0">
                <a:solidFill>
                  <a:srgbClr val="0070C0"/>
                </a:solidFill>
              </a:rPr>
              <a:t>acilities</a:t>
            </a:r>
            <a:r>
              <a:rPr lang="en-US" sz="2800" dirty="0"/>
              <a:t> C</a:t>
            </a:r>
            <a:r>
              <a:rPr lang="en-US" sz="2800" dirty="0">
                <a:solidFill>
                  <a:srgbClr val="0070C0"/>
                </a:solidFill>
              </a:rPr>
              <a:t>riteria</a:t>
            </a:r>
          </a:p>
        </p:txBody>
      </p:sp>
      <p:pic>
        <p:nvPicPr>
          <p:cNvPr id="4" name="Content Placeholder 3">
            <a:extLst>
              <a:ext uri="{FF2B5EF4-FFF2-40B4-BE49-F238E27FC236}">
                <a16:creationId xmlns:a16="http://schemas.microsoft.com/office/drawing/2014/main" id="{3DFAB050-352A-55E8-585C-D4F8A2EA0E43}"/>
              </a:ext>
            </a:extLst>
          </p:cNvPr>
          <p:cNvPicPr>
            <a:picLocks noGrp="1" noChangeAspect="1"/>
          </p:cNvPicPr>
          <p:nvPr>
            <p:ph sz="quarter" idx="13"/>
          </p:nvPr>
        </p:nvPicPr>
        <p:blipFill>
          <a:blip r:embed="rId3"/>
          <a:stretch>
            <a:fillRect/>
          </a:stretch>
        </p:blipFill>
        <p:spPr>
          <a:xfrm>
            <a:off x="9834230" y="4657919"/>
            <a:ext cx="1633870" cy="2097206"/>
          </a:xfrm>
          <a:prstGeom prst="rect">
            <a:avLst/>
          </a:prstGeom>
        </p:spPr>
      </p:pic>
      <p:grpSp>
        <p:nvGrpSpPr>
          <p:cNvPr id="19" name="Group 18">
            <a:extLst>
              <a:ext uri="{FF2B5EF4-FFF2-40B4-BE49-F238E27FC236}">
                <a16:creationId xmlns:a16="http://schemas.microsoft.com/office/drawing/2014/main" id="{9CCAB3F6-6A62-37B4-0E92-7AB3885564E0}"/>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0FEEDFA2-2EDC-85CC-F5F2-9C0D6011A80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1B1D3E87-CAD6-08D4-336B-1FC301775B23}"/>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F5986C6F-760A-7268-A124-B59A58E8F04B}"/>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0F4F0CF0-AFA7-59BA-496D-D6983E4E4EB8}"/>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C67B55C3-30BD-9BD4-C29D-B84EBD80E0AF}"/>
              </a:ext>
            </a:extLst>
          </p:cNvPr>
          <p:cNvSpPr txBox="1">
            <a:spLocks/>
          </p:cNvSpPr>
          <p:nvPr/>
        </p:nvSpPr>
        <p:spPr>
          <a:xfrm>
            <a:off x="1280456" y="2075625"/>
            <a:ext cx="7996048" cy="4213933"/>
          </a:xfrm>
          <a:prstGeom prst="rect">
            <a:avLst/>
          </a:prstGeom>
        </p:spPr>
        <p:txBody>
          <a:bodyPr vert="horz" lIns="0" tIns="228600" rIns="0" bIns="0" rtlCol="0">
            <a:normAutofit/>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Mission</a:t>
            </a:r>
          </a:p>
          <a:p>
            <a:pPr marL="402336" lvl="1" indent="0" algn="just">
              <a:buNone/>
            </a:pPr>
            <a:r>
              <a:rPr lang="en-US" sz="1800" b="1" dirty="0">
                <a:latin typeface="Aptos Display" panose="020B0004020202020204" pitchFamily="34" charset="0"/>
              </a:rPr>
              <a:t>The items assessed are limited to requirements that affect Life, Safety and Health of occupants. Successful completion of an evaluation and mitigation of any deficiencies provides a level of safety to building occupants as described for the given evaluation level, for the duration defined for the given evaluation level. If the use of the building changes or the building systems are impacted by an adverse event (high winds, earthquakes or other battle damage), previous evaluations are no longer valid. In this situation, re-evaluate the building to re-establish the desired level of safety.</a:t>
            </a:r>
          </a:p>
          <a:p>
            <a:pPr marL="402336" lvl="1" indent="0">
              <a:buNone/>
            </a:pPr>
            <a:endParaRPr lang="en-US" b="1" dirty="0"/>
          </a:p>
        </p:txBody>
      </p:sp>
      <p:graphicFrame>
        <p:nvGraphicFramePr>
          <p:cNvPr id="6" name="Table 5">
            <a:extLst>
              <a:ext uri="{FF2B5EF4-FFF2-40B4-BE49-F238E27FC236}">
                <a16:creationId xmlns:a16="http://schemas.microsoft.com/office/drawing/2014/main" id="{53C782BA-56D8-A6CA-9180-8482CDB8EBBA}"/>
              </a:ext>
            </a:extLst>
          </p:cNvPr>
          <p:cNvGraphicFramePr>
            <a:graphicFrameLocks noGrp="1"/>
          </p:cNvGraphicFramePr>
          <p:nvPr>
            <p:extLst>
              <p:ext uri="{D42A27DB-BD31-4B8C-83A1-F6EECF244321}">
                <p14:modId xmlns:p14="http://schemas.microsoft.com/office/powerpoint/2010/main" val="3299878761"/>
              </p:ext>
            </p:extLst>
          </p:nvPr>
        </p:nvGraphicFramePr>
        <p:xfrm>
          <a:off x="1527839" y="4870841"/>
          <a:ext cx="7748665" cy="1749520"/>
        </p:xfrm>
        <a:graphic>
          <a:graphicData uri="http://schemas.openxmlformats.org/drawingml/2006/table">
            <a:tbl>
              <a:tblPr firstRow="1" bandRow="1">
                <a:tableStyleId>{16D9F66E-5EB9-4882-86FB-DCBF35E3C3E4}</a:tableStyleId>
              </a:tblPr>
              <a:tblGrid>
                <a:gridCol w="2580693">
                  <a:extLst>
                    <a:ext uri="{9D8B030D-6E8A-4147-A177-3AD203B41FA5}">
                      <a16:colId xmlns:a16="http://schemas.microsoft.com/office/drawing/2014/main" val="2368897965"/>
                    </a:ext>
                  </a:extLst>
                </a:gridCol>
                <a:gridCol w="2583986">
                  <a:extLst>
                    <a:ext uri="{9D8B030D-6E8A-4147-A177-3AD203B41FA5}">
                      <a16:colId xmlns:a16="http://schemas.microsoft.com/office/drawing/2014/main" val="3585052907"/>
                    </a:ext>
                  </a:extLst>
                </a:gridCol>
                <a:gridCol w="2583986">
                  <a:extLst>
                    <a:ext uri="{9D8B030D-6E8A-4147-A177-3AD203B41FA5}">
                      <a16:colId xmlns:a16="http://schemas.microsoft.com/office/drawing/2014/main" val="3724423508"/>
                    </a:ext>
                  </a:extLst>
                </a:gridCol>
              </a:tblGrid>
              <a:tr h="348431">
                <a:tc>
                  <a:txBody>
                    <a:bodyPr/>
                    <a:lstStyle/>
                    <a:p>
                      <a:endParaRPr lang="en-US" dirty="0"/>
                    </a:p>
                  </a:txBody>
                  <a:tcPr/>
                </a:tc>
                <a:tc>
                  <a:txBody>
                    <a:bodyPr/>
                    <a:lstStyle/>
                    <a:p>
                      <a:pPr algn="ctr"/>
                      <a:r>
                        <a:rPr lang="en-US" sz="1600" dirty="0"/>
                        <a:t>Preliminary</a:t>
                      </a:r>
                    </a:p>
                  </a:txBody>
                  <a:tcPr/>
                </a:tc>
                <a:tc>
                  <a:txBody>
                    <a:bodyPr/>
                    <a:lstStyle/>
                    <a:p>
                      <a:pPr algn="ctr"/>
                      <a:r>
                        <a:rPr lang="en-US" sz="1600" dirty="0"/>
                        <a:t>Detailed</a:t>
                      </a:r>
                    </a:p>
                  </a:txBody>
                  <a:tcPr/>
                </a:tc>
                <a:extLst>
                  <a:ext uri="{0D108BD9-81ED-4DB2-BD59-A6C34878D82A}">
                    <a16:rowId xmlns:a16="http://schemas.microsoft.com/office/drawing/2014/main" val="1619011143"/>
                  </a:ext>
                </a:extLst>
              </a:tr>
              <a:tr h="435539">
                <a:tc>
                  <a:txBody>
                    <a:bodyPr/>
                    <a:lstStyle/>
                    <a:p>
                      <a:pPr algn="ctr"/>
                      <a:r>
                        <a:rPr lang="en-US" sz="1200" b="1" dirty="0"/>
                        <a:t>Purpose</a:t>
                      </a:r>
                    </a:p>
                  </a:txBody>
                  <a:tcPr/>
                </a:tc>
                <a:tc>
                  <a:txBody>
                    <a:bodyPr/>
                    <a:lstStyle/>
                    <a:p>
                      <a:pPr algn="ctr"/>
                      <a:r>
                        <a:rPr lang="en-US" sz="1200" dirty="0"/>
                        <a:t>Minimal level of safety for expedient, limited-use occupancy</a:t>
                      </a:r>
                    </a:p>
                  </a:txBody>
                  <a:tcPr/>
                </a:tc>
                <a:tc>
                  <a:txBody>
                    <a:bodyPr/>
                    <a:lstStyle/>
                    <a:p>
                      <a:pPr algn="ctr"/>
                      <a:r>
                        <a:rPr lang="en-US" sz="1200" dirty="0"/>
                        <a:t>Moderate level of safety for broader-use occupancy</a:t>
                      </a:r>
                    </a:p>
                  </a:txBody>
                  <a:tcPr/>
                </a:tc>
                <a:extLst>
                  <a:ext uri="{0D108BD9-81ED-4DB2-BD59-A6C34878D82A}">
                    <a16:rowId xmlns:a16="http://schemas.microsoft.com/office/drawing/2014/main" val="1448229001"/>
                  </a:ext>
                </a:extLst>
              </a:tr>
              <a:tr h="609755">
                <a:tc>
                  <a:txBody>
                    <a:bodyPr/>
                    <a:lstStyle/>
                    <a:p>
                      <a:pPr algn="ctr"/>
                      <a:r>
                        <a:rPr lang="en-US" sz="1200" b="1" dirty="0"/>
                        <a:t>Focus</a:t>
                      </a:r>
                    </a:p>
                  </a:txBody>
                  <a:tcPr/>
                </a:tc>
                <a:tc>
                  <a:txBody>
                    <a:bodyPr/>
                    <a:lstStyle/>
                    <a:p>
                      <a:pPr algn="ctr"/>
                      <a:r>
                        <a:rPr lang="en-US" sz="1200" dirty="0"/>
                        <a:t>Extreme hazards posing imminent danger, less electrical and mechanical systems</a:t>
                      </a:r>
                    </a:p>
                  </a:txBody>
                  <a:tcPr/>
                </a:tc>
                <a:tc>
                  <a:txBody>
                    <a:bodyPr/>
                    <a:lstStyle/>
                    <a:p>
                      <a:pPr algn="ctr"/>
                      <a:r>
                        <a:rPr lang="en-US" sz="1200"/>
                        <a:t>Near-term risks to safety and health, including electrical and mechanical systems</a:t>
                      </a:r>
                      <a:endParaRPr lang="en-US" sz="1200" dirty="0"/>
                    </a:p>
                  </a:txBody>
                  <a:tcPr/>
                </a:tc>
                <a:extLst>
                  <a:ext uri="{0D108BD9-81ED-4DB2-BD59-A6C34878D82A}">
                    <a16:rowId xmlns:a16="http://schemas.microsoft.com/office/drawing/2014/main" val="955244236"/>
                  </a:ext>
                </a:extLst>
              </a:tr>
              <a:tr h="286480">
                <a:tc>
                  <a:txBody>
                    <a:bodyPr/>
                    <a:lstStyle/>
                    <a:p>
                      <a:pPr algn="ctr"/>
                      <a:r>
                        <a:rPr lang="en-US" sz="1200" b="1" dirty="0"/>
                        <a:t>Valid Period</a:t>
                      </a:r>
                    </a:p>
                  </a:txBody>
                  <a:tcPr/>
                </a:tc>
                <a:tc>
                  <a:txBody>
                    <a:bodyPr/>
                    <a:lstStyle/>
                    <a:p>
                      <a:pPr algn="ctr"/>
                      <a:r>
                        <a:rPr lang="en-US" sz="1200" dirty="0"/>
                        <a:t>90 days</a:t>
                      </a:r>
                    </a:p>
                  </a:txBody>
                  <a:tcPr/>
                </a:tc>
                <a:tc>
                  <a:txBody>
                    <a:bodyPr/>
                    <a:lstStyle/>
                    <a:p>
                      <a:pPr algn="ctr"/>
                      <a:r>
                        <a:rPr lang="en-US" sz="1200" dirty="0"/>
                        <a:t>5 years</a:t>
                      </a:r>
                    </a:p>
                  </a:txBody>
                  <a:tcPr/>
                </a:tc>
                <a:extLst>
                  <a:ext uri="{0D108BD9-81ED-4DB2-BD59-A6C34878D82A}">
                    <a16:rowId xmlns:a16="http://schemas.microsoft.com/office/drawing/2014/main" val="975163684"/>
                  </a:ext>
                </a:extLst>
              </a:tr>
            </a:tbl>
          </a:graphicData>
        </a:graphic>
      </p:graphicFrame>
    </p:spTree>
    <p:extLst>
      <p:ext uri="{BB962C8B-B14F-4D97-AF65-F5344CB8AC3E}">
        <p14:creationId xmlns:p14="http://schemas.microsoft.com/office/powerpoint/2010/main" val="962025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2EA8A-ED58-4F81-2E85-CB409EB90FC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5BCAC33-2C83-5A21-B435-C09CFC88D912}"/>
              </a:ext>
            </a:extLst>
          </p:cNvPr>
          <p:cNvSpPr>
            <a:spLocks noGrp="1"/>
          </p:cNvSpPr>
          <p:nvPr>
            <p:ph type="title"/>
          </p:nvPr>
        </p:nvSpPr>
        <p:spPr>
          <a:xfrm>
            <a:off x="594360" y="176346"/>
            <a:ext cx="10873740" cy="1680205"/>
          </a:xfrm>
        </p:spPr>
        <p:txBody>
          <a:bodyPr/>
          <a:lstStyle/>
          <a:p>
            <a:r>
              <a:rPr lang="en-US" dirty="0"/>
              <a:t>Program Overview</a:t>
            </a:r>
            <a:br>
              <a:rPr lang="en-US" dirty="0"/>
            </a:br>
            <a:r>
              <a:rPr lang="en-US" sz="3200" dirty="0"/>
              <a:t>Task Force SAFE / UFC </a:t>
            </a:r>
            <a:endParaRPr lang="en-US" sz="2800" dirty="0">
              <a:solidFill>
                <a:srgbClr val="00B050"/>
              </a:solidFill>
            </a:endParaRPr>
          </a:p>
        </p:txBody>
      </p:sp>
      <p:pic>
        <p:nvPicPr>
          <p:cNvPr id="4" name="Content Placeholder 3">
            <a:extLst>
              <a:ext uri="{FF2B5EF4-FFF2-40B4-BE49-F238E27FC236}">
                <a16:creationId xmlns:a16="http://schemas.microsoft.com/office/drawing/2014/main" id="{81946DCE-0B54-A37F-60DB-FEE20CF42F59}"/>
              </a:ext>
            </a:extLst>
          </p:cNvPr>
          <p:cNvPicPr>
            <a:picLocks noGrp="1" noChangeAspect="1"/>
          </p:cNvPicPr>
          <p:nvPr>
            <p:ph sz="quarter" idx="13"/>
          </p:nvPr>
        </p:nvPicPr>
        <p:blipFill>
          <a:blip r:embed="rId3"/>
          <a:stretch>
            <a:fillRect/>
          </a:stretch>
        </p:blipFill>
        <p:spPr>
          <a:xfrm>
            <a:off x="10404213" y="4760794"/>
            <a:ext cx="1633870" cy="2097206"/>
          </a:xfrm>
          <a:prstGeom prst="rect">
            <a:avLst/>
          </a:prstGeom>
        </p:spPr>
      </p:pic>
      <p:grpSp>
        <p:nvGrpSpPr>
          <p:cNvPr id="19" name="Group 18">
            <a:extLst>
              <a:ext uri="{FF2B5EF4-FFF2-40B4-BE49-F238E27FC236}">
                <a16:creationId xmlns:a16="http://schemas.microsoft.com/office/drawing/2014/main" id="{EF7CD226-02F1-117D-38A3-2140C506E5E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15DF625A-7BF0-1412-E92F-E2BD86CEB6A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0F7D8CB5-50E3-F903-8715-DD779443FD3D}"/>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17A8DCD-C616-A952-71BC-1628AABBE9B1}"/>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6BDE41DA-E813-AD98-8C3F-DBAB965968A3}"/>
              </a:ext>
            </a:extLst>
          </p:cNvPr>
          <p:cNvPicPr>
            <a:picLocks noChangeAspect="1"/>
          </p:cNvPicPr>
          <p:nvPr/>
        </p:nvPicPr>
        <p:blipFill>
          <a:blip r:embed="rId4"/>
          <a:stretch>
            <a:fillRect/>
          </a:stretch>
        </p:blipFill>
        <p:spPr>
          <a:xfrm>
            <a:off x="484177" y="102874"/>
            <a:ext cx="935653" cy="741145"/>
          </a:xfrm>
          <a:prstGeom prst="rect">
            <a:avLst/>
          </a:prstGeom>
        </p:spPr>
      </p:pic>
      <p:sp>
        <p:nvSpPr>
          <p:cNvPr id="5" name="Text Placeholder 6">
            <a:extLst>
              <a:ext uri="{FF2B5EF4-FFF2-40B4-BE49-F238E27FC236}">
                <a16:creationId xmlns:a16="http://schemas.microsoft.com/office/drawing/2014/main" id="{FAE84040-D8CE-6334-B568-77F00BBA0E2B}"/>
              </a:ext>
            </a:extLst>
          </p:cNvPr>
          <p:cNvSpPr txBox="1">
            <a:spLocks/>
          </p:cNvSpPr>
          <p:nvPr/>
        </p:nvSpPr>
        <p:spPr>
          <a:xfrm>
            <a:off x="1122257" y="2024509"/>
            <a:ext cx="9020810" cy="4657145"/>
          </a:xfrm>
          <a:prstGeom prst="rect">
            <a:avLst/>
          </a:prstGeom>
        </p:spPr>
        <p:txBody>
          <a:bodyPr vert="horz" lIns="0" tIns="228600" rIns="0" bIns="0" rtlCol="0">
            <a:normAutofit/>
          </a:bodyPr>
          <a:lstStyle>
            <a:lvl1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1pPr>
            <a:lvl2pPr marL="6858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11430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205740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900" b="1" dirty="0">
                <a:latin typeface="Aptos Display" panose="020B0004020202020204" pitchFamily="34" charset="0"/>
              </a:rPr>
              <a:t>Stake Holders</a:t>
            </a:r>
          </a:p>
          <a:p>
            <a:pPr lvl="1"/>
            <a:r>
              <a:rPr lang="en-US" sz="2600" b="1" dirty="0">
                <a:latin typeface="Aptos Display" panose="020B0004020202020204" pitchFamily="34" charset="0"/>
              </a:rPr>
              <a:t>Military Clients</a:t>
            </a:r>
          </a:p>
          <a:p>
            <a:pPr marL="859536" lvl="2" indent="0">
              <a:buNone/>
            </a:pPr>
            <a:r>
              <a:rPr lang="en-US" b="1" dirty="0">
                <a:latin typeface="Aptos Display" panose="020B0004020202020204" pitchFamily="34" charset="0"/>
              </a:rPr>
              <a:t>In order to provide the best service possible, the following actions can assist the Task Force SAFE team inspections efficiencies:</a:t>
            </a:r>
          </a:p>
          <a:p>
            <a:pPr lvl="2"/>
            <a:r>
              <a:rPr lang="en-US" dirty="0">
                <a:latin typeface="Aptos Display" panose="020B0004020202020204" pitchFamily="34" charset="0"/>
              </a:rPr>
              <a:t>Provide a single point of contact for TF SAFE / UFC to coordinate accordingly.</a:t>
            </a:r>
          </a:p>
          <a:p>
            <a:pPr lvl="2"/>
            <a:r>
              <a:rPr lang="en-US" dirty="0">
                <a:latin typeface="Aptos Display" panose="020B0004020202020204" pitchFamily="34" charset="0"/>
              </a:rPr>
              <a:t>Provide a list of facilities for inspection.</a:t>
            </a:r>
          </a:p>
          <a:p>
            <a:pPr lvl="2"/>
            <a:r>
              <a:rPr lang="en-US" dirty="0">
                <a:latin typeface="Aptos Display" panose="020B0004020202020204" pitchFamily="34" charset="0"/>
              </a:rPr>
              <a:t>Prioritize inspection and repair of facilities.</a:t>
            </a:r>
          </a:p>
          <a:p>
            <a:pPr lvl="2"/>
            <a:r>
              <a:rPr lang="en-US" dirty="0">
                <a:latin typeface="Aptos Display" panose="020B0004020202020204" pitchFamily="34" charset="0"/>
              </a:rPr>
              <a:t>Provide billeting for teams.</a:t>
            </a:r>
          </a:p>
          <a:p>
            <a:pPr lvl="2"/>
            <a:r>
              <a:rPr lang="en-US" dirty="0">
                <a:latin typeface="Aptos Display" panose="020B0004020202020204" pitchFamily="34" charset="0"/>
              </a:rPr>
              <a:t>Provide office space for our electricians</a:t>
            </a:r>
            <a:r>
              <a:rPr lang="en-US" b="1" dirty="0">
                <a:latin typeface="Aptos Display" panose="020B0004020202020204" pitchFamily="34" charset="0"/>
              </a:rPr>
              <a:t>.</a:t>
            </a:r>
          </a:p>
          <a:p>
            <a:pPr lvl="1"/>
            <a:endParaRPr lang="en-US" b="1" dirty="0"/>
          </a:p>
        </p:txBody>
      </p:sp>
    </p:spTree>
    <p:extLst>
      <p:ext uri="{BB962C8B-B14F-4D97-AF65-F5344CB8AC3E}">
        <p14:creationId xmlns:p14="http://schemas.microsoft.com/office/powerpoint/2010/main" val="994594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5662-8B83-5EB0-E883-AAC3EB0765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7E2E8E-D5AB-CB5E-6BF9-C7564B17ABF3}"/>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grpSp>
        <p:nvGrpSpPr>
          <p:cNvPr id="19" name="Group 18">
            <a:extLst>
              <a:ext uri="{FF2B5EF4-FFF2-40B4-BE49-F238E27FC236}">
                <a16:creationId xmlns:a16="http://schemas.microsoft.com/office/drawing/2014/main" id="{AD1356AC-8369-45C0-F875-0B9410D2EFD6}"/>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E61112ED-255C-1DDC-9014-1BF9E177E45A}"/>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DE65AA41-3FBD-704D-9F9E-BB404E3F586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C3CFB60-A7C4-A3E7-C7C8-9AE342663E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DDE67018-85F4-7DF9-52D8-6D31B606F99E}"/>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6A7A55D8-0E11-14B6-387D-886E3723B6EB}"/>
              </a:ext>
            </a:extLst>
          </p:cNvPr>
          <p:cNvPicPr>
            <a:picLocks noChangeAspect="1"/>
          </p:cNvPicPr>
          <p:nvPr/>
        </p:nvPicPr>
        <p:blipFill>
          <a:blip r:embed="rId4"/>
          <a:stretch>
            <a:fillRect/>
          </a:stretch>
        </p:blipFill>
        <p:spPr>
          <a:xfrm>
            <a:off x="10472561" y="4699081"/>
            <a:ext cx="1633870" cy="2097206"/>
          </a:xfrm>
          <a:prstGeom prst="rect">
            <a:avLst/>
          </a:prstGeom>
        </p:spPr>
      </p:pic>
      <p:grpSp>
        <p:nvGrpSpPr>
          <p:cNvPr id="5" name="Group 4">
            <a:extLst>
              <a:ext uri="{FF2B5EF4-FFF2-40B4-BE49-F238E27FC236}">
                <a16:creationId xmlns:a16="http://schemas.microsoft.com/office/drawing/2014/main" id="{0BB668E2-39D1-A487-D1D2-BD1AF42BAEE7}"/>
              </a:ext>
            </a:extLst>
          </p:cNvPr>
          <p:cNvGrpSpPr/>
          <p:nvPr/>
        </p:nvGrpSpPr>
        <p:grpSpPr>
          <a:xfrm>
            <a:off x="-1131659" y="1726793"/>
            <a:ext cx="11444059" cy="5131207"/>
            <a:chOff x="-1148593" y="1864208"/>
            <a:chExt cx="10750579" cy="4704132"/>
          </a:xfrm>
        </p:grpSpPr>
        <p:sp>
          <p:nvSpPr>
            <p:cNvPr id="17" name="CustomShape 1">
              <a:extLst>
                <a:ext uri="{FF2B5EF4-FFF2-40B4-BE49-F238E27FC236}">
                  <a16:creationId xmlns:a16="http://schemas.microsoft.com/office/drawing/2014/main" id="{73BA0E5D-B4B4-8950-5D9C-EDD3B07C6C73}"/>
                </a:ext>
              </a:extLst>
            </p:cNvPr>
            <p:cNvSpPr/>
            <p:nvPr/>
          </p:nvSpPr>
          <p:spPr bwMode="auto">
            <a:xfrm>
              <a:off x="248981" y="1944089"/>
              <a:ext cx="9353005" cy="4624251"/>
            </a:xfrm>
            <a:prstGeom prst="rect">
              <a:avLst/>
            </a:prstGeom>
            <a:blipFill>
              <a:blip r:embed="rId5"/>
              <a:stretch/>
            </a:blipFill>
            <a:ln w="0">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ea typeface="+mn-ea"/>
                  <a:cs typeface="+mn-cs"/>
                </a:rPr>
                <a:t> </a:t>
              </a:r>
              <a:endParaRPr kumimoji="0"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24" name="CustomShape 5">
              <a:extLst>
                <a:ext uri="{FF2B5EF4-FFF2-40B4-BE49-F238E27FC236}">
                  <a16:creationId xmlns:a16="http://schemas.microsoft.com/office/drawing/2014/main" id="{7EADB353-A0B1-293B-BC2C-04BB7F7979D8}"/>
                </a:ext>
              </a:extLst>
            </p:cNvPr>
            <p:cNvSpPr/>
            <p:nvPr/>
          </p:nvSpPr>
          <p:spPr bwMode="auto">
            <a:xfrm rot="12425489" flipV="1">
              <a:off x="4256672" y="3698222"/>
              <a:ext cx="1198950" cy="1437722"/>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aphicFrame>
          <p:nvGraphicFramePr>
            <p:cNvPr id="15" name="Table 6">
              <a:extLst>
                <a:ext uri="{FF2B5EF4-FFF2-40B4-BE49-F238E27FC236}">
                  <a16:creationId xmlns:a16="http://schemas.microsoft.com/office/drawing/2014/main" id="{9AA062AD-FD13-2DE7-5C05-96D0B6EC9114}"/>
                </a:ext>
              </a:extLst>
            </p:cNvPr>
            <p:cNvGraphicFramePr>
              <a:graphicFrameLocks/>
            </p:cNvGraphicFramePr>
            <p:nvPr>
              <p:extLst>
                <p:ext uri="{D42A27DB-BD31-4B8C-83A1-F6EECF244321}">
                  <p14:modId xmlns:p14="http://schemas.microsoft.com/office/powerpoint/2010/main" val="3011373196"/>
                </p:ext>
              </p:extLst>
            </p:nvPr>
          </p:nvGraphicFramePr>
          <p:xfrm>
            <a:off x="5552786" y="2726591"/>
            <a:ext cx="3742746" cy="1963381"/>
          </p:xfrm>
          <a:graphic>
            <a:graphicData uri="http://schemas.openxmlformats.org/drawingml/2006/table">
              <a:tbl>
                <a:tblPr/>
                <a:tblGrid>
                  <a:gridCol w="2998546">
                    <a:extLst>
                      <a:ext uri="{9D8B030D-6E8A-4147-A177-3AD203B41FA5}">
                        <a16:colId xmlns:a16="http://schemas.microsoft.com/office/drawing/2014/main" val="20000"/>
                      </a:ext>
                    </a:extLst>
                  </a:gridCol>
                  <a:gridCol w="985631">
                    <a:extLst>
                      <a:ext uri="{9D8B030D-6E8A-4147-A177-3AD203B41FA5}">
                        <a16:colId xmlns:a16="http://schemas.microsoft.com/office/drawing/2014/main" val="20001"/>
                      </a:ext>
                    </a:extLst>
                  </a:gridCol>
                </a:tblGrid>
                <a:tr h="373051">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Kuwait</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solidFill>
                    </a:tcPr>
                  </a:tc>
                  <a:tc hMerge="1">
                    <a:txBody>
                      <a:bodyPr/>
                      <a:lstStyle/>
                      <a:p>
                        <a:endParaRPr/>
                      </a:p>
                    </a:txBody>
                    <a:tcPr/>
                  </a:tc>
                  <a:extLst>
                    <a:ext uri="{0D108BD9-81ED-4DB2-BD59-A6C34878D82A}">
                      <a16:rowId xmlns:a16="http://schemas.microsoft.com/office/drawing/2014/main" val="10000"/>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Project Manager (PM)</a:t>
                        </a: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a:ea typeface="Calibri"/>
                          </a:rPr>
                          <a:t>1</a:t>
                        </a:r>
                        <a:endParaRPr lang="en-US" sz="1400" b="0" strike="noStrike" spc="-1" dirty="0">
                          <a:latin typeface="Arial"/>
                        </a:endParaRP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1"/>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90000"/>
                          </a:lnSpc>
                          <a:spcBef>
                            <a:spcPts val="18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Property Manager</a:t>
                        </a: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chemeClr val="bg1"/>
                            </a:solidFill>
                            <a:latin typeface="Calibri" panose="020F0502020204030204" pitchFamily="34" charset="0"/>
                            <a:ea typeface="Calibri" panose="020F0502020204030204" pitchFamily="34" charset="0"/>
                            <a:cs typeface="Calibri" panose="020F0502020204030204" pitchFamily="34" charset="0"/>
                          </a:rPr>
                          <a:t>1 </a:t>
                        </a:r>
                        <a:endParaRPr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3"/>
                    </a:ext>
                  </a:extLst>
                </a:tr>
                <a:tr h="353716">
                  <a:tc>
                    <a:txBody>
                      <a:bodyPr/>
                      <a:lstStyle/>
                      <a:p>
                        <a:pPr marL="0" marR="0" lvl="0" indent="0" algn="l" defTabSz="914400" rtl="0" eaLnBrk="1" fontAlgn="auto" latinLnBrk="0" hangingPunct="1">
                          <a:lnSpc>
                            <a:spcPct val="90000"/>
                          </a:lnSpc>
                          <a:spcBef>
                            <a:spcPts val="18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Site Safety and Health Officer (SSHO)</a:t>
                        </a:r>
                      </a:p>
                    </a:txBody>
                    <a:tcPr marL="90000" marR="45000">
                      <a:lnL w="12700" cmpd="sng">
                        <a:solidFill>
                          <a:prstClr val="black"/>
                        </a:solidFill>
                        <a:prstDash val="soli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p>
                        <a:pPr algn="ct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1</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ap="flat" cmpd="sng" algn="ctr">
                        <a:solidFill>
                          <a:prstClr val="black"/>
                        </a:solidFill>
                        <a:prstDash val="solid"/>
                        <a:round/>
                        <a:headEnd type="none" w="med" len="med"/>
                        <a:tailEnd type="none" w="med" len="med"/>
                      </a:lnL>
                      <a:lnR w="12700" cmpd="sng">
                        <a:solidFill>
                          <a:prstClr val="black"/>
                        </a:solidFill>
                        <a:prstDash val="solid"/>
                      </a:lnR>
                      <a:lnT w="12700" cap="flat" cmpd="sng" algn="ctr">
                        <a:solidFill>
                          <a:prstClr val="black"/>
                        </a:solidFill>
                        <a:prstDash val="solid"/>
                        <a:round/>
                        <a:headEnd type="none" w="med" len="med"/>
                        <a:tailEnd type="none" w="med" len="me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2682547191"/>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Materials Controls Supervisor</a:t>
                        </a: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dirty="0">
                            <a:solidFill>
                              <a:schemeClr val="bg1"/>
                            </a:solidFill>
                          </a:rPr>
                          <a:t>1</a:t>
                        </a:r>
                        <a:endParaRPr sz="1400" b="1"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2487285089"/>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0" dirty="0">
                            <a:solidFill>
                              <a:schemeClr val="bg1"/>
                            </a:solidFill>
                            <a:latin typeface="Calibri" panose="020F0502020204030204" pitchFamily="34" charset="0"/>
                            <a:ea typeface="Calibri" panose="020F0502020204030204" pitchFamily="34" charset="0"/>
                            <a:cs typeface="Calibri" panose="020F0502020204030204" pitchFamily="34" charset="0"/>
                          </a:rPr>
                          <a:t>Materials Controls Specialist</a:t>
                        </a: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0" dirty="0">
                            <a:solidFill>
                              <a:schemeClr val="bg1"/>
                            </a:solidFill>
                            <a:latin typeface="Calibri"/>
                          </a:rPr>
                          <a:t>1 </a:t>
                        </a:r>
                        <a:endParaRPr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5"/>
                    </a:ext>
                  </a:extLst>
                </a:tr>
              </a:tbl>
            </a:graphicData>
          </a:graphic>
        </p:graphicFrame>
        <p:sp>
          <p:nvSpPr>
            <p:cNvPr id="27" name="TextBox 26">
              <a:extLst>
                <a:ext uri="{FF2B5EF4-FFF2-40B4-BE49-F238E27FC236}">
                  <a16:creationId xmlns:a16="http://schemas.microsoft.com/office/drawing/2014/main" id="{ACA7E36E-D578-C97D-4767-DA352C286467}"/>
                </a:ext>
              </a:extLst>
            </p:cNvPr>
            <p:cNvSpPr txBox="1"/>
            <p:nvPr/>
          </p:nvSpPr>
          <p:spPr>
            <a:xfrm>
              <a:off x="-1148593" y="1864208"/>
              <a:ext cx="6096000" cy="1569660"/>
            </a:xfrm>
            <a:prstGeom prst="rect">
              <a:avLst/>
            </a:prstGeom>
            <a:noFill/>
          </p:spPr>
          <p:txBody>
            <a:bodyPr wrap="square" spcCol="457200">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Task Force SAFE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Current Team Locations</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2400" b="1" spc="-1" dirty="0">
                  <a:solidFill>
                    <a:srgbClr val="000000"/>
                  </a:solidFill>
                  <a:latin typeface="Calibri"/>
                  <a:ea typeface="Calibri"/>
                </a:rPr>
                <a:t>In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CENTCOM</a:t>
              </a:r>
              <a:endParaRPr kumimoji="0" lang="en-US" sz="2400" b="0" i="0" u="none" strike="noStrike" kern="1200" cap="none" spc="-1" normalizeH="0" baseline="0" noProof="0" dirty="0">
                <a:ln>
                  <a:noFill/>
                </a:ln>
                <a:solidFill>
                  <a:prstClr val="black"/>
                </a:solidFill>
                <a:effectLst/>
                <a:uLnTx/>
                <a:uFillTx/>
                <a:latin typeface="Arial"/>
                <a:ea typeface="+mn-ea"/>
                <a:cs typeface="+mn-cs"/>
              </a:endParaRPr>
            </a:p>
          </p:txBody>
        </p:sp>
        <p:sp>
          <p:nvSpPr>
            <p:cNvPr id="8" name="TextBox 7">
              <a:extLst>
                <a:ext uri="{FF2B5EF4-FFF2-40B4-BE49-F238E27FC236}">
                  <a16:creationId xmlns:a16="http://schemas.microsoft.com/office/drawing/2014/main" id="{29992D3B-1FEA-2D47-7F07-0558ACC17209}"/>
                </a:ext>
              </a:extLst>
            </p:cNvPr>
            <p:cNvSpPr txBox="1"/>
            <p:nvPr/>
          </p:nvSpPr>
          <p:spPr>
            <a:xfrm>
              <a:off x="5552786" y="4845498"/>
              <a:ext cx="3984177" cy="1600438"/>
            </a:xfrm>
            <a:prstGeom prst="rect">
              <a:avLst/>
            </a:prstGeom>
            <a:solidFill>
              <a:schemeClr val="tx1">
                <a:lumMod val="95000"/>
              </a:schemeClr>
            </a:solidFill>
          </p:spPr>
          <p:txBody>
            <a:bodyPr wrap="square">
              <a:spAutoFit/>
            </a:bodyPr>
            <a:lstStyle/>
            <a:p>
              <a:pPr marL="402336" marR="0" lvl="1" algn="l" defTabSz="914400" rtl="0" eaLnBrk="1" fontAlgn="auto" latinLnBrk="0" hangingPunct="1">
                <a:spcBef>
                  <a:spcPts val="1800"/>
                </a:spcBef>
                <a:spcAft>
                  <a:spcPts val="0"/>
                </a:spcAft>
                <a:buClrTx/>
                <a:buSzTx/>
                <a:tabLst/>
                <a:defRPr/>
              </a:pPr>
              <a:r>
                <a:rPr lang="en-US" sz="1600" b="1" dirty="0">
                  <a:solidFill>
                    <a:schemeClr val="bg1"/>
                  </a:solidFill>
                  <a:latin typeface="Calibri" panose="020F0502020204030204" pitchFamily="34" charset="0"/>
                  <a:ea typeface="Calibri" panose="020F0502020204030204" pitchFamily="34" charset="0"/>
                  <a:cs typeface="Calibri" panose="020F0502020204030204" pitchFamily="34" charset="0"/>
                </a:rPr>
                <a:t>Note:</a:t>
              </a:r>
              <a:r>
                <a:rPr kumimoji="0" lang="en-US" sz="1600"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 </a:t>
              </a:r>
            </a:p>
            <a:p>
              <a:pPr marL="685800" marR="0" lvl="1" indent="-283464" algn="l" defTabSz="914400" rtl="0" eaLnBrk="1" fontAlgn="auto" latinLnBrk="0" hangingPunct="1">
                <a:spcBef>
                  <a:spcPts val="600"/>
                </a:spcBef>
                <a:spcAft>
                  <a:spcPts val="0"/>
                </a:spcAft>
                <a:buClrTx/>
                <a:buSzPct val="90000"/>
                <a:buFont typeface="Arial" panose="020B0604020202020204" pitchFamily="34" charset="0"/>
                <a:buChar char="•"/>
                <a:tabLst/>
                <a:defRPr/>
              </a:pPr>
              <a:r>
                <a:rPr kumimoji="0" lang="en-US" sz="1600"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Program Director / Manager (PD / PGM) is a remote position in US.</a:t>
              </a:r>
            </a:p>
            <a:p>
              <a:pPr marL="685800" marR="0" lvl="1" indent="-283464" algn="l" defTabSz="914400" rtl="0" eaLnBrk="1" fontAlgn="auto" latinLnBrk="0" hangingPunct="1">
                <a:spcBef>
                  <a:spcPts val="60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Quality Assurance / Control Manager position is remote in the UK along with the QA/QC team.</a:t>
              </a:r>
            </a:p>
          </p:txBody>
        </p:sp>
        <p:sp>
          <p:nvSpPr>
            <p:cNvPr id="9" name="TextBox 8">
              <a:extLst>
                <a:ext uri="{FF2B5EF4-FFF2-40B4-BE49-F238E27FC236}">
                  <a16:creationId xmlns:a16="http://schemas.microsoft.com/office/drawing/2014/main" id="{7285EC97-BE31-7935-386E-FA7CA6187AD6}"/>
                </a:ext>
              </a:extLst>
            </p:cNvPr>
            <p:cNvSpPr txBox="1"/>
            <p:nvPr/>
          </p:nvSpPr>
          <p:spPr>
            <a:xfrm>
              <a:off x="6096000" y="2223507"/>
              <a:ext cx="2902067" cy="369332"/>
            </a:xfrm>
            <a:prstGeom prst="rect">
              <a:avLst/>
            </a:prstGeom>
            <a:solidFill>
              <a:schemeClr val="tx1">
                <a:lumMod val="95000"/>
              </a:schemeClr>
            </a:solidFill>
          </p:spPr>
          <p:txBody>
            <a:bodyPr wrap="square">
              <a:spAutoFit/>
            </a:bodyPr>
            <a:lstStyle/>
            <a:p>
              <a:r>
                <a:rPr lang="en-US" b="1" dirty="0">
                  <a:solidFill>
                    <a:schemeClr val="bg1"/>
                  </a:solidFill>
                </a:rPr>
                <a:t>Contractual Requirements</a:t>
              </a:r>
            </a:p>
          </p:txBody>
        </p:sp>
        <p:sp>
          <p:nvSpPr>
            <p:cNvPr id="7" name="CustomShape 5">
              <a:extLst>
                <a:ext uri="{FF2B5EF4-FFF2-40B4-BE49-F238E27FC236}">
                  <a16:creationId xmlns:a16="http://schemas.microsoft.com/office/drawing/2014/main" id="{1D5CCD50-2AEF-9753-1DB2-FA35816FA1F6}"/>
                </a:ext>
              </a:extLst>
            </p:cNvPr>
            <p:cNvSpPr/>
            <p:nvPr/>
          </p:nvSpPr>
          <p:spPr bwMode="auto">
            <a:xfrm flipV="1">
              <a:off x="1453781" y="4699081"/>
              <a:ext cx="972686" cy="1093686"/>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aphicFrame>
          <p:nvGraphicFramePr>
            <p:cNvPr id="14" name="Table 8">
              <a:extLst>
                <a:ext uri="{FF2B5EF4-FFF2-40B4-BE49-F238E27FC236}">
                  <a16:creationId xmlns:a16="http://schemas.microsoft.com/office/drawing/2014/main" id="{A8EFCDBC-6222-718D-6B10-0BFC9AE57E39}"/>
                </a:ext>
              </a:extLst>
            </p:cNvPr>
            <p:cNvGraphicFramePr>
              <a:graphicFrameLocks/>
            </p:cNvGraphicFramePr>
            <p:nvPr>
              <p:extLst>
                <p:ext uri="{D42A27DB-BD31-4B8C-83A1-F6EECF244321}">
                  <p14:modId xmlns:p14="http://schemas.microsoft.com/office/powerpoint/2010/main" val="1752180653"/>
                </p:ext>
              </p:extLst>
            </p:nvPr>
          </p:nvGraphicFramePr>
          <p:xfrm>
            <a:off x="366695" y="5414126"/>
            <a:ext cx="3002977" cy="1051054"/>
          </p:xfrm>
          <a:graphic>
            <a:graphicData uri="http://schemas.openxmlformats.org/drawingml/2006/table">
              <a:tbl>
                <a:tblPr/>
                <a:tblGrid>
                  <a:gridCol w="2583077">
                    <a:extLst>
                      <a:ext uri="{9D8B030D-6E8A-4147-A177-3AD203B41FA5}">
                        <a16:colId xmlns:a16="http://schemas.microsoft.com/office/drawing/2014/main" val="20000"/>
                      </a:ext>
                    </a:extLst>
                  </a:gridCol>
                  <a:gridCol w="613611">
                    <a:extLst>
                      <a:ext uri="{9D8B030D-6E8A-4147-A177-3AD203B41FA5}">
                        <a16:colId xmlns:a16="http://schemas.microsoft.com/office/drawing/2014/main" val="20001"/>
                      </a:ext>
                    </a:extLst>
                  </a:gridCol>
                </a:tblGrid>
                <a:tr h="446400">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JORDAN </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4F81BD"/>
                      </a:solidFill>
                    </a:tcPr>
                  </a:tc>
                  <a:tc hMerge="1">
                    <a:txBody>
                      <a:bodyPr/>
                      <a:lstStyle/>
                      <a:p>
                        <a:endParaRPr/>
                      </a:p>
                    </a:txBody>
                    <a:tcPr/>
                  </a:tc>
                  <a:extLst>
                    <a:ext uri="{0D108BD9-81ED-4DB2-BD59-A6C34878D82A}">
                      <a16:rowId xmlns:a16="http://schemas.microsoft.com/office/drawing/2014/main" val="10000"/>
                    </a:ext>
                  </a:extLst>
                </a:tr>
                <a:tr h="35003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90000"/>
                          </a:lnSpc>
                          <a:spcBef>
                            <a:spcPts val="18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Area of Operations Lead (AOL)</a:t>
                        </a: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solidFill>
                        <a:srgbClr val="D0D8E7"/>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1</a:t>
                        </a:r>
                        <a:endParaRPr lang="en-US" sz="1400" b="0" strike="noStrike" spc="-1" dirty="0">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solidFill>
                        <a:srgbClr val="D0D8E7"/>
                      </a:solidFill>
                    </a:tcPr>
                  </a:tc>
                  <a:extLst>
                    <a:ext uri="{0D108BD9-81ED-4DB2-BD59-A6C34878D82A}">
                      <a16:rowId xmlns:a16="http://schemas.microsoft.com/office/drawing/2014/main" val="10001"/>
                    </a:ext>
                  </a:extLst>
                </a:tr>
                <a:tr h="350038">
                  <a:tc>
                    <a:txBody>
                      <a:bodyPr/>
                      <a:lstStyle/>
                      <a:p>
                        <a:pPr marL="0" marR="0" lvl="0" indent="0" algn="l" defTabSz="914400" rtl="0" eaLnBrk="1" fontAlgn="auto" latinLnBrk="0" hangingPunct="1">
                          <a:lnSpc>
                            <a:spcPct val="90000"/>
                          </a:lnSpc>
                          <a:spcBef>
                            <a:spcPts val="18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Field Office Administrator (FOA)</a:t>
                        </a:r>
                      </a:p>
                    </a:txBody>
                    <a:tcPr marL="90000" marR="45000">
                      <a:lnL w="12700" cmpd="sng">
                        <a:solidFill>
                          <a:prstClr val="black"/>
                        </a:solidFill>
                        <a:prstDash val="solid"/>
                      </a:lnL>
                      <a:lnR w="12700" cap="flat" cmpd="sng" algn="ctr">
                        <a:solidFill>
                          <a:prstClr val="black"/>
                        </a:solidFill>
                        <a:prstDash val="solid"/>
                        <a:round/>
                        <a:headEnd type="none" w="med" len="med"/>
                        <a:tailEnd type="none" w="med" len="me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0D8E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1400" b="1" i="0" u="none" strike="noStrike" kern="1200" cap="none" spc="-1"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1</a:t>
                        </a:r>
                        <a:endParaRPr kumimoji="0" lang="en-US" sz="1400" b="0" i="0" u="none" strike="noStrike" kern="1200" cap="none" spc="-1"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endParaRPr>
                      </a:p>
                    </a:txBody>
                    <a:tcPr marL="90000" marR="45000">
                      <a:lnL w="12700" cap="flat" cmpd="sng" algn="ctr">
                        <a:solidFill>
                          <a:prstClr val="black"/>
                        </a:solidFill>
                        <a:prstDash val="solid"/>
                        <a:round/>
                        <a:headEnd type="none" w="med" len="med"/>
                        <a:tailEnd type="none" w="med" len="me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0D8E7"/>
                      </a:solidFill>
                    </a:tcPr>
                  </a:tc>
                  <a:extLst>
                    <a:ext uri="{0D108BD9-81ED-4DB2-BD59-A6C34878D82A}">
                      <a16:rowId xmlns:a16="http://schemas.microsoft.com/office/drawing/2014/main" val="978716799"/>
                    </a:ext>
                  </a:extLst>
                </a:tr>
              </a:tbl>
            </a:graphicData>
          </a:graphic>
        </p:graphicFrame>
      </p:grpSp>
    </p:spTree>
    <p:extLst>
      <p:ext uri="{BB962C8B-B14F-4D97-AF65-F5344CB8AC3E}">
        <p14:creationId xmlns:p14="http://schemas.microsoft.com/office/powerpoint/2010/main" val="2866107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07E6E-9ED3-B986-F9E5-72863D156B5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0FBECE2-9491-7246-9E7F-86C2FFF82B8A}"/>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sp>
        <p:nvSpPr>
          <p:cNvPr id="7" name="Text Placeholder 6">
            <a:extLst>
              <a:ext uri="{FF2B5EF4-FFF2-40B4-BE49-F238E27FC236}">
                <a16:creationId xmlns:a16="http://schemas.microsoft.com/office/drawing/2014/main" id="{6671313D-257D-65D7-DE58-DAAF5DBC0344}"/>
              </a:ext>
            </a:extLst>
          </p:cNvPr>
          <p:cNvSpPr>
            <a:spLocks noGrp="1"/>
          </p:cNvSpPr>
          <p:nvPr>
            <p:ph sz="quarter" idx="13"/>
          </p:nvPr>
        </p:nvSpPr>
        <p:spPr>
          <a:xfrm>
            <a:off x="1325461" y="2117449"/>
            <a:ext cx="9078752" cy="4580536"/>
          </a:xfrm>
        </p:spPr>
        <p:txBody>
          <a:bodyPr>
            <a:normAutofit/>
          </a:bodyPr>
          <a:lstStyle/>
          <a:p>
            <a:pPr lvl="1"/>
            <a:r>
              <a:rPr lang="en-US" sz="2400" dirty="0"/>
              <a:t>The responsibility begins with the Program Director /Manager and the Project Management Office (PMO) staff.</a:t>
            </a:r>
          </a:p>
          <a:p>
            <a:pPr lvl="1"/>
            <a:r>
              <a:rPr lang="en-US" sz="2400" dirty="0"/>
              <a:t>The Project Manager (PM) will be the most visible to the customer /client and is the face of the program. The PM roles and responsibilities are clearly defined in details.</a:t>
            </a:r>
          </a:p>
          <a:p>
            <a:pPr lvl="1"/>
            <a:r>
              <a:rPr lang="en-US" sz="2400" dirty="0"/>
              <a:t>There is no ambiguity as to what staff member does what and to whom they report to.</a:t>
            </a:r>
          </a:p>
          <a:p>
            <a:pPr lvl="1"/>
            <a:r>
              <a:rPr lang="en-US" sz="2400" dirty="0"/>
              <a:t>PMO staff members are located at offices in Kuwait and Jordan, and the Program Director/Manager is in the USA</a:t>
            </a:r>
            <a:r>
              <a:rPr lang="en-US" dirty="0"/>
              <a:t>.</a:t>
            </a:r>
          </a:p>
          <a:p>
            <a:endParaRPr lang="en-US" dirty="0"/>
          </a:p>
        </p:txBody>
      </p:sp>
      <p:grpSp>
        <p:nvGrpSpPr>
          <p:cNvPr id="19" name="Group 18">
            <a:extLst>
              <a:ext uri="{FF2B5EF4-FFF2-40B4-BE49-F238E27FC236}">
                <a16:creationId xmlns:a16="http://schemas.microsoft.com/office/drawing/2014/main" id="{21EE7421-BA31-26D0-39A7-05FB0E6EA12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8AB5B2D6-F314-EDFF-654E-C1FF3A6567D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75335FC6-0B09-F951-6158-0F41742EB42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EC297E94-1C21-57BB-4564-4E8BDC41877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EAB94C04-B6DD-417E-1AAB-EE779AEEBCD2}"/>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203D35BD-53ED-3FA6-B392-CC8084899573}"/>
              </a:ext>
            </a:extLst>
          </p:cNvPr>
          <p:cNvPicPr>
            <a:picLocks noChangeAspect="1"/>
          </p:cNvPicPr>
          <p:nvPr/>
        </p:nvPicPr>
        <p:blipFill>
          <a:blip r:embed="rId4"/>
          <a:stretch>
            <a:fillRect/>
          </a:stretch>
        </p:blipFill>
        <p:spPr>
          <a:xfrm>
            <a:off x="10404213" y="4655851"/>
            <a:ext cx="1633870" cy="2097206"/>
          </a:xfrm>
          <a:prstGeom prst="rect">
            <a:avLst/>
          </a:prstGeom>
        </p:spPr>
      </p:pic>
    </p:spTree>
    <p:extLst>
      <p:ext uri="{BB962C8B-B14F-4D97-AF65-F5344CB8AC3E}">
        <p14:creationId xmlns:p14="http://schemas.microsoft.com/office/powerpoint/2010/main" val="4056457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3E25-F1EF-B7B9-3FA5-FFF7A6EFB93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BFB8DF5-BA6F-10DC-578D-986F52FFDF97}"/>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grpSp>
        <p:nvGrpSpPr>
          <p:cNvPr id="19" name="Group 18">
            <a:extLst>
              <a:ext uri="{FF2B5EF4-FFF2-40B4-BE49-F238E27FC236}">
                <a16:creationId xmlns:a16="http://schemas.microsoft.com/office/drawing/2014/main" id="{5FEF5BDD-EBD1-D11F-2F1F-BCAB7EEB3883}"/>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35127093-4F27-B0FD-63E6-B3B85DC0E57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06F5C92-404A-3514-519B-E8DF81001896}"/>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D03D4083-4CDA-3BD1-E073-3AEDBFFDAD9B}"/>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4B4279DB-6C21-4222-C162-83CD8027BF0E}"/>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D69490CA-78DC-1FEC-8163-8C0AA006EF4D}"/>
              </a:ext>
            </a:extLst>
          </p:cNvPr>
          <p:cNvPicPr>
            <a:picLocks noChangeAspect="1"/>
          </p:cNvPicPr>
          <p:nvPr/>
        </p:nvPicPr>
        <p:blipFill>
          <a:blip r:embed="rId4"/>
          <a:stretch>
            <a:fillRect/>
          </a:stretch>
        </p:blipFill>
        <p:spPr>
          <a:xfrm>
            <a:off x="9834230" y="4565332"/>
            <a:ext cx="1633870" cy="2097206"/>
          </a:xfrm>
          <a:prstGeom prst="rect">
            <a:avLst/>
          </a:prstGeom>
        </p:spPr>
      </p:pic>
      <p:graphicFrame>
        <p:nvGraphicFramePr>
          <p:cNvPr id="8" name="Content Placeholder 7">
            <a:extLst>
              <a:ext uri="{FF2B5EF4-FFF2-40B4-BE49-F238E27FC236}">
                <a16:creationId xmlns:a16="http://schemas.microsoft.com/office/drawing/2014/main" id="{7EB1EC9F-E763-ECB5-3041-D8DCD2CD41E9}"/>
              </a:ext>
            </a:extLst>
          </p:cNvPr>
          <p:cNvGraphicFramePr>
            <a:graphicFrameLocks noGrp="1"/>
          </p:cNvGraphicFramePr>
          <p:nvPr>
            <p:ph sz="quarter" idx="13"/>
            <p:extLst>
              <p:ext uri="{D42A27DB-BD31-4B8C-83A1-F6EECF244321}">
                <p14:modId xmlns:p14="http://schemas.microsoft.com/office/powerpoint/2010/main" val="2367773942"/>
              </p:ext>
            </p:extLst>
          </p:nvPr>
        </p:nvGraphicFramePr>
        <p:xfrm>
          <a:off x="1216550" y="1932166"/>
          <a:ext cx="7810500" cy="473037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Rectangle 9">
            <a:extLst>
              <a:ext uri="{FF2B5EF4-FFF2-40B4-BE49-F238E27FC236}">
                <a16:creationId xmlns:a16="http://schemas.microsoft.com/office/drawing/2014/main" id="{E73E35C3-07CF-D755-FD9F-0360AE242ACD}"/>
              </a:ext>
            </a:extLst>
          </p:cNvPr>
          <p:cNvSpPr/>
          <p:nvPr/>
        </p:nvSpPr>
        <p:spPr>
          <a:xfrm>
            <a:off x="4469519" y="6550175"/>
            <a:ext cx="1304561" cy="261448"/>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PMO Staff</a:t>
            </a:r>
          </a:p>
        </p:txBody>
      </p:sp>
    </p:spTree>
    <p:extLst>
      <p:ext uri="{BB962C8B-B14F-4D97-AF65-F5344CB8AC3E}">
        <p14:creationId xmlns:p14="http://schemas.microsoft.com/office/powerpoint/2010/main" val="1033133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757D5-166E-A43D-C557-B676232ACB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D5E8B9-EEF6-FBDA-9BDE-5E1DA7F67CB3}"/>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grpSp>
        <p:nvGrpSpPr>
          <p:cNvPr id="19" name="Group 18">
            <a:extLst>
              <a:ext uri="{FF2B5EF4-FFF2-40B4-BE49-F238E27FC236}">
                <a16:creationId xmlns:a16="http://schemas.microsoft.com/office/drawing/2014/main" id="{9D2971E1-143D-888A-AD4A-B9A891367333}"/>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8B276AAC-B9D8-6EF6-DF9D-B0930C4C59E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D5EC85CD-D248-9CCC-6776-138306253988}"/>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071853AD-E5F3-2814-0EBA-A3B2A2EFCC4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1EF69BB0-0F28-1388-EDB2-45198E022ECB}"/>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BC3331BB-B154-CDB7-6D04-FBD38770BD19}"/>
              </a:ext>
            </a:extLst>
          </p:cNvPr>
          <p:cNvPicPr>
            <a:picLocks noChangeAspect="1"/>
          </p:cNvPicPr>
          <p:nvPr/>
        </p:nvPicPr>
        <p:blipFill>
          <a:blip r:embed="rId4"/>
          <a:stretch>
            <a:fillRect/>
          </a:stretch>
        </p:blipFill>
        <p:spPr>
          <a:xfrm>
            <a:off x="10404213" y="4760794"/>
            <a:ext cx="1633870" cy="2097206"/>
          </a:xfrm>
          <a:prstGeom prst="rect">
            <a:avLst/>
          </a:prstGeom>
        </p:spPr>
      </p:pic>
      <p:sp>
        <p:nvSpPr>
          <p:cNvPr id="6" name="Content Placeholder 5">
            <a:extLst>
              <a:ext uri="{FF2B5EF4-FFF2-40B4-BE49-F238E27FC236}">
                <a16:creationId xmlns:a16="http://schemas.microsoft.com/office/drawing/2014/main" id="{45D2D521-4F8A-3738-8BE7-7379EDA3D4BF}"/>
              </a:ext>
            </a:extLst>
          </p:cNvPr>
          <p:cNvSpPr>
            <a:spLocks noGrp="1"/>
          </p:cNvSpPr>
          <p:nvPr>
            <p:ph sz="quarter" idx="13"/>
          </p:nvPr>
        </p:nvSpPr>
        <p:spPr>
          <a:xfrm>
            <a:off x="1178739" y="2142223"/>
            <a:ext cx="8896593" cy="3699328"/>
          </a:xfrm>
        </p:spPr>
        <p:txBody>
          <a:bodyPr>
            <a:noAutofit/>
          </a:bodyPr>
          <a:lstStyle/>
          <a:p>
            <a:pPr marL="0" indent="0">
              <a:buNone/>
            </a:pPr>
            <a:r>
              <a:rPr lang="en-US" sz="2400" b="1" dirty="0">
                <a:latin typeface="Aptos Display" panose="020B0004020202020204" pitchFamily="34" charset="0"/>
              </a:rPr>
              <a:t>Program Director / Manager (PD / PGM)</a:t>
            </a:r>
          </a:p>
          <a:p>
            <a:pPr lvl="1"/>
            <a:r>
              <a:rPr lang="en-US" sz="2400" dirty="0">
                <a:latin typeface="Aptos Display" panose="020B0004020202020204" pitchFamily="34" charset="0"/>
              </a:rPr>
              <a:t>Provides single POC coordination for stateside-required logistics/administrative support; ensures sufficient resources are available (staff/equipment) to support ongoing tasks.</a:t>
            </a:r>
          </a:p>
          <a:p>
            <a:pPr marL="0" indent="0">
              <a:buNone/>
            </a:pPr>
            <a:r>
              <a:rPr lang="en-US" sz="2400" b="1" dirty="0">
                <a:latin typeface="Aptos Display" panose="020B0004020202020204" pitchFamily="34" charset="0"/>
              </a:rPr>
              <a:t>Project Manager (PM)</a:t>
            </a:r>
          </a:p>
          <a:p>
            <a:pPr lvl="1"/>
            <a:r>
              <a:rPr lang="en-US" sz="2400" dirty="0">
                <a:latin typeface="Aptos Display" panose="020B0004020202020204" pitchFamily="34" charset="0"/>
              </a:rPr>
              <a:t>Provides overall management and addresses contracting issues</a:t>
            </a:r>
          </a:p>
          <a:p>
            <a:pPr lvl="1"/>
            <a:r>
              <a:rPr lang="en-US" sz="2400" dirty="0">
                <a:latin typeface="Aptos Display" panose="020B0004020202020204" pitchFamily="34" charset="0"/>
              </a:rPr>
              <a:t>Coordinates inspection activities with CEHNC, confirms priorities, schedules and directs/coordinates resources to meet demands across the CENTCOM AOR</a:t>
            </a:r>
          </a:p>
        </p:txBody>
      </p:sp>
    </p:spTree>
    <p:extLst>
      <p:ext uri="{BB962C8B-B14F-4D97-AF65-F5344CB8AC3E}">
        <p14:creationId xmlns:p14="http://schemas.microsoft.com/office/powerpoint/2010/main" val="2920430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02748-E82F-04C9-21D4-3533208808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E063A4-027F-1725-EED3-F03B02B815C4}"/>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grpSp>
        <p:nvGrpSpPr>
          <p:cNvPr id="19" name="Group 18">
            <a:extLst>
              <a:ext uri="{FF2B5EF4-FFF2-40B4-BE49-F238E27FC236}">
                <a16:creationId xmlns:a16="http://schemas.microsoft.com/office/drawing/2014/main" id="{7E8058F5-0DE3-D6D7-53EB-769FEB1CB9FF}"/>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012E26FA-E209-E14F-6314-26AC7876FBF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3A3D4905-1F5B-667A-27E3-0C2406DCBCC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986A8663-397D-97FD-C3CE-E1D1D9D0A3A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48021D96-1CD8-44FC-CE1F-F6EE69F0BEB1}"/>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512BF9BD-951D-85C9-7ADE-B4EB153B228E}"/>
              </a:ext>
            </a:extLst>
          </p:cNvPr>
          <p:cNvPicPr>
            <a:picLocks noChangeAspect="1"/>
          </p:cNvPicPr>
          <p:nvPr/>
        </p:nvPicPr>
        <p:blipFill>
          <a:blip r:embed="rId4"/>
          <a:stretch>
            <a:fillRect/>
          </a:stretch>
        </p:blipFill>
        <p:spPr>
          <a:xfrm>
            <a:off x="9834230" y="4565332"/>
            <a:ext cx="1633870" cy="2097206"/>
          </a:xfrm>
          <a:prstGeom prst="rect">
            <a:avLst/>
          </a:prstGeom>
        </p:spPr>
      </p:pic>
      <p:sp>
        <p:nvSpPr>
          <p:cNvPr id="6" name="Content Placeholder 5">
            <a:extLst>
              <a:ext uri="{FF2B5EF4-FFF2-40B4-BE49-F238E27FC236}">
                <a16:creationId xmlns:a16="http://schemas.microsoft.com/office/drawing/2014/main" id="{0AA74F77-7257-BCC1-1BF2-7D2D2D5F153C}"/>
              </a:ext>
            </a:extLst>
          </p:cNvPr>
          <p:cNvSpPr>
            <a:spLocks noGrp="1"/>
          </p:cNvSpPr>
          <p:nvPr>
            <p:ph sz="quarter" idx="13"/>
          </p:nvPr>
        </p:nvSpPr>
        <p:spPr>
          <a:xfrm>
            <a:off x="1236905" y="2142223"/>
            <a:ext cx="8347362" cy="3699328"/>
          </a:xfrm>
        </p:spPr>
        <p:txBody>
          <a:bodyPr>
            <a:noAutofit/>
          </a:bodyPr>
          <a:lstStyle/>
          <a:p>
            <a:pPr marL="0" indent="0">
              <a:buNone/>
            </a:pPr>
            <a:r>
              <a:rPr lang="en-US" sz="2400" b="1" dirty="0">
                <a:latin typeface="Aptos Display" panose="020B0004020202020204" pitchFamily="34" charset="0"/>
              </a:rPr>
              <a:t>Area of Operations Electrical Lead (AOL)</a:t>
            </a:r>
          </a:p>
          <a:p>
            <a:pPr lvl="1"/>
            <a:r>
              <a:rPr lang="en-US" sz="2400" dirty="0">
                <a:latin typeface="Aptos Display" panose="020B0004020202020204" pitchFamily="34" charset="0"/>
              </a:rPr>
              <a:t>Directs/coordinates electrical teams to efficiently perform tasks through-out CENTCOM and at outlying bases.</a:t>
            </a:r>
          </a:p>
          <a:p>
            <a:pPr marL="0" indent="0">
              <a:buNone/>
            </a:pPr>
            <a:r>
              <a:rPr lang="en-US" sz="2400" b="1" dirty="0">
                <a:latin typeface="Aptos Display" panose="020B0004020202020204" pitchFamily="34" charset="0"/>
              </a:rPr>
              <a:t>Quality Assurance / Control Manager </a:t>
            </a:r>
          </a:p>
          <a:p>
            <a:pPr lvl="1"/>
            <a:r>
              <a:rPr lang="en-US" sz="2400" dirty="0">
                <a:latin typeface="Aptos Display" panose="020B0004020202020204" pitchFamily="34" charset="0"/>
              </a:rPr>
              <a:t>Provides overall quality management, including training, auditing, corrective actions, and continuous improvement.</a:t>
            </a:r>
          </a:p>
          <a:p>
            <a:pPr lvl="1"/>
            <a:r>
              <a:rPr lang="en-US" sz="2400" dirty="0">
                <a:latin typeface="Aptos Display" panose="020B0004020202020204" pitchFamily="34" charset="0"/>
              </a:rPr>
              <a:t>Updates repor1ing templates, distributes reports to CEHNC through REDi.</a:t>
            </a:r>
          </a:p>
          <a:p>
            <a:pPr lvl="1"/>
            <a:r>
              <a:rPr lang="en-US" sz="2400" dirty="0">
                <a:latin typeface="Aptos Display" panose="020B0004020202020204" pitchFamily="34" charset="0"/>
              </a:rPr>
              <a:t>Responsible for Quality Specialists working remotely in the UK.</a:t>
            </a:r>
          </a:p>
        </p:txBody>
      </p:sp>
    </p:spTree>
    <p:extLst>
      <p:ext uri="{BB962C8B-B14F-4D97-AF65-F5344CB8AC3E}">
        <p14:creationId xmlns:p14="http://schemas.microsoft.com/office/powerpoint/2010/main" val="3905569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0EDE8-4A36-663C-D71F-10293162FB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04C035-9251-DB7A-4AD3-47C1F0E842AD}"/>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grpSp>
        <p:nvGrpSpPr>
          <p:cNvPr id="19" name="Group 18">
            <a:extLst>
              <a:ext uri="{FF2B5EF4-FFF2-40B4-BE49-F238E27FC236}">
                <a16:creationId xmlns:a16="http://schemas.microsoft.com/office/drawing/2014/main" id="{69DCAC46-2381-A407-3028-75D82A900663}"/>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B98A36C6-8966-B9DA-964B-F9D7317F9F56}"/>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510DF79-8669-2FAD-483B-A21C120709B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59908E3E-0F5E-77B9-C027-A2532835254C}"/>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4BE472E7-AFA5-B41F-E4EB-A86386E2BDD2}"/>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521106CB-E139-6C45-57E7-744657318E76}"/>
              </a:ext>
            </a:extLst>
          </p:cNvPr>
          <p:cNvPicPr>
            <a:picLocks noChangeAspect="1"/>
          </p:cNvPicPr>
          <p:nvPr/>
        </p:nvPicPr>
        <p:blipFill>
          <a:blip r:embed="rId4"/>
          <a:stretch>
            <a:fillRect/>
          </a:stretch>
        </p:blipFill>
        <p:spPr>
          <a:xfrm>
            <a:off x="10404213" y="4657919"/>
            <a:ext cx="1633870" cy="2097206"/>
          </a:xfrm>
          <a:prstGeom prst="rect">
            <a:avLst/>
          </a:prstGeom>
        </p:spPr>
      </p:pic>
      <p:sp>
        <p:nvSpPr>
          <p:cNvPr id="6" name="Content Placeholder 5">
            <a:extLst>
              <a:ext uri="{FF2B5EF4-FFF2-40B4-BE49-F238E27FC236}">
                <a16:creationId xmlns:a16="http://schemas.microsoft.com/office/drawing/2014/main" id="{45EDE3C3-CBF1-FF7C-1DB2-71529977A366}"/>
              </a:ext>
            </a:extLst>
          </p:cNvPr>
          <p:cNvSpPr>
            <a:spLocks noGrp="1"/>
          </p:cNvSpPr>
          <p:nvPr>
            <p:ph sz="quarter" idx="13"/>
          </p:nvPr>
        </p:nvSpPr>
        <p:spPr>
          <a:xfrm>
            <a:off x="968353" y="2050468"/>
            <a:ext cx="9327113" cy="3699328"/>
          </a:xfrm>
        </p:spPr>
        <p:txBody>
          <a:bodyPr>
            <a:noAutofit/>
          </a:bodyPr>
          <a:lstStyle/>
          <a:p>
            <a:pPr marL="0" indent="0">
              <a:buNone/>
            </a:pPr>
            <a:r>
              <a:rPr lang="en-US" sz="2400" b="1" dirty="0">
                <a:latin typeface="Aptos Display" panose="020B0004020202020204" pitchFamily="34" charset="0"/>
              </a:rPr>
              <a:t>Property Manager</a:t>
            </a:r>
          </a:p>
          <a:p>
            <a:pPr lvl="1"/>
            <a:r>
              <a:rPr lang="en-US" sz="2400" dirty="0">
                <a:latin typeface="Aptos Display" panose="020B0004020202020204" pitchFamily="34" charset="0"/>
              </a:rPr>
              <a:t>Maintains up-to-date Government property records/documentation and tracks/accounts for all GP/CAP inventory.</a:t>
            </a:r>
          </a:p>
          <a:p>
            <a:pPr marL="0" indent="0">
              <a:buNone/>
            </a:pPr>
            <a:r>
              <a:rPr lang="en-US" sz="2400" b="1" dirty="0">
                <a:latin typeface="Aptos Display" panose="020B0004020202020204" pitchFamily="34" charset="0"/>
              </a:rPr>
              <a:t>Materials Controls Supervisor</a:t>
            </a:r>
          </a:p>
          <a:p>
            <a:pPr lvl="1"/>
            <a:r>
              <a:rPr lang="en-US" sz="2400" dirty="0">
                <a:latin typeface="Aptos Display" panose="020B0004020202020204" pitchFamily="34" charset="0"/>
              </a:rPr>
              <a:t>Perform management and operation of the EBOM containers.</a:t>
            </a:r>
          </a:p>
          <a:p>
            <a:pPr lvl="1"/>
            <a:r>
              <a:rPr lang="en-US" sz="2400" dirty="0">
                <a:latin typeface="Aptos Display" panose="020B0004020202020204" pitchFamily="34" charset="0"/>
              </a:rPr>
              <a:t>Warehousing, logistics, shipping, and materials management.</a:t>
            </a:r>
          </a:p>
          <a:p>
            <a:pPr marL="0" marR="0" lvl="0" indent="0" algn="l" defTabSz="914400" rtl="0" eaLnBrk="1" fontAlgn="auto" latinLnBrk="0" hangingPunct="1">
              <a:lnSpc>
                <a:spcPct val="90000"/>
              </a:lnSpc>
              <a:spcBef>
                <a:spcPts val="1800"/>
              </a:spcBef>
              <a:spcAft>
                <a:spcPts val="0"/>
              </a:spcAft>
              <a:buClrTx/>
              <a:buSzTx/>
              <a:buNone/>
              <a:tabLst/>
              <a:defRPr/>
            </a:pPr>
            <a:r>
              <a:rPr kumimoji="0" lang="en-US" sz="2400" b="1" i="0" u="none" strike="noStrike" kern="1200" cap="none" spc="0" normalizeH="0" baseline="0" noProof="0" dirty="0">
                <a:ln>
                  <a:noFill/>
                </a:ln>
                <a:solidFill>
                  <a:srgbClr val="000000"/>
                </a:solidFill>
                <a:effectLst/>
                <a:uLnTx/>
                <a:uFillTx/>
                <a:latin typeface="Aptos Display" panose="020B0004020202020204" pitchFamily="34" charset="0"/>
              </a:rPr>
              <a:t>Materials Controls Specialist</a:t>
            </a:r>
          </a:p>
          <a:p>
            <a:pPr lvl="1">
              <a:defRPr/>
            </a:pPr>
            <a:r>
              <a:rPr lang="en-US" sz="2400" dirty="0">
                <a:latin typeface="Aptos Display" panose="020B0004020202020204" pitchFamily="34" charset="0"/>
              </a:rPr>
              <a:t>Assist the Materials Control Supervisor with warehousing, EBOM management, and operating heavy equipment.</a:t>
            </a:r>
          </a:p>
        </p:txBody>
      </p:sp>
    </p:spTree>
    <p:extLst>
      <p:ext uri="{BB962C8B-B14F-4D97-AF65-F5344CB8AC3E}">
        <p14:creationId xmlns:p14="http://schemas.microsoft.com/office/powerpoint/2010/main" val="2564349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DC888-B140-B9EB-935A-6A5839D588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BBA11A-24CF-458F-4A84-4CF3A3A10B3E}"/>
              </a:ext>
            </a:extLst>
          </p:cNvPr>
          <p:cNvSpPr>
            <a:spLocks noGrp="1"/>
          </p:cNvSpPr>
          <p:nvPr>
            <p:ph type="title"/>
          </p:nvPr>
        </p:nvSpPr>
        <p:spPr>
          <a:xfrm>
            <a:off x="594360" y="102875"/>
            <a:ext cx="10873740" cy="1680205"/>
          </a:xfrm>
        </p:spPr>
        <p:txBody>
          <a:bodyPr/>
          <a:lstStyle/>
          <a:p>
            <a:r>
              <a:rPr lang="en-US" dirty="0"/>
              <a:t>Program Operations - Management</a:t>
            </a:r>
            <a:br>
              <a:rPr lang="en-US" dirty="0"/>
            </a:br>
            <a:r>
              <a:rPr lang="en-US" sz="3200" dirty="0"/>
              <a:t>Task Force SAFE / UFC</a:t>
            </a:r>
          </a:p>
        </p:txBody>
      </p:sp>
      <p:grpSp>
        <p:nvGrpSpPr>
          <p:cNvPr id="19" name="Group 18">
            <a:extLst>
              <a:ext uri="{FF2B5EF4-FFF2-40B4-BE49-F238E27FC236}">
                <a16:creationId xmlns:a16="http://schemas.microsoft.com/office/drawing/2014/main" id="{C2DA8E6F-8361-2171-1FD1-0DBDB2A7F015}"/>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5D30CE90-C580-5C23-D2D6-E417D77E7FAC}"/>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FBCFC75C-C891-FE96-D589-B8A23C88FBD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030DEB2D-2009-E6DF-54D1-15221D44945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E0C14346-2F59-7A69-43D9-943CE3560028}"/>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15539EED-A85E-90BC-4C60-F5A0E90A0F8F}"/>
              </a:ext>
            </a:extLst>
          </p:cNvPr>
          <p:cNvPicPr>
            <a:picLocks noChangeAspect="1"/>
          </p:cNvPicPr>
          <p:nvPr/>
        </p:nvPicPr>
        <p:blipFill>
          <a:blip r:embed="rId4"/>
          <a:stretch>
            <a:fillRect/>
          </a:stretch>
        </p:blipFill>
        <p:spPr>
          <a:xfrm>
            <a:off x="9834230" y="4565332"/>
            <a:ext cx="1633870" cy="2097206"/>
          </a:xfrm>
          <a:prstGeom prst="rect">
            <a:avLst/>
          </a:prstGeom>
        </p:spPr>
      </p:pic>
      <p:sp>
        <p:nvSpPr>
          <p:cNvPr id="6" name="Content Placeholder 5">
            <a:extLst>
              <a:ext uri="{FF2B5EF4-FFF2-40B4-BE49-F238E27FC236}">
                <a16:creationId xmlns:a16="http://schemas.microsoft.com/office/drawing/2014/main" id="{A1847909-0837-8018-E394-6121EBC8A99F}"/>
              </a:ext>
            </a:extLst>
          </p:cNvPr>
          <p:cNvSpPr>
            <a:spLocks noGrp="1"/>
          </p:cNvSpPr>
          <p:nvPr>
            <p:ph sz="quarter" idx="13"/>
          </p:nvPr>
        </p:nvSpPr>
        <p:spPr>
          <a:xfrm>
            <a:off x="968354" y="2050467"/>
            <a:ext cx="7810500" cy="3699328"/>
          </a:xfrm>
        </p:spPr>
        <p:txBody>
          <a:bodyPr>
            <a:normAutofit/>
          </a:bodyPr>
          <a:lstStyle/>
          <a:p>
            <a:pPr marL="0" indent="0">
              <a:buNone/>
            </a:pPr>
            <a:r>
              <a:rPr lang="en-US" sz="2400" b="1" dirty="0">
                <a:latin typeface="Aptos Display" panose="020B0004020202020204" pitchFamily="34" charset="0"/>
              </a:rPr>
              <a:t>Site Safety and Health Officer (SSHO)</a:t>
            </a:r>
          </a:p>
          <a:p>
            <a:pPr lvl="1"/>
            <a:r>
              <a:rPr lang="en-US" sz="2400" dirty="0">
                <a:latin typeface="Aptos Display" panose="020B0004020202020204" pitchFamily="34" charset="0"/>
              </a:rPr>
              <a:t>Ensures all work is performed safely IA W TF SAFE AAP/ SSHP, AHAs, and SOPs; enforces safe work practices</a:t>
            </a:r>
          </a:p>
          <a:p>
            <a:pPr lvl="1"/>
            <a:r>
              <a:rPr lang="en-US" sz="2400" dirty="0">
                <a:latin typeface="Aptos Display" panose="020B0004020202020204" pitchFamily="34" charset="0"/>
              </a:rPr>
              <a:t>Ensures work is performed IA W USA CE EM 385-1-1.</a:t>
            </a:r>
          </a:p>
          <a:p>
            <a:pPr marL="0" indent="0">
              <a:buNone/>
            </a:pPr>
            <a:r>
              <a:rPr lang="en-US" sz="2400" b="1" dirty="0">
                <a:latin typeface="Aptos Display" panose="020B0004020202020204" pitchFamily="34" charset="0"/>
              </a:rPr>
              <a:t>Field Office Administrator (FOA)</a:t>
            </a:r>
          </a:p>
          <a:p>
            <a:pPr lvl="1"/>
            <a:r>
              <a:rPr lang="en-US" sz="2400" dirty="0">
                <a:latin typeface="Aptos Display" panose="020B0004020202020204" pitchFamily="34" charset="0"/>
              </a:rPr>
              <a:t>Provide overall daily suppor1 and general office support to the PMO.</a:t>
            </a:r>
          </a:p>
        </p:txBody>
      </p:sp>
    </p:spTree>
    <p:extLst>
      <p:ext uri="{BB962C8B-B14F-4D97-AF65-F5344CB8AC3E}">
        <p14:creationId xmlns:p14="http://schemas.microsoft.com/office/powerpoint/2010/main" val="2157401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E84E-128E-CE8B-215D-A4C0802B166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EBC1AD3-BE66-0AB6-3B4E-4FAF829B1ADB}"/>
              </a:ext>
            </a:extLst>
          </p:cNvPr>
          <p:cNvSpPr>
            <a:spLocks noGrp="1"/>
          </p:cNvSpPr>
          <p:nvPr>
            <p:ph type="title"/>
          </p:nvPr>
        </p:nvSpPr>
        <p:spPr>
          <a:xfrm>
            <a:off x="594360" y="102875"/>
            <a:ext cx="10873740" cy="1680205"/>
          </a:xfrm>
        </p:spPr>
        <p:txBody>
          <a:bodyPr/>
          <a:lstStyle/>
          <a:p>
            <a:r>
              <a:rPr lang="en-US" dirty="0"/>
              <a:t>Program Operations – Electricians</a:t>
            </a:r>
            <a:br>
              <a:rPr lang="en-US" dirty="0"/>
            </a:br>
            <a:r>
              <a:rPr lang="en-US" sz="3200" dirty="0"/>
              <a:t>Task Force SAFE / UFC</a:t>
            </a:r>
          </a:p>
        </p:txBody>
      </p:sp>
      <p:grpSp>
        <p:nvGrpSpPr>
          <p:cNvPr id="19" name="Group 18">
            <a:extLst>
              <a:ext uri="{FF2B5EF4-FFF2-40B4-BE49-F238E27FC236}">
                <a16:creationId xmlns:a16="http://schemas.microsoft.com/office/drawing/2014/main" id="{00E05F50-DB91-DC15-FF0B-A8E7E00E6125}"/>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2DD69D9-F9EA-F44C-60D3-D45E2BB18B1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B0182893-E9C8-50BA-6665-BA4FED1FBF0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CFC50005-5503-0F55-DD22-1D583475DA8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CA40AA70-C430-04FC-B99C-AB8855D0B2D8}"/>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715DF5B6-804E-700B-8BE2-51331FDCCE5C}"/>
              </a:ext>
            </a:extLst>
          </p:cNvPr>
          <p:cNvPicPr>
            <a:picLocks noChangeAspect="1"/>
          </p:cNvPicPr>
          <p:nvPr/>
        </p:nvPicPr>
        <p:blipFill>
          <a:blip r:embed="rId4"/>
          <a:stretch>
            <a:fillRect/>
          </a:stretch>
        </p:blipFill>
        <p:spPr>
          <a:xfrm>
            <a:off x="10522594" y="4644866"/>
            <a:ext cx="1633870" cy="2097206"/>
          </a:xfrm>
          <a:prstGeom prst="rect">
            <a:avLst/>
          </a:prstGeom>
        </p:spPr>
      </p:pic>
      <p:grpSp>
        <p:nvGrpSpPr>
          <p:cNvPr id="7" name="Group 6">
            <a:extLst>
              <a:ext uri="{FF2B5EF4-FFF2-40B4-BE49-F238E27FC236}">
                <a16:creationId xmlns:a16="http://schemas.microsoft.com/office/drawing/2014/main" id="{C522A213-CE86-DC98-664C-D3789BE077D9}"/>
              </a:ext>
            </a:extLst>
          </p:cNvPr>
          <p:cNvGrpSpPr/>
          <p:nvPr/>
        </p:nvGrpSpPr>
        <p:grpSpPr>
          <a:xfrm>
            <a:off x="-1371600" y="1832261"/>
            <a:ext cx="11700933" cy="4909811"/>
            <a:chOff x="-1030060" y="1832261"/>
            <a:chExt cx="10893484" cy="4693346"/>
          </a:xfrm>
        </p:grpSpPr>
        <p:grpSp>
          <p:nvGrpSpPr>
            <p:cNvPr id="6" name="Group 5">
              <a:extLst>
                <a:ext uri="{FF2B5EF4-FFF2-40B4-BE49-F238E27FC236}">
                  <a16:creationId xmlns:a16="http://schemas.microsoft.com/office/drawing/2014/main" id="{4A33E4E5-ABB1-7C63-9FFE-FE7E9D54C3D7}"/>
                </a:ext>
              </a:extLst>
            </p:cNvPr>
            <p:cNvGrpSpPr/>
            <p:nvPr/>
          </p:nvGrpSpPr>
          <p:grpSpPr>
            <a:xfrm>
              <a:off x="-1030060" y="1832261"/>
              <a:ext cx="10893484" cy="4693346"/>
              <a:chOff x="-1148593" y="1864208"/>
              <a:chExt cx="10893484" cy="4693346"/>
            </a:xfrm>
          </p:grpSpPr>
          <p:grpSp>
            <p:nvGrpSpPr>
              <p:cNvPr id="5" name="Group 4">
                <a:extLst>
                  <a:ext uri="{FF2B5EF4-FFF2-40B4-BE49-F238E27FC236}">
                    <a16:creationId xmlns:a16="http://schemas.microsoft.com/office/drawing/2014/main" id="{B90A3493-87BD-76C5-9FA8-44346C246E33}"/>
                  </a:ext>
                </a:extLst>
              </p:cNvPr>
              <p:cNvGrpSpPr/>
              <p:nvPr/>
            </p:nvGrpSpPr>
            <p:grpSpPr>
              <a:xfrm>
                <a:off x="-1148593" y="1864208"/>
                <a:ext cx="10893484" cy="4693346"/>
                <a:chOff x="-1148593" y="1864208"/>
                <a:chExt cx="10893484" cy="4693346"/>
              </a:xfrm>
            </p:grpSpPr>
            <p:grpSp>
              <p:nvGrpSpPr>
                <p:cNvPr id="10" name="Group 9">
                  <a:extLst>
                    <a:ext uri="{FF2B5EF4-FFF2-40B4-BE49-F238E27FC236}">
                      <a16:creationId xmlns:a16="http://schemas.microsoft.com/office/drawing/2014/main" id="{84A76C9C-E843-9F26-E1EF-DED69B1688AC}"/>
                    </a:ext>
                  </a:extLst>
                </p:cNvPr>
                <p:cNvGrpSpPr/>
                <p:nvPr/>
              </p:nvGrpSpPr>
              <p:grpSpPr>
                <a:xfrm>
                  <a:off x="391886" y="1933303"/>
                  <a:ext cx="9353005" cy="4624251"/>
                  <a:chOff x="0" y="-70211"/>
                  <a:chExt cx="12343440" cy="6925884"/>
                </a:xfrm>
              </p:grpSpPr>
              <p:grpSp>
                <p:nvGrpSpPr>
                  <p:cNvPr id="11" name="Group 10">
                    <a:extLst>
                      <a:ext uri="{FF2B5EF4-FFF2-40B4-BE49-F238E27FC236}">
                        <a16:creationId xmlns:a16="http://schemas.microsoft.com/office/drawing/2014/main" id="{43016D27-5F5B-EBDE-C16B-4B4B5D6569AD}"/>
                      </a:ext>
                    </a:extLst>
                  </p:cNvPr>
                  <p:cNvGrpSpPr/>
                  <p:nvPr/>
                </p:nvGrpSpPr>
                <p:grpSpPr>
                  <a:xfrm>
                    <a:off x="0" y="-70211"/>
                    <a:ext cx="12343440" cy="6925884"/>
                    <a:chOff x="0" y="-1685"/>
                    <a:chExt cx="12343440" cy="6925884"/>
                  </a:xfrm>
                </p:grpSpPr>
                <p:sp>
                  <p:nvSpPr>
                    <p:cNvPr id="17" name="CustomShape 1">
                      <a:extLst>
                        <a:ext uri="{FF2B5EF4-FFF2-40B4-BE49-F238E27FC236}">
                          <a16:creationId xmlns:a16="http://schemas.microsoft.com/office/drawing/2014/main" id="{58177ACD-681A-1369-EF82-D9206D842514}"/>
                        </a:ext>
                      </a:extLst>
                    </p:cNvPr>
                    <p:cNvSpPr/>
                    <p:nvPr/>
                  </p:nvSpPr>
                  <p:spPr bwMode="auto">
                    <a:xfrm>
                      <a:off x="0" y="-1685"/>
                      <a:ext cx="12343440" cy="6925884"/>
                    </a:xfrm>
                    <a:prstGeom prst="rect">
                      <a:avLst/>
                    </a:prstGeom>
                    <a:blipFill>
                      <a:blip r:embed="rId5"/>
                      <a:stretch/>
                    </a:blipFill>
                    <a:ln w="0">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ea typeface="+mn-ea"/>
                          <a:cs typeface="+mn-cs"/>
                        </a:rPr>
                        <a:t> </a:t>
                      </a:r>
                      <a:endParaRPr kumimoji="0"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18" name="CustomShape 4">
                      <a:extLst>
                        <a:ext uri="{FF2B5EF4-FFF2-40B4-BE49-F238E27FC236}">
                          <a16:creationId xmlns:a16="http://schemas.microsoft.com/office/drawing/2014/main" id="{1EA3F80A-FEB5-610A-FE03-2962354CB252}"/>
                        </a:ext>
                      </a:extLst>
                    </p:cNvPr>
                    <p:cNvSpPr/>
                    <p:nvPr/>
                  </p:nvSpPr>
                  <p:spPr bwMode="auto">
                    <a:xfrm rot="16022567">
                      <a:off x="1149068" y="4206828"/>
                      <a:ext cx="1833161" cy="1378548"/>
                    </a:xfrm>
                    <a:custGeom>
                      <a:avLst/>
                      <a:gdLst/>
                      <a:ahLst/>
                      <a:cxnLst/>
                      <a:rect l="l" t="t" r="r" b="b"/>
                      <a:pathLst>
                        <a:path w="744855" h="788670" extrusionOk="0">
                          <a:moveTo>
                            <a:pt x="0" y="0"/>
                          </a:moveTo>
                          <a:lnTo>
                            <a:pt x="744855" y="78867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3" name="CustomShape 5">
                      <a:extLst>
                        <a:ext uri="{FF2B5EF4-FFF2-40B4-BE49-F238E27FC236}">
                          <a16:creationId xmlns:a16="http://schemas.microsoft.com/office/drawing/2014/main" id="{C4CA694D-4C4D-1B6C-F4A6-22D9BA05CEF7}"/>
                        </a:ext>
                      </a:extLst>
                    </p:cNvPr>
                    <p:cNvSpPr/>
                    <p:nvPr/>
                  </p:nvSpPr>
                  <p:spPr bwMode="auto">
                    <a:xfrm flipH="1" flipV="1">
                      <a:off x="4158965" y="3953876"/>
                      <a:ext cx="1070331" cy="1897941"/>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4" name="CustomShape 5">
                      <a:extLst>
                        <a:ext uri="{FF2B5EF4-FFF2-40B4-BE49-F238E27FC236}">
                          <a16:creationId xmlns:a16="http://schemas.microsoft.com/office/drawing/2014/main" id="{2E65CCF2-5E74-6DDC-A12C-46D75D560F9F}"/>
                        </a:ext>
                      </a:extLst>
                    </p:cNvPr>
                    <p:cNvSpPr/>
                    <p:nvPr/>
                  </p:nvSpPr>
                  <p:spPr bwMode="auto">
                    <a:xfrm rot="12425489" flipV="1">
                      <a:off x="3597954" y="2096501"/>
                      <a:ext cx="3404588" cy="2147417"/>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5" name="CustomShape 4">
                      <a:extLst>
                        <a:ext uri="{FF2B5EF4-FFF2-40B4-BE49-F238E27FC236}">
                          <a16:creationId xmlns:a16="http://schemas.microsoft.com/office/drawing/2014/main" id="{B3D0BD13-C250-B081-7912-E1EC3BD1EDFC}"/>
                        </a:ext>
                      </a:extLst>
                    </p:cNvPr>
                    <p:cNvSpPr/>
                    <p:nvPr/>
                  </p:nvSpPr>
                  <p:spPr bwMode="auto">
                    <a:xfrm rot="10282189">
                      <a:off x="4979804" y="3941156"/>
                      <a:ext cx="3520496" cy="2223010"/>
                    </a:xfrm>
                    <a:custGeom>
                      <a:avLst/>
                      <a:gdLst/>
                      <a:ahLst/>
                      <a:cxnLst/>
                      <a:rect l="l" t="t" r="r" b="b"/>
                      <a:pathLst>
                        <a:path w="744855" h="788670" extrusionOk="0">
                          <a:moveTo>
                            <a:pt x="0" y="0"/>
                          </a:moveTo>
                          <a:lnTo>
                            <a:pt x="744855" y="78867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pSp>
                <p:nvGrpSpPr>
                  <p:cNvPr id="12" name="Group 11">
                    <a:extLst>
                      <a:ext uri="{FF2B5EF4-FFF2-40B4-BE49-F238E27FC236}">
                        <a16:creationId xmlns:a16="http://schemas.microsoft.com/office/drawing/2014/main" id="{5EFE5EA1-D9C0-A5E3-85F0-EFF101E1B809}"/>
                      </a:ext>
                    </a:extLst>
                  </p:cNvPr>
                  <p:cNvGrpSpPr/>
                  <p:nvPr/>
                </p:nvGrpSpPr>
                <p:grpSpPr>
                  <a:xfrm>
                    <a:off x="109199" y="1313165"/>
                    <a:ext cx="11837470" cy="5421591"/>
                    <a:chOff x="109199" y="1313165"/>
                    <a:chExt cx="11837470" cy="5421591"/>
                  </a:xfrm>
                </p:grpSpPr>
                <p:graphicFrame>
                  <p:nvGraphicFramePr>
                    <p:cNvPr id="13" name="Table 6">
                      <a:extLst>
                        <a:ext uri="{FF2B5EF4-FFF2-40B4-BE49-F238E27FC236}">
                          <a16:creationId xmlns:a16="http://schemas.microsoft.com/office/drawing/2014/main" id="{66BE10B8-FB8F-F05C-7099-0C4C87DB6FAA}"/>
                        </a:ext>
                      </a:extLst>
                    </p:cNvPr>
                    <p:cNvGraphicFramePr>
                      <a:graphicFrameLocks/>
                    </p:cNvGraphicFramePr>
                    <p:nvPr>
                      <p:extLst>
                        <p:ext uri="{D42A27DB-BD31-4B8C-83A1-F6EECF244321}">
                          <p14:modId xmlns:p14="http://schemas.microsoft.com/office/powerpoint/2010/main" val="4052011649"/>
                        </p:ext>
                      </p:extLst>
                    </p:nvPr>
                  </p:nvGraphicFramePr>
                  <p:xfrm>
                    <a:off x="4310936" y="5592724"/>
                    <a:ext cx="3159472" cy="1140259"/>
                  </p:xfrm>
                  <a:graphic>
                    <a:graphicData uri="http://schemas.openxmlformats.org/drawingml/2006/table">
                      <a:tbl>
                        <a:tblPr/>
                        <a:tblGrid>
                          <a:gridCol w="1485000">
                            <a:extLst>
                              <a:ext uri="{9D8B030D-6E8A-4147-A177-3AD203B41FA5}">
                                <a16:colId xmlns:a16="http://schemas.microsoft.com/office/drawing/2014/main" val="20000"/>
                              </a:ext>
                            </a:extLst>
                          </a:gridCol>
                          <a:gridCol w="1086480">
                            <a:extLst>
                              <a:ext uri="{9D8B030D-6E8A-4147-A177-3AD203B41FA5}">
                                <a16:colId xmlns:a16="http://schemas.microsoft.com/office/drawing/2014/main" val="20001"/>
                              </a:ext>
                            </a:extLst>
                          </a:gridCol>
                        </a:tblGrid>
                        <a:tr h="408813">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IRAQ</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solidFill>
                            </a:tcPr>
                          </a:tc>
                          <a:tc hMerge="1">
                            <a:txBody>
                              <a:bodyPr/>
                              <a:lstStyle/>
                              <a:p>
                                <a:endParaRPr/>
                              </a:p>
                            </a:txBody>
                            <a:tcPr/>
                          </a:tc>
                          <a:extLst>
                            <a:ext uri="{0D108BD9-81ED-4DB2-BD59-A6C34878D82A}">
                              <a16:rowId xmlns:a16="http://schemas.microsoft.com/office/drawing/2014/main" val="10000"/>
                            </a:ext>
                          </a:extLst>
                        </a:tr>
                        <a:tr h="387625">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a:solidFill>
                                      <a:srgbClr val="000000"/>
                                    </a:solidFill>
                                    <a:latin typeface="Calibri"/>
                                    <a:ea typeface="Calibri"/>
                                  </a:rPr>
                                  <a:t>Erbil</a:t>
                                </a:r>
                                <a:endParaRPr lang="en-US" sz="14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a:ea typeface="Calibri"/>
                                  </a:rPr>
                                  <a:t>2 Team</a:t>
                                </a:r>
                                <a:endParaRPr lang="en-US" sz="14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2"/>
                            </a:ext>
                          </a:extLst>
                        </a:tr>
                      </a:tbl>
                    </a:graphicData>
                  </a:graphic>
                </p:graphicFrame>
                <p:graphicFrame>
                  <p:nvGraphicFramePr>
                    <p:cNvPr id="14" name="Table 8">
                      <a:extLst>
                        <a:ext uri="{FF2B5EF4-FFF2-40B4-BE49-F238E27FC236}">
                          <a16:creationId xmlns:a16="http://schemas.microsoft.com/office/drawing/2014/main" id="{56300845-864B-9342-2AA9-7E5162B94423}"/>
                        </a:ext>
                      </a:extLst>
                    </p:cNvPr>
                    <p:cNvGraphicFramePr>
                      <a:graphicFrameLocks/>
                    </p:cNvGraphicFramePr>
                    <p:nvPr>
                      <p:extLst>
                        <p:ext uri="{D42A27DB-BD31-4B8C-83A1-F6EECF244321}">
                          <p14:modId xmlns:p14="http://schemas.microsoft.com/office/powerpoint/2010/main" val="2937882840"/>
                        </p:ext>
                      </p:extLst>
                    </p:nvPr>
                  </p:nvGraphicFramePr>
                  <p:xfrm>
                    <a:off x="109199" y="5589426"/>
                    <a:ext cx="3624144" cy="1140259"/>
                  </p:xfrm>
                  <a:graphic>
                    <a:graphicData uri="http://schemas.openxmlformats.org/drawingml/2006/table">
                      <a:tbl>
                        <a:tblPr/>
                        <a:tblGrid>
                          <a:gridCol w="1842985">
                            <a:extLst>
                              <a:ext uri="{9D8B030D-6E8A-4147-A177-3AD203B41FA5}">
                                <a16:colId xmlns:a16="http://schemas.microsoft.com/office/drawing/2014/main" val="20000"/>
                              </a:ext>
                            </a:extLst>
                          </a:gridCol>
                          <a:gridCol w="1106689">
                            <a:extLst>
                              <a:ext uri="{9D8B030D-6E8A-4147-A177-3AD203B41FA5}">
                                <a16:colId xmlns:a16="http://schemas.microsoft.com/office/drawing/2014/main" val="20001"/>
                              </a:ext>
                            </a:extLst>
                          </a:gridCol>
                        </a:tblGrid>
                        <a:tr h="446400">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JORDAN </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4F81BD"/>
                              </a:solidFill>
                            </a:tcPr>
                          </a:tc>
                          <a:tc hMerge="1">
                            <a:txBody>
                              <a:bodyPr/>
                              <a:lstStyle/>
                              <a:p>
                                <a:endParaRPr/>
                              </a:p>
                            </a:txBody>
                            <a:tcPr/>
                          </a:tc>
                          <a:extLst>
                            <a:ext uri="{0D108BD9-81ED-4DB2-BD59-A6C34878D82A}">
                              <a16:rowId xmlns:a16="http://schemas.microsoft.com/office/drawing/2014/main" val="10000"/>
                            </a:ext>
                          </a:extLst>
                        </a:tr>
                        <a:tr h="35003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a:solidFill>
                                      <a:srgbClr val="000000"/>
                                    </a:solidFill>
                                    <a:latin typeface="Calibri"/>
                                  </a:rPr>
                                  <a:t>JTC / H5 / Tower 22</a:t>
                                </a:r>
                                <a:endParaRPr lang="en-US" sz="14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0D8E7"/>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a:ea typeface="Calibri"/>
                                  </a:rPr>
                                  <a:t>2 Teams</a:t>
                                </a:r>
                                <a:endParaRPr lang="en-US" sz="14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0D8E7"/>
                              </a:solidFill>
                            </a:tcPr>
                          </a:tc>
                          <a:extLst>
                            <a:ext uri="{0D108BD9-81ED-4DB2-BD59-A6C34878D82A}">
                              <a16:rowId xmlns:a16="http://schemas.microsoft.com/office/drawing/2014/main" val="10001"/>
                            </a:ext>
                          </a:extLst>
                        </a:tr>
                      </a:tbl>
                    </a:graphicData>
                  </a:graphic>
                </p:graphicFrame>
                <p:graphicFrame>
                  <p:nvGraphicFramePr>
                    <p:cNvPr id="15" name="Table 6">
                      <a:extLst>
                        <a:ext uri="{FF2B5EF4-FFF2-40B4-BE49-F238E27FC236}">
                          <a16:creationId xmlns:a16="http://schemas.microsoft.com/office/drawing/2014/main" id="{4A472D69-0A23-17CD-751B-CD12DC9767C9}"/>
                        </a:ext>
                      </a:extLst>
                    </p:cNvPr>
                    <p:cNvGraphicFramePr>
                      <a:graphicFrameLocks/>
                    </p:cNvGraphicFramePr>
                    <p:nvPr>
                      <p:extLst>
                        <p:ext uri="{D42A27DB-BD31-4B8C-83A1-F6EECF244321}">
                          <p14:modId xmlns:p14="http://schemas.microsoft.com/office/powerpoint/2010/main" val="1801889943"/>
                        </p:ext>
                      </p:extLst>
                    </p:nvPr>
                  </p:nvGraphicFramePr>
                  <p:xfrm>
                    <a:off x="6957262" y="1313165"/>
                    <a:ext cx="4895195" cy="2559756"/>
                  </p:xfrm>
                  <a:graphic>
                    <a:graphicData uri="http://schemas.openxmlformats.org/drawingml/2006/table">
                      <a:tbl>
                        <a:tblPr/>
                        <a:tblGrid>
                          <a:gridCol w="2304483">
                            <a:extLst>
                              <a:ext uri="{9D8B030D-6E8A-4147-A177-3AD203B41FA5}">
                                <a16:colId xmlns:a16="http://schemas.microsoft.com/office/drawing/2014/main" val="20000"/>
                              </a:ext>
                            </a:extLst>
                          </a:gridCol>
                          <a:gridCol w="1679694">
                            <a:extLst>
                              <a:ext uri="{9D8B030D-6E8A-4147-A177-3AD203B41FA5}">
                                <a16:colId xmlns:a16="http://schemas.microsoft.com/office/drawing/2014/main" val="20001"/>
                              </a:ext>
                            </a:extLst>
                          </a:gridCol>
                        </a:tblGrid>
                        <a:tr h="373051">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Syria </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solidFill>
                            </a:tcPr>
                          </a:tc>
                          <a:tc hMerge="1">
                            <a:txBody>
                              <a:bodyPr/>
                              <a:lstStyle/>
                              <a:p>
                                <a:endParaRPr/>
                              </a:p>
                            </a:txBody>
                            <a:tcPr/>
                          </a:tc>
                          <a:extLst>
                            <a:ext uri="{0D108BD9-81ED-4DB2-BD59-A6C34878D82A}">
                              <a16:rowId xmlns:a16="http://schemas.microsoft.com/office/drawing/2014/main" val="10000"/>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a:solidFill>
                                      <a:srgbClr val="000000"/>
                                    </a:solidFill>
                                    <a:latin typeface="+mn-lt"/>
                                  </a:rPr>
                                  <a:t>Al - </a:t>
                                </a:r>
                                <a:r>
                                  <a:rPr lang="en-US" sz="1400" b="1" strike="noStrike" spc="-1" dirty="0" err="1">
                                    <a:solidFill>
                                      <a:srgbClr val="000000"/>
                                    </a:solidFill>
                                    <a:latin typeface="+mn-lt"/>
                                  </a:rPr>
                                  <a:t>Tanf</a:t>
                                </a:r>
                                <a:r>
                                  <a:rPr lang="en-US" sz="1400" b="1" strike="noStrike" spc="-1" dirty="0">
                                    <a:solidFill>
                                      <a:srgbClr val="000000"/>
                                    </a:solidFill>
                                    <a:latin typeface="+mn-lt"/>
                                  </a:rPr>
                                  <a:t> Garrison (ATG)</a:t>
                                </a:r>
                                <a:endParaRPr lang="en-US" sz="1400" b="0" strike="noStrike" spc="-1" dirty="0">
                                  <a:latin typeface="Arial"/>
                                </a:endParaRP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a:ea typeface="Calibri"/>
                                  </a:rPr>
                                  <a:t>2 Teams</a:t>
                                </a:r>
                                <a:endParaRPr lang="en-US" sz="1400" b="0" strike="noStrike" spc="-1" dirty="0">
                                  <a:latin typeface="Arial"/>
                                </a:endParaRP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1"/>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err="1">
                                    <a:solidFill>
                                      <a:schemeClr val="bg1"/>
                                    </a:solidFill>
                                    <a:latin typeface="+mn-lt"/>
                                  </a:rPr>
                                  <a:t>Rumalyn</a:t>
                                </a:r>
                                <a:r>
                                  <a:rPr lang="en-US" sz="1400" b="1" strike="noStrike" spc="-1" dirty="0">
                                    <a:solidFill>
                                      <a:schemeClr val="bg1"/>
                                    </a:solidFill>
                                    <a:latin typeface="+mn-lt"/>
                                  </a:rPr>
                                  <a:t> Landing Zone (RLZ)</a:t>
                                </a:r>
                                <a:endParaRPr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chemeClr val="bg1"/>
                                    </a:solidFill>
                                    <a:latin typeface="+mn-lt"/>
                                  </a:rPr>
                                  <a:t>1 Team</a:t>
                                </a:r>
                                <a:endParaRPr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3"/>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rPr>
                                  <a:t>Northern Landing Zone (NLZ)</a:t>
                                </a:r>
                                <a:endParaRPr sz="1400" b="1"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dirty="0">
                                    <a:solidFill>
                                      <a:schemeClr val="bg1"/>
                                    </a:solidFill>
                                  </a:rPr>
                                  <a:t>3 Teams</a:t>
                                </a:r>
                                <a:endParaRPr sz="1400" b="1"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2487285089"/>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0" dirty="0">
                                    <a:solidFill>
                                      <a:schemeClr val="bg1"/>
                                    </a:solidFill>
                                    <a:latin typeface="Calibri"/>
                                  </a:rPr>
                                  <a:t>Shaddadi (PBS)</a:t>
                                </a:r>
                                <a:endParaRPr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0" dirty="0">
                                    <a:solidFill>
                                      <a:schemeClr val="bg1"/>
                                    </a:solidFill>
                                    <a:latin typeface="Calibri"/>
                                  </a:rPr>
                                  <a:t>1 Team</a:t>
                                </a:r>
                                <a:endParaRPr dirty="0">
                                  <a:solidFill>
                                    <a:schemeClr val="bg1"/>
                                  </a:solidFil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lumMod val="60000"/>
                                  <a:lumOff val="40000"/>
                                </a:srgbClr>
                              </a:solidFill>
                            </a:tcPr>
                          </a:tc>
                          <a:extLst>
                            <a:ext uri="{0D108BD9-81ED-4DB2-BD59-A6C34878D82A}">
                              <a16:rowId xmlns:a16="http://schemas.microsoft.com/office/drawing/2014/main" val="10005"/>
                            </a:ext>
                          </a:extLst>
                        </a:tr>
                      </a:tbl>
                    </a:graphicData>
                  </a:graphic>
                </p:graphicFrame>
                <p:graphicFrame>
                  <p:nvGraphicFramePr>
                    <p:cNvPr id="16" name="Table 8">
                      <a:extLst>
                        <a:ext uri="{FF2B5EF4-FFF2-40B4-BE49-F238E27FC236}">
                          <a16:creationId xmlns:a16="http://schemas.microsoft.com/office/drawing/2014/main" id="{2459947A-5026-7970-0584-AABF5AC2BE3E}"/>
                        </a:ext>
                      </a:extLst>
                    </p:cNvPr>
                    <p:cNvGraphicFramePr>
                      <a:graphicFrameLocks/>
                    </p:cNvGraphicFramePr>
                    <p:nvPr>
                      <p:extLst>
                        <p:ext uri="{D42A27DB-BD31-4B8C-83A1-F6EECF244321}">
                          <p14:modId xmlns:p14="http://schemas.microsoft.com/office/powerpoint/2010/main" val="1832860744"/>
                        </p:ext>
                      </p:extLst>
                    </p:nvPr>
                  </p:nvGraphicFramePr>
                  <p:xfrm>
                    <a:off x="8322525" y="5594497"/>
                    <a:ext cx="3624144" cy="1140259"/>
                  </p:xfrm>
                  <a:graphic>
                    <a:graphicData uri="http://schemas.openxmlformats.org/drawingml/2006/table">
                      <a:tbl>
                        <a:tblPr/>
                        <a:tblGrid>
                          <a:gridCol w="1842985">
                            <a:extLst>
                              <a:ext uri="{9D8B030D-6E8A-4147-A177-3AD203B41FA5}">
                                <a16:colId xmlns:a16="http://schemas.microsoft.com/office/drawing/2014/main" val="20000"/>
                              </a:ext>
                            </a:extLst>
                          </a:gridCol>
                          <a:gridCol w="1106689">
                            <a:extLst>
                              <a:ext uri="{9D8B030D-6E8A-4147-A177-3AD203B41FA5}">
                                <a16:colId xmlns:a16="http://schemas.microsoft.com/office/drawing/2014/main" val="20001"/>
                              </a:ext>
                            </a:extLst>
                          </a:gridCol>
                        </a:tblGrid>
                        <a:tr h="446400">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Kuwait</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4F81BD"/>
                              </a:solidFill>
                            </a:tcPr>
                          </a:tc>
                          <a:tc hMerge="1">
                            <a:txBody>
                              <a:bodyPr/>
                              <a:lstStyle/>
                              <a:p>
                                <a:endParaRPr/>
                              </a:p>
                            </a:txBody>
                            <a:tcPr/>
                          </a:tc>
                          <a:extLst>
                            <a:ext uri="{0D108BD9-81ED-4DB2-BD59-A6C34878D82A}">
                              <a16:rowId xmlns:a16="http://schemas.microsoft.com/office/drawing/2014/main" val="10000"/>
                            </a:ext>
                          </a:extLst>
                        </a:tr>
                        <a:tr h="35003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a:solidFill>
                                      <a:srgbClr val="000000"/>
                                    </a:solidFill>
                                    <a:latin typeface="Calibri"/>
                                  </a:rPr>
                                  <a:t>Camp Buehring</a:t>
                                </a:r>
                                <a:endParaRPr lang="en-US" sz="14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0D8E7"/>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a:ea typeface="Calibri"/>
                                  </a:rPr>
                                  <a:t>1 Team</a:t>
                                </a:r>
                                <a:endParaRPr lang="en-US" sz="14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D0D8E7"/>
                              </a:solidFill>
                            </a:tcPr>
                          </a:tc>
                          <a:extLst>
                            <a:ext uri="{0D108BD9-81ED-4DB2-BD59-A6C34878D82A}">
                              <a16:rowId xmlns:a16="http://schemas.microsoft.com/office/drawing/2014/main" val="10001"/>
                            </a:ext>
                          </a:extLst>
                        </a:tr>
                      </a:tbl>
                    </a:graphicData>
                  </a:graphic>
                </p:graphicFrame>
              </p:grpSp>
            </p:grpSp>
            <p:sp>
              <p:nvSpPr>
                <p:cNvPr id="27" name="TextBox 26">
                  <a:extLst>
                    <a:ext uri="{FF2B5EF4-FFF2-40B4-BE49-F238E27FC236}">
                      <a16:creationId xmlns:a16="http://schemas.microsoft.com/office/drawing/2014/main" id="{BF6AFF73-5B0C-1167-F879-4589AB529947}"/>
                    </a:ext>
                  </a:extLst>
                </p:cNvPr>
                <p:cNvSpPr txBox="1"/>
                <p:nvPr/>
              </p:nvSpPr>
              <p:spPr>
                <a:xfrm>
                  <a:off x="-1148593" y="1864208"/>
                  <a:ext cx="6096000" cy="1569660"/>
                </a:xfrm>
                <a:prstGeom prst="rect">
                  <a:avLst/>
                </a:prstGeom>
                <a:noFill/>
              </p:spPr>
              <p:txBody>
                <a:bodyPr wrap="square" spcCol="457200">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Task Force SAFE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Current Team Locations</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2400" b="1" spc="-1" dirty="0">
                      <a:solidFill>
                        <a:srgbClr val="000000"/>
                      </a:solidFill>
                      <a:latin typeface="Calibri"/>
                      <a:ea typeface="Calibri"/>
                    </a:rPr>
                    <a:t>In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CENTCOM</a:t>
                  </a:r>
                  <a:endParaRPr kumimoji="0" lang="en-US" sz="2400" b="0" i="0" u="none" strike="noStrike" kern="1200" cap="none" spc="-1" normalizeH="0" baseline="0" noProof="0" dirty="0">
                    <a:ln>
                      <a:noFill/>
                    </a:ln>
                    <a:solidFill>
                      <a:prstClr val="black"/>
                    </a:solidFill>
                    <a:effectLst/>
                    <a:uLnTx/>
                    <a:uFillTx/>
                    <a:latin typeface="Arial"/>
                    <a:ea typeface="+mn-ea"/>
                    <a:cs typeface="+mn-cs"/>
                  </a:endParaRPr>
                </a:p>
              </p:txBody>
            </p:sp>
            <p:graphicFrame>
              <p:nvGraphicFramePr>
                <p:cNvPr id="29" name="Table 8">
                  <a:extLst>
                    <a:ext uri="{FF2B5EF4-FFF2-40B4-BE49-F238E27FC236}">
                      <a16:creationId xmlns:a16="http://schemas.microsoft.com/office/drawing/2014/main" id="{A6175C65-9A66-F38B-D9CA-6840F80B903E}"/>
                    </a:ext>
                  </a:extLst>
                </p:cNvPr>
                <p:cNvGraphicFramePr>
                  <a:graphicFrameLocks/>
                </p:cNvGraphicFramePr>
                <p:nvPr>
                  <p:extLst>
                    <p:ext uri="{D42A27DB-BD31-4B8C-83A1-F6EECF244321}">
                      <p14:modId xmlns:p14="http://schemas.microsoft.com/office/powerpoint/2010/main" val="101619823"/>
                    </p:ext>
                  </p:extLst>
                </p:nvPr>
              </p:nvGraphicFramePr>
              <p:xfrm>
                <a:off x="482926" y="3476752"/>
                <a:ext cx="1261107" cy="287874"/>
              </p:xfrm>
              <a:graphic>
                <a:graphicData uri="http://schemas.openxmlformats.org/drawingml/2006/table">
                  <a:tbl>
                    <a:tblPr/>
                    <a:tblGrid>
                      <a:gridCol w="1354583">
                        <a:extLst>
                          <a:ext uri="{9D8B030D-6E8A-4147-A177-3AD203B41FA5}">
                            <a16:colId xmlns:a16="http://schemas.microsoft.com/office/drawing/2014/main" val="20000"/>
                          </a:ext>
                        </a:extLst>
                      </a:gridCol>
                    </a:tblGrid>
                    <a:tr h="301151">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200" b="1" strike="noStrike" spc="-1" dirty="0">
                                <a:solidFill>
                                  <a:srgbClr val="FFFFFF"/>
                                </a:solidFill>
                                <a:latin typeface="Calibri"/>
                                <a:ea typeface="Calibri"/>
                              </a:rPr>
                              <a:t>ARCENT (3 Teams) </a:t>
                            </a:r>
                            <a:endParaRPr lang="en-US" sz="12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4F81BD"/>
                          </a:solidFill>
                        </a:tcPr>
                      </a:tc>
                      <a:extLst>
                        <a:ext uri="{0D108BD9-81ED-4DB2-BD59-A6C34878D82A}">
                          <a16:rowId xmlns:a16="http://schemas.microsoft.com/office/drawing/2014/main" val="10000"/>
                        </a:ext>
                      </a:extLst>
                    </a:tr>
                  </a:tbl>
                </a:graphicData>
              </a:graphic>
            </p:graphicFrame>
            <p:graphicFrame>
              <p:nvGraphicFramePr>
                <p:cNvPr id="30" name="Table 6">
                  <a:extLst>
                    <a:ext uri="{FF2B5EF4-FFF2-40B4-BE49-F238E27FC236}">
                      <a16:creationId xmlns:a16="http://schemas.microsoft.com/office/drawing/2014/main" id="{FA69F264-9DE0-80E5-906D-CCAB559193E8}"/>
                    </a:ext>
                  </a:extLst>
                </p:cNvPr>
                <p:cNvGraphicFramePr>
                  <a:graphicFrameLocks/>
                </p:cNvGraphicFramePr>
                <p:nvPr>
                  <p:extLst>
                    <p:ext uri="{D42A27DB-BD31-4B8C-83A1-F6EECF244321}">
                      <p14:modId xmlns:p14="http://schemas.microsoft.com/office/powerpoint/2010/main" val="220202988"/>
                    </p:ext>
                  </p:extLst>
                </p:nvPr>
              </p:nvGraphicFramePr>
              <p:xfrm>
                <a:off x="474629" y="3777751"/>
                <a:ext cx="1268831" cy="286016"/>
              </p:xfrm>
              <a:graphic>
                <a:graphicData uri="http://schemas.openxmlformats.org/drawingml/2006/table">
                  <a:tbl>
                    <a:tblPr/>
                    <a:tblGrid>
                      <a:gridCol w="1362880">
                        <a:extLst>
                          <a:ext uri="{9D8B030D-6E8A-4147-A177-3AD203B41FA5}">
                            <a16:colId xmlns:a16="http://schemas.microsoft.com/office/drawing/2014/main" val="20000"/>
                          </a:ext>
                        </a:extLst>
                      </a:gridCol>
                    </a:tblGrid>
                    <a:tr h="299208">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200" b="1" strike="noStrike" spc="-1" dirty="0">
                                <a:solidFill>
                                  <a:srgbClr val="FFFFFF"/>
                                </a:solidFill>
                                <a:latin typeface="Calibri"/>
                                <a:ea typeface="Calibri"/>
                              </a:rPr>
                              <a:t>OIR (9 Teams)</a:t>
                            </a:r>
                            <a:endParaRPr lang="en-US" sz="12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F79646"/>
                          </a:solidFill>
                        </a:tcPr>
                      </a:tc>
                      <a:extLst>
                        <a:ext uri="{0D108BD9-81ED-4DB2-BD59-A6C34878D82A}">
                          <a16:rowId xmlns:a16="http://schemas.microsoft.com/office/drawing/2014/main" val="10000"/>
                        </a:ext>
                      </a:extLst>
                    </a:tr>
                  </a:tbl>
                </a:graphicData>
              </a:graphic>
            </p:graphicFrame>
          </p:grpSp>
          <p:sp>
            <p:nvSpPr>
              <p:cNvPr id="8" name="TextBox 7">
                <a:extLst>
                  <a:ext uri="{FF2B5EF4-FFF2-40B4-BE49-F238E27FC236}">
                    <a16:creationId xmlns:a16="http://schemas.microsoft.com/office/drawing/2014/main" id="{342EE691-B573-C0AE-71F3-B15452BB2957}"/>
                  </a:ext>
                </a:extLst>
              </p:cNvPr>
              <p:cNvSpPr txBox="1"/>
              <p:nvPr/>
            </p:nvSpPr>
            <p:spPr>
              <a:xfrm>
                <a:off x="5675999" y="4574339"/>
                <a:ext cx="3709241" cy="1029725"/>
              </a:xfrm>
              <a:prstGeom prst="rect">
                <a:avLst/>
              </a:prstGeom>
              <a:solidFill>
                <a:schemeClr val="tx1">
                  <a:lumMod val="95000"/>
                </a:schemeClr>
              </a:solidFill>
            </p:spPr>
            <p:txBody>
              <a:bodyPr wrap="square">
                <a:spAutoFit/>
              </a:bodyPr>
              <a:lstStyle/>
              <a:p>
                <a:pPr marL="685800" marR="0" lvl="1" indent="-283464" algn="l" defTabSz="914400" rtl="0" eaLnBrk="1" fontAlgn="auto" latinLnBrk="0" hangingPunct="1">
                  <a:spcBef>
                    <a:spcPts val="180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24 Electricians  </a:t>
                </a:r>
              </a:p>
              <a:p>
                <a:pPr marL="685800" marR="0" lvl="1" indent="-283464" algn="l" defTabSz="914400" rtl="0" eaLnBrk="1" fontAlgn="auto" latinLnBrk="0" hangingPunct="1">
                  <a:spcBef>
                    <a:spcPts val="600"/>
                  </a:spcBef>
                  <a:spcAft>
                    <a:spcPts val="0"/>
                  </a:spcAft>
                  <a:buClrTx/>
                  <a:buSzPct val="90000"/>
                  <a:buFont typeface="Arial" panose="020B0604020202020204" pitchFamily="34" charset="0"/>
                  <a:buChar char="•"/>
                  <a:tabLst/>
                  <a:defRPr/>
                </a:pPr>
                <a:r>
                  <a:rPr kumimoji="0" lang="en-US"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12 Teams</a:t>
                </a:r>
              </a:p>
              <a:p>
                <a:pPr marL="685800" marR="0" lvl="1" indent="-283464" algn="l" defTabSz="914400" rtl="0" eaLnBrk="1" fontAlgn="auto" latinLnBrk="0" hangingPunct="1">
                  <a:spcBef>
                    <a:spcPts val="600"/>
                  </a:spcBef>
                  <a:spcAft>
                    <a:spcPts val="0"/>
                  </a:spcAft>
                  <a:buClrTx/>
                  <a:buSzTx/>
                  <a:buFont typeface="Arial" panose="020B0604020202020204" pitchFamily="34" charset="0"/>
                  <a:buChar char="•"/>
                  <a:tabLst/>
                  <a:defRPr/>
                </a:pPr>
                <a:r>
                  <a:rPr kumimoji="0" lang="en-US"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rPr>
                  <a:t>Ratio of 70% (UK) to 30% (US) </a:t>
                </a:r>
              </a:p>
            </p:txBody>
          </p:sp>
        </p:grpSp>
        <p:sp>
          <p:nvSpPr>
            <p:cNvPr id="9" name="TextBox 8">
              <a:extLst>
                <a:ext uri="{FF2B5EF4-FFF2-40B4-BE49-F238E27FC236}">
                  <a16:creationId xmlns:a16="http://schemas.microsoft.com/office/drawing/2014/main" id="{47111BFE-D239-8469-6A70-69D137BE4519}"/>
                </a:ext>
              </a:extLst>
            </p:cNvPr>
            <p:cNvSpPr txBox="1"/>
            <p:nvPr/>
          </p:nvSpPr>
          <p:spPr>
            <a:xfrm>
              <a:off x="6279967" y="2463029"/>
              <a:ext cx="2902067" cy="369332"/>
            </a:xfrm>
            <a:prstGeom prst="rect">
              <a:avLst/>
            </a:prstGeom>
            <a:solidFill>
              <a:schemeClr val="tx1">
                <a:lumMod val="95000"/>
              </a:schemeClr>
            </a:solidFill>
          </p:spPr>
          <p:txBody>
            <a:bodyPr wrap="square">
              <a:spAutoFit/>
            </a:bodyPr>
            <a:lstStyle/>
            <a:p>
              <a:r>
                <a:rPr lang="en-US" b="1" dirty="0">
                  <a:solidFill>
                    <a:schemeClr val="bg1"/>
                  </a:solidFill>
                </a:rPr>
                <a:t>Contractual Requirements</a:t>
              </a:r>
            </a:p>
          </p:txBody>
        </p:sp>
      </p:grpSp>
    </p:spTree>
    <p:extLst>
      <p:ext uri="{BB962C8B-B14F-4D97-AF65-F5344CB8AC3E}">
        <p14:creationId xmlns:p14="http://schemas.microsoft.com/office/powerpoint/2010/main" val="90788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5E4F1-C0E1-025A-B214-F19C857104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4D3F31-1C12-9634-B9A8-5B19E44534A2}"/>
              </a:ext>
            </a:extLst>
          </p:cNvPr>
          <p:cNvSpPr>
            <a:spLocks noGrp="1"/>
          </p:cNvSpPr>
          <p:nvPr>
            <p:ph type="title"/>
          </p:nvPr>
        </p:nvSpPr>
        <p:spPr>
          <a:xfrm>
            <a:off x="594360" y="102875"/>
            <a:ext cx="10873740" cy="1680205"/>
          </a:xfrm>
        </p:spPr>
        <p:txBody>
          <a:bodyPr/>
          <a:lstStyle/>
          <a:p>
            <a:r>
              <a:rPr lang="en-US" dirty="0"/>
              <a:t>Program Operations – Electricians</a:t>
            </a:r>
            <a:br>
              <a:rPr lang="en-US" dirty="0"/>
            </a:br>
            <a:r>
              <a:rPr lang="en-US" sz="3200" dirty="0"/>
              <a:t>Task Force SAFE / UFC</a:t>
            </a:r>
          </a:p>
        </p:txBody>
      </p:sp>
      <p:grpSp>
        <p:nvGrpSpPr>
          <p:cNvPr id="19" name="Group 18">
            <a:extLst>
              <a:ext uri="{FF2B5EF4-FFF2-40B4-BE49-F238E27FC236}">
                <a16:creationId xmlns:a16="http://schemas.microsoft.com/office/drawing/2014/main" id="{7227271F-08C5-1471-09BC-63AADFB3F652}"/>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8BBFD6F7-808F-F03A-3862-CB66854D6F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96D7161A-71D7-4597-E244-12EFB8DADA3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2FB13B4-93F8-FA64-D4AF-B5D5417601A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30110597-5E3D-9E4A-0B9C-E3EEA5DEDAAE}"/>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8EC009F7-67A9-A43B-910D-E78E3A25DDB0}"/>
              </a:ext>
            </a:extLst>
          </p:cNvPr>
          <p:cNvPicPr>
            <a:picLocks noChangeAspect="1"/>
          </p:cNvPicPr>
          <p:nvPr/>
        </p:nvPicPr>
        <p:blipFill>
          <a:blip r:embed="rId4"/>
          <a:stretch>
            <a:fillRect/>
          </a:stretch>
        </p:blipFill>
        <p:spPr>
          <a:xfrm>
            <a:off x="10404213" y="4760794"/>
            <a:ext cx="1633870" cy="2097206"/>
          </a:xfrm>
          <a:prstGeom prst="rect">
            <a:avLst/>
          </a:prstGeom>
        </p:spPr>
      </p:pic>
      <p:sp>
        <p:nvSpPr>
          <p:cNvPr id="6" name="Content Placeholder 5">
            <a:extLst>
              <a:ext uri="{FF2B5EF4-FFF2-40B4-BE49-F238E27FC236}">
                <a16:creationId xmlns:a16="http://schemas.microsoft.com/office/drawing/2014/main" id="{860C47F0-F641-280C-BEEC-9DB4AA94C3CE}"/>
              </a:ext>
            </a:extLst>
          </p:cNvPr>
          <p:cNvSpPr>
            <a:spLocks noGrp="1"/>
          </p:cNvSpPr>
          <p:nvPr>
            <p:ph sz="quarter" idx="13"/>
          </p:nvPr>
        </p:nvSpPr>
        <p:spPr>
          <a:xfrm>
            <a:off x="1431759" y="1972651"/>
            <a:ext cx="8969955" cy="4565332"/>
          </a:xfrm>
        </p:spPr>
        <p:txBody>
          <a:bodyPr>
            <a:noAutofit/>
          </a:bodyPr>
          <a:lstStyle/>
          <a:p>
            <a:pPr marL="0" indent="0">
              <a:buNone/>
            </a:pPr>
            <a:r>
              <a:rPr lang="en-US" sz="2800" b="1" dirty="0"/>
              <a:t>What Have They Done?</a:t>
            </a:r>
          </a:p>
          <a:p>
            <a:pPr marL="0" indent="0">
              <a:buNone/>
            </a:pPr>
            <a:r>
              <a:rPr lang="en-US" sz="2800" b="1" dirty="0"/>
              <a:t>From </a:t>
            </a:r>
            <a:r>
              <a:rPr lang="en-US" sz="2800" b="1" u="sng" dirty="0">
                <a:highlight>
                  <a:srgbClr val="FFFF00"/>
                </a:highlight>
              </a:rPr>
              <a:t>31 Jul 2020 </a:t>
            </a:r>
            <a:r>
              <a:rPr lang="en-US" sz="2800" b="1" dirty="0"/>
              <a:t>to 30 Sep 2025, TFS did the following:</a:t>
            </a:r>
          </a:p>
          <a:p>
            <a:pPr lvl="1"/>
            <a:r>
              <a:rPr lang="en-US" sz="2800" dirty="0"/>
              <a:t>Facilities Inspected / Re-Inspected – 15855</a:t>
            </a:r>
          </a:p>
          <a:p>
            <a:pPr lvl="1"/>
            <a:r>
              <a:rPr lang="en-US" sz="2800" dirty="0"/>
              <a:t>Deficiencies Found – 336365</a:t>
            </a:r>
          </a:p>
          <a:p>
            <a:pPr lvl="1"/>
            <a:r>
              <a:rPr lang="en-US" sz="2800" dirty="0"/>
              <a:t>Deficiencies Repaired / Mitigated – 123435</a:t>
            </a:r>
          </a:p>
          <a:p>
            <a:pPr lvl="1"/>
            <a:r>
              <a:rPr lang="en-US" sz="2800" dirty="0"/>
              <a:t>Percentage of Items Repaired / Mitigated – 54%</a:t>
            </a:r>
          </a:p>
          <a:p>
            <a:pPr lvl="2">
              <a:buFont typeface="Wingdings" panose="05000000000000000000" pitchFamily="2" charset="2"/>
              <a:buChar char="ü"/>
            </a:pPr>
            <a:r>
              <a:rPr lang="en-US" sz="2400" dirty="0"/>
              <a:t>TFS (25%) – O&amp;M (20%) – Military (9%)</a:t>
            </a:r>
          </a:p>
        </p:txBody>
      </p:sp>
    </p:spTree>
    <p:extLst>
      <p:ext uri="{BB962C8B-B14F-4D97-AF65-F5344CB8AC3E}">
        <p14:creationId xmlns:p14="http://schemas.microsoft.com/office/powerpoint/2010/main" val="193258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6E56-3DCF-3A4F-F247-2CF6EF3F28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F6C672E-2FDD-9CFE-9E70-F6FF855DA383}"/>
              </a:ext>
            </a:extLst>
          </p:cNvPr>
          <p:cNvSpPr>
            <a:spLocks noGrp="1"/>
          </p:cNvSpPr>
          <p:nvPr>
            <p:ph type="title"/>
          </p:nvPr>
        </p:nvSpPr>
        <p:spPr>
          <a:xfrm>
            <a:off x="594359" y="102875"/>
            <a:ext cx="11371217" cy="1680205"/>
          </a:xfrm>
        </p:spPr>
        <p:txBody>
          <a:bodyPr/>
          <a:lstStyle/>
          <a:p>
            <a:r>
              <a:rPr lang="en-US" dirty="0"/>
              <a:t>Program Operations – UFC Inspection Team</a:t>
            </a:r>
            <a:br>
              <a:rPr lang="en-US" dirty="0"/>
            </a:br>
            <a:r>
              <a:rPr lang="en-US" sz="3200" dirty="0"/>
              <a:t>Task Force SAFE / UFC</a:t>
            </a:r>
          </a:p>
        </p:txBody>
      </p:sp>
      <p:grpSp>
        <p:nvGrpSpPr>
          <p:cNvPr id="19" name="Group 18">
            <a:extLst>
              <a:ext uri="{FF2B5EF4-FFF2-40B4-BE49-F238E27FC236}">
                <a16:creationId xmlns:a16="http://schemas.microsoft.com/office/drawing/2014/main" id="{CD385953-0E69-26CB-25D7-31FA07C8DC7B}"/>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0B854713-EC56-7541-BDB5-E61C52CA1EE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10C97DCD-6912-8B45-2DDA-BA611D1412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DB91AD52-CB14-D06A-7E92-8BD14450478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715ECFFE-0515-B3BB-CFA8-9FDFAE6966CA}"/>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A823E907-15AC-7D57-865D-DC8FE59A3C9D}"/>
              </a:ext>
            </a:extLst>
          </p:cNvPr>
          <p:cNvPicPr>
            <a:picLocks noChangeAspect="1"/>
          </p:cNvPicPr>
          <p:nvPr/>
        </p:nvPicPr>
        <p:blipFill>
          <a:blip r:embed="rId4"/>
          <a:stretch>
            <a:fillRect/>
          </a:stretch>
        </p:blipFill>
        <p:spPr>
          <a:xfrm>
            <a:off x="10404213" y="4760794"/>
            <a:ext cx="1633870" cy="2097206"/>
          </a:xfrm>
          <a:prstGeom prst="rect">
            <a:avLst/>
          </a:prstGeom>
        </p:spPr>
      </p:pic>
      <p:grpSp>
        <p:nvGrpSpPr>
          <p:cNvPr id="6" name="Group 5">
            <a:extLst>
              <a:ext uri="{FF2B5EF4-FFF2-40B4-BE49-F238E27FC236}">
                <a16:creationId xmlns:a16="http://schemas.microsoft.com/office/drawing/2014/main" id="{BB2FAC61-46AB-3857-5E0C-B819F0E9D412}"/>
              </a:ext>
            </a:extLst>
          </p:cNvPr>
          <p:cNvGrpSpPr/>
          <p:nvPr/>
        </p:nvGrpSpPr>
        <p:grpSpPr>
          <a:xfrm>
            <a:off x="-1182460" y="1832261"/>
            <a:ext cx="11371217" cy="4922864"/>
            <a:chOff x="-1148593" y="1864208"/>
            <a:chExt cx="10984525" cy="4624251"/>
          </a:xfrm>
        </p:grpSpPr>
        <p:grpSp>
          <p:nvGrpSpPr>
            <p:cNvPr id="10" name="Group 9">
              <a:extLst>
                <a:ext uri="{FF2B5EF4-FFF2-40B4-BE49-F238E27FC236}">
                  <a16:creationId xmlns:a16="http://schemas.microsoft.com/office/drawing/2014/main" id="{49857D26-5D2E-27C6-014A-0819B57C3C8F}"/>
                </a:ext>
              </a:extLst>
            </p:cNvPr>
            <p:cNvGrpSpPr/>
            <p:nvPr/>
          </p:nvGrpSpPr>
          <p:grpSpPr>
            <a:xfrm>
              <a:off x="142339" y="1864208"/>
              <a:ext cx="9693593" cy="4624251"/>
              <a:chOff x="-577626" y="-221545"/>
              <a:chExt cx="12792924" cy="6925884"/>
            </a:xfrm>
          </p:grpSpPr>
          <p:grpSp>
            <p:nvGrpSpPr>
              <p:cNvPr id="11" name="Group 10">
                <a:extLst>
                  <a:ext uri="{FF2B5EF4-FFF2-40B4-BE49-F238E27FC236}">
                    <a16:creationId xmlns:a16="http://schemas.microsoft.com/office/drawing/2014/main" id="{6C2988C9-E2A6-0F6F-B50F-03B6929C2E49}"/>
                  </a:ext>
                </a:extLst>
              </p:cNvPr>
              <p:cNvGrpSpPr/>
              <p:nvPr/>
            </p:nvGrpSpPr>
            <p:grpSpPr>
              <a:xfrm>
                <a:off x="-577626" y="-221545"/>
                <a:ext cx="12792924" cy="6925884"/>
                <a:chOff x="-577626" y="-153019"/>
                <a:chExt cx="12792924" cy="6925884"/>
              </a:xfrm>
            </p:grpSpPr>
            <p:sp>
              <p:nvSpPr>
                <p:cNvPr id="17" name="CustomShape 1">
                  <a:extLst>
                    <a:ext uri="{FF2B5EF4-FFF2-40B4-BE49-F238E27FC236}">
                      <a16:creationId xmlns:a16="http://schemas.microsoft.com/office/drawing/2014/main" id="{361CA08C-BA32-6100-CC46-545F05078D42}"/>
                    </a:ext>
                  </a:extLst>
                </p:cNvPr>
                <p:cNvSpPr/>
                <p:nvPr/>
              </p:nvSpPr>
              <p:spPr bwMode="auto">
                <a:xfrm>
                  <a:off x="-577626" y="-153019"/>
                  <a:ext cx="12792924" cy="6925884"/>
                </a:xfrm>
                <a:prstGeom prst="rect">
                  <a:avLst/>
                </a:prstGeom>
                <a:blipFill>
                  <a:blip r:embed="rId5"/>
                  <a:stretch/>
                </a:blipFill>
                <a:ln w="0">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ea typeface="+mn-ea"/>
                      <a:cs typeface="+mn-cs"/>
                    </a:rPr>
                    <a:t> </a:t>
                  </a:r>
                  <a:endParaRPr kumimoji="0"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24" name="CustomShape 5">
                  <a:extLst>
                    <a:ext uri="{FF2B5EF4-FFF2-40B4-BE49-F238E27FC236}">
                      <a16:creationId xmlns:a16="http://schemas.microsoft.com/office/drawing/2014/main" id="{9BDFB776-5AB7-0269-5DFD-8995794EAB04}"/>
                    </a:ext>
                  </a:extLst>
                </p:cNvPr>
                <p:cNvSpPr/>
                <p:nvPr/>
              </p:nvSpPr>
              <p:spPr bwMode="auto">
                <a:xfrm rot="12425489" flipV="1">
                  <a:off x="3053242" y="1947567"/>
                  <a:ext cx="3809101" cy="2956758"/>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aphicFrame>
            <p:nvGraphicFramePr>
              <p:cNvPr id="15" name="Table 6">
                <a:extLst>
                  <a:ext uri="{FF2B5EF4-FFF2-40B4-BE49-F238E27FC236}">
                    <a16:creationId xmlns:a16="http://schemas.microsoft.com/office/drawing/2014/main" id="{97E55BE9-7EB4-20D9-ED70-B40985DC0980}"/>
                  </a:ext>
                </a:extLst>
              </p:cNvPr>
              <p:cNvGraphicFramePr>
                <a:graphicFrameLocks/>
              </p:cNvGraphicFramePr>
              <p:nvPr>
                <p:extLst>
                  <p:ext uri="{D42A27DB-BD31-4B8C-83A1-F6EECF244321}">
                    <p14:modId xmlns:p14="http://schemas.microsoft.com/office/powerpoint/2010/main" val="3372008684"/>
                  </p:ext>
                </p:extLst>
              </p:nvPr>
            </p:nvGraphicFramePr>
            <p:xfrm>
              <a:off x="6957261" y="1313165"/>
              <a:ext cx="5079231" cy="3013020"/>
            </p:xfrm>
            <a:graphic>
              <a:graphicData uri="http://schemas.openxmlformats.org/drawingml/2006/table">
                <a:tbl>
                  <a:tblPr/>
                  <a:tblGrid>
                    <a:gridCol w="2304483">
                      <a:extLst>
                        <a:ext uri="{9D8B030D-6E8A-4147-A177-3AD203B41FA5}">
                          <a16:colId xmlns:a16="http://schemas.microsoft.com/office/drawing/2014/main" val="20000"/>
                        </a:ext>
                      </a:extLst>
                    </a:gridCol>
                    <a:gridCol w="1679694">
                      <a:extLst>
                        <a:ext uri="{9D8B030D-6E8A-4147-A177-3AD203B41FA5}">
                          <a16:colId xmlns:a16="http://schemas.microsoft.com/office/drawing/2014/main" val="20001"/>
                        </a:ext>
                      </a:extLst>
                    </a:gridCol>
                  </a:tblGrid>
                  <a:tr h="373051">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Jordan</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rgbClr val="C00000"/>
                        </a:solidFill>
                      </a:tcPr>
                    </a:tc>
                    <a:tc hMerge="1">
                      <a:txBody>
                        <a:bodyPr/>
                        <a:lstStyle/>
                        <a:p>
                          <a:endParaRPr/>
                        </a:p>
                      </a:txBody>
                      <a:tcPr/>
                    </a:tc>
                    <a:extLst>
                      <a:ext uri="{0D108BD9-81ED-4DB2-BD59-A6C34878D82A}">
                        <a16:rowId xmlns:a16="http://schemas.microsoft.com/office/drawing/2014/main" val="10000"/>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strike="noStrike" spc="-1" dirty="0">
                              <a:solidFill>
                                <a:schemeClr val="bg1"/>
                              </a:solidFill>
                              <a:latin typeface="Calibri" panose="020F0502020204030204" pitchFamily="34" charset="0"/>
                              <a:ea typeface="Calibri" panose="020F0502020204030204" pitchFamily="34" charset="0"/>
                              <a:cs typeface="Calibri" panose="020F0502020204030204" pitchFamily="34" charset="0"/>
                            </a:rPr>
                            <a:t>Electrical</a:t>
                          </a: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1 Engr </a:t>
                          </a:r>
                          <a:endParaRPr lang="en-US" sz="1400" b="0" strike="noStrike" spc="-1" dirty="0">
                            <a:latin typeface="Calibri" panose="020F0502020204030204" pitchFamily="34" charset="0"/>
                            <a:ea typeface="Calibri" panose="020F0502020204030204" pitchFamily="34" charset="0"/>
                            <a:cs typeface="Calibri" panose="020F0502020204030204" pitchFamily="34" charset="0"/>
                          </a:endParaRP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1"/>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Structural</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chemeClr val="bg1"/>
                              </a:solidFill>
                              <a:latin typeface="Calibri" panose="020F0502020204030204" pitchFamily="34" charset="0"/>
                              <a:ea typeface="Calibri" panose="020F0502020204030204" pitchFamily="34" charset="0"/>
                              <a:cs typeface="Calibri" panose="020F0502020204030204" pitchFamily="34" charset="0"/>
                            </a:rPr>
                            <a:t>1 Engr</a:t>
                          </a:r>
                          <a:endParaRPr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3"/>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Mechanical / Plumbing</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1 Engr / Specialist</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2487285089"/>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Fire Protection</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0" dirty="0">
                              <a:solidFill>
                                <a:schemeClr val="bg1"/>
                              </a:solidFill>
                              <a:latin typeface="Calibri" panose="020F0502020204030204" pitchFamily="34" charset="0"/>
                              <a:ea typeface="Calibri" panose="020F0502020204030204" pitchFamily="34" charset="0"/>
                              <a:cs typeface="Calibri" panose="020F0502020204030204" pitchFamily="34" charset="0"/>
                            </a:rPr>
                            <a:t>1 Engr / Specialist</a:t>
                          </a:r>
                          <a:endParaRPr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ap="flat" cmpd="sng" algn="ctr">
                          <a:solidFill>
                            <a:prstClr val="black"/>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0005"/>
                      </a:ext>
                    </a:extLst>
                  </a:tr>
                  <a:tr h="353716">
                    <a:tc>
                      <a:txBody>
                        <a:body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Environmental</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ap="flat" cmpd="sng" algn="ctr">
                          <a:solidFill>
                            <a:prstClr val="black"/>
                          </a:solidFill>
                          <a:prstDash val="solid"/>
                          <a:round/>
                          <a:headEnd type="none" w="med" len="med"/>
                          <a:tailEnd type="none" w="med" len="me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14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1 Engr / Specialist</a:t>
                          </a:r>
                        </a:p>
                      </a:txBody>
                      <a:tcPr marL="90000" marR="45000">
                        <a:lnL w="12700" cap="flat" cmpd="sng" algn="ctr">
                          <a:solidFill>
                            <a:prstClr val="black"/>
                          </a:solidFill>
                          <a:prstDash val="solid"/>
                          <a:round/>
                          <a:headEnd type="none" w="med" len="med"/>
                          <a:tailEnd type="none" w="med" len="me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40000"/>
                            <a:lumOff val="60000"/>
                          </a:schemeClr>
                        </a:solidFill>
                      </a:tcPr>
                    </a:tc>
                    <a:extLst>
                      <a:ext uri="{0D108BD9-81ED-4DB2-BD59-A6C34878D82A}">
                        <a16:rowId xmlns:a16="http://schemas.microsoft.com/office/drawing/2014/main" val="1671301874"/>
                      </a:ext>
                    </a:extLst>
                  </a:tr>
                </a:tbl>
              </a:graphicData>
            </a:graphic>
          </p:graphicFrame>
        </p:grpSp>
        <p:sp>
          <p:nvSpPr>
            <p:cNvPr id="27" name="TextBox 26">
              <a:extLst>
                <a:ext uri="{FF2B5EF4-FFF2-40B4-BE49-F238E27FC236}">
                  <a16:creationId xmlns:a16="http://schemas.microsoft.com/office/drawing/2014/main" id="{5CE65782-13D8-7ACF-B9B6-1408380D1CAA}"/>
                </a:ext>
              </a:extLst>
            </p:cNvPr>
            <p:cNvSpPr txBox="1"/>
            <p:nvPr/>
          </p:nvSpPr>
          <p:spPr>
            <a:xfrm>
              <a:off x="-1148593" y="1864208"/>
              <a:ext cx="6096000" cy="15696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Task Force UFC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Current Team Location</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2400" b="1" spc="-1" dirty="0">
                  <a:solidFill>
                    <a:srgbClr val="000000"/>
                  </a:solidFill>
                  <a:latin typeface="Calibri"/>
                  <a:ea typeface="Calibri"/>
                </a:rPr>
                <a:t>In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CENTCOM</a:t>
              </a:r>
              <a:endParaRPr kumimoji="0" lang="en-US" sz="2400" b="0" i="0" u="none" strike="noStrike" kern="1200" cap="none" spc="-1" normalizeH="0" baseline="0" noProof="0" dirty="0">
                <a:ln>
                  <a:noFill/>
                </a:ln>
                <a:solidFill>
                  <a:prstClr val="black"/>
                </a:solidFill>
                <a:effectLst/>
                <a:uLnTx/>
                <a:uFillTx/>
                <a:latin typeface="Arial"/>
                <a:ea typeface="+mn-ea"/>
                <a:cs typeface="+mn-cs"/>
              </a:endParaRPr>
            </a:p>
          </p:txBody>
        </p:sp>
        <p:sp>
          <p:nvSpPr>
            <p:cNvPr id="5" name="TextBox 4">
              <a:extLst>
                <a:ext uri="{FF2B5EF4-FFF2-40B4-BE49-F238E27FC236}">
                  <a16:creationId xmlns:a16="http://schemas.microsoft.com/office/drawing/2014/main" id="{00E6CAF7-C090-63E5-B789-00D3E4FED837}"/>
                </a:ext>
              </a:extLst>
            </p:cNvPr>
            <p:cNvSpPr txBox="1"/>
            <p:nvPr/>
          </p:nvSpPr>
          <p:spPr>
            <a:xfrm>
              <a:off x="5818845" y="4937803"/>
              <a:ext cx="3914509" cy="1445537"/>
            </a:xfrm>
            <a:prstGeom prst="rect">
              <a:avLst/>
            </a:prstGeom>
            <a:solidFill>
              <a:schemeClr val="tx1"/>
            </a:solidFill>
          </p:spPr>
          <p:txBody>
            <a:bodyPr wrap="square" rtlCol="0">
              <a:spAutoFit/>
            </a:bodyPr>
            <a:lstStyle/>
            <a:p>
              <a:r>
                <a:rPr lang="en-US" sz="1600" b="1" dirty="0">
                  <a:solidFill>
                    <a:schemeClr val="bg1"/>
                  </a:solidFill>
                  <a:latin typeface="Aptos Display" panose="020B0004020202020204" pitchFamily="34" charset="0"/>
                </a:rPr>
                <a:t>Note:</a:t>
              </a:r>
            </a:p>
            <a:p>
              <a:pPr marL="285750" indent="-285750">
                <a:buFont typeface="Wingdings" panose="05000000000000000000" pitchFamily="2" charset="2"/>
                <a:buChar char="§"/>
              </a:pPr>
              <a:r>
                <a:rPr lang="en-US" sz="1600" b="1" dirty="0">
                  <a:solidFill>
                    <a:schemeClr val="bg1"/>
                  </a:solidFill>
                  <a:latin typeface="Aptos Display" panose="020B0004020202020204" pitchFamily="34" charset="0"/>
                </a:rPr>
                <a:t>The Fire Protection Engineer is a Reachback position in the US.</a:t>
              </a:r>
            </a:p>
            <a:p>
              <a:pPr marL="285750" indent="-285750">
                <a:buFont typeface="Wingdings" panose="05000000000000000000" pitchFamily="2" charset="2"/>
                <a:buChar char="§"/>
              </a:pPr>
              <a:r>
                <a:rPr lang="en-US" sz="1600" b="1" dirty="0">
                  <a:solidFill>
                    <a:schemeClr val="bg1"/>
                  </a:solidFill>
                  <a:latin typeface="Aptos Display" panose="020B0004020202020204" pitchFamily="34" charset="0"/>
                </a:rPr>
                <a:t>The Electrical Engineer’s position has been waived for a Master Electrician</a:t>
              </a:r>
            </a:p>
            <a:p>
              <a:endParaRPr lang="en-US" sz="1400" b="1" dirty="0">
                <a:solidFill>
                  <a:schemeClr val="bg1"/>
                </a:solidFill>
              </a:endParaRPr>
            </a:p>
          </p:txBody>
        </p:sp>
        <p:sp>
          <p:nvSpPr>
            <p:cNvPr id="8" name="TextBox 7">
              <a:extLst>
                <a:ext uri="{FF2B5EF4-FFF2-40B4-BE49-F238E27FC236}">
                  <a16:creationId xmlns:a16="http://schemas.microsoft.com/office/drawing/2014/main" id="{9B79986B-DFA4-A831-A26A-E06F255291C5}"/>
                </a:ext>
              </a:extLst>
            </p:cNvPr>
            <p:cNvSpPr txBox="1"/>
            <p:nvPr/>
          </p:nvSpPr>
          <p:spPr>
            <a:xfrm>
              <a:off x="6279967" y="2463029"/>
              <a:ext cx="2902067" cy="369332"/>
            </a:xfrm>
            <a:prstGeom prst="rect">
              <a:avLst/>
            </a:prstGeom>
            <a:solidFill>
              <a:schemeClr val="tx1">
                <a:lumMod val="95000"/>
              </a:schemeClr>
            </a:solidFill>
          </p:spPr>
          <p:txBody>
            <a:bodyPr wrap="square">
              <a:spAutoFit/>
            </a:bodyPr>
            <a:lstStyle/>
            <a:p>
              <a:r>
                <a:rPr lang="en-US" b="1" dirty="0">
                  <a:solidFill>
                    <a:schemeClr val="bg1"/>
                  </a:solidFill>
                </a:rPr>
                <a:t>Contractual Requirements</a:t>
              </a:r>
            </a:p>
          </p:txBody>
        </p:sp>
      </p:grpSp>
    </p:spTree>
    <p:extLst>
      <p:ext uri="{BB962C8B-B14F-4D97-AF65-F5344CB8AC3E}">
        <p14:creationId xmlns:p14="http://schemas.microsoft.com/office/powerpoint/2010/main" val="371377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8F5E6-5D31-052E-ECD8-0BC9699A78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AFEB452-334E-A806-EDFC-295AFB994EBE}"/>
              </a:ext>
            </a:extLst>
          </p:cNvPr>
          <p:cNvSpPr>
            <a:spLocks noGrp="1"/>
          </p:cNvSpPr>
          <p:nvPr>
            <p:ph type="title"/>
          </p:nvPr>
        </p:nvSpPr>
        <p:spPr>
          <a:xfrm>
            <a:off x="594359" y="102875"/>
            <a:ext cx="11301549" cy="1680205"/>
          </a:xfrm>
        </p:spPr>
        <p:txBody>
          <a:bodyPr/>
          <a:lstStyle/>
          <a:p>
            <a:r>
              <a:rPr lang="en-US" dirty="0"/>
              <a:t>Program Operations – UFC Inspection Team</a:t>
            </a:r>
            <a:br>
              <a:rPr lang="en-US" dirty="0"/>
            </a:br>
            <a:r>
              <a:rPr lang="en-US" sz="3200" dirty="0"/>
              <a:t>Task Force SAFE / UFC</a:t>
            </a:r>
          </a:p>
        </p:txBody>
      </p:sp>
      <p:grpSp>
        <p:nvGrpSpPr>
          <p:cNvPr id="19" name="Group 18">
            <a:extLst>
              <a:ext uri="{FF2B5EF4-FFF2-40B4-BE49-F238E27FC236}">
                <a16:creationId xmlns:a16="http://schemas.microsoft.com/office/drawing/2014/main" id="{A63DE2DE-87D0-ACD0-6A8A-24C975C152C6}"/>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661ADFD1-BC1D-EDC0-0B4C-A076836361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1EE47379-502D-44D2-F9BC-E08DBDD00FA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446EE9E-83DA-E550-0170-832959D9767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80872AE8-0E91-EFF7-2126-344E7FD4BE77}"/>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609F52F5-F754-8C56-3A6E-E41F5198238A}"/>
              </a:ext>
            </a:extLst>
          </p:cNvPr>
          <p:cNvPicPr>
            <a:picLocks noChangeAspect="1"/>
          </p:cNvPicPr>
          <p:nvPr/>
        </p:nvPicPr>
        <p:blipFill>
          <a:blip r:embed="rId4"/>
          <a:stretch>
            <a:fillRect/>
          </a:stretch>
        </p:blipFill>
        <p:spPr>
          <a:xfrm>
            <a:off x="9834230" y="4565332"/>
            <a:ext cx="1633870" cy="2097206"/>
          </a:xfrm>
          <a:prstGeom prst="rect">
            <a:avLst/>
          </a:prstGeom>
        </p:spPr>
      </p:pic>
      <p:sp>
        <p:nvSpPr>
          <p:cNvPr id="6" name="Content Placeholder 5">
            <a:extLst>
              <a:ext uri="{FF2B5EF4-FFF2-40B4-BE49-F238E27FC236}">
                <a16:creationId xmlns:a16="http://schemas.microsoft.com/office/drawing/2014/main" id="{64037546-C31F-0985-D7C4-BD261EB0B13B}"/>
              </a:ext>
            </a:extLst>
          </p:cNvPr>
          <p:cNvSpPr>
            <a:spLocks noGrp="1"/>
          </p:cNvSpPr>
          <p:nvPr>
            <p:ph sz="quarter" idx="13"/>
          </p:nvPr>
        </p:nvSpPr>
        <p:spPr>
          <a:xfrm>
            <a:off x="968354" y="2055388"/>
            <a:ext cx="8994086" cy="4704657"/>
          </a:xfrm>
        </p:spPr>
        <p:txBody>
          <a:bodyPr>
            <a:normAutofit/>
          </a:bodyPr>
          <a:lstStyle/>
          <a:p>
            <a:pPr marL="0" indent="0">
              <a:buNone/>
            </a:pPr>
            <a:r>
              <a:rPr lang="en-US" sz="2800" b="1" dirty="0"/>
              <a:t>What Have They Done?</a:t>
            </a:r>
          </a:p>
          <a:p>
            <a:pPr marL="0" indent="0">
              <a:buNone/>
            </a:pPr>
            <a:r>
              <a:rPr lang="en-US" sz="2800" b="1" dirty="0"/>
              <a:t>From 4 Jan 2025 to 30 Sep 2025, UFC team did the following:</a:t>
            </a:r>
          </a:p>
          <a:p>
            <a:pPr lvl="1"/>
            <a:r>
              <a:rPr lang="en-US" sz="2800" dirty="0"/>
              <a:t>Facilities Inspected – 167</a:t>
            </a:r>
          </a:p>
          <a:p>
            <a:pPr lvl="2">
              <a:buFont typeface="Wingdings" panose="05000000000000000000" pitchFamily="2" charset="2"/>
              <a:buChar char="ü"/>
            </a:pPr>
            <a:r>
              <a:rPr lang="en-US" sz="2800" dirty="0"/>
              <a:t>Kuwait, Jordan and Saudi Arbia</a:t>
            </a:r>
          </a:p>
          <a:p>
            <a:pPr lvl="1"/>
            <a:r>
              <a:rPr lang="en-US" sz="2800" dirty="0"/>
              <a:t>Facilities Reported as Habitable – 151</a:t>
            </a:r>
          </a:p>
          <a:p>
            <a:pPr lvl="1"/>
            <a:r>
              <a:rPr lang="en-US" sz="2800" dirty="0"/>
              <a:t>Facilities Reported as Un-Habitable – 16</a:t>
            </a:r>
          </a:p>
        </p:txBody>
      </p:sp>
    </p:spTree>
    <p:extLst>
      <p:ext uri="{BB962C8B-B14F-4D97-AF65-F5344CB8AC3E}">
        <p14:creationId xmlns:p14="http://schemas.microsoft.com/office/powerpoint/2010/main" val="1874265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4AA48-79BA-7AC7-25CF-8D4C81148F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780B90-254C-6CE1-83FC-C8613AEC9952}"/>
              </a:ext>
            </a:extLst>
          </p:cNvPr>
          <p:cNvSpPr>
            <a:spLocks noGrp="1"/>
          </p:cNvSpPr>
          <p:nvPr>
            <p:ph type="title"/>
          </p:nvPr>
        </p:nvSpPr>
        <p:spPr>
          <a:xfrm>
            <a:off x="337856" y="-49129"/>
            <a:ext cx="11371217" cy="1680205"/>
          </a:xfrm>
        </p:spPr>
        <p:txBody>
          <a:bodyPr/>
          <a:lstStyle/>
          <a:p>
            <a:r>
              <a:rPr lang="en-US" sz="3400" dirty="0"/>
              <a:t>Program Operations –  Materials-Logistics Team</a:t>
            </a:r>
            <a:br>
              <a:rPr lang="en-US" sz="3400" dirty="0"/>
            </a:br>
            <a:r>
              <a:rPr lang="en-US" sz="3400" dirty="0"/>
              <a:t>Task Force SAFE / UFC</a:t>
            </a:r>
          </a:p>
        </p:txBody>
      </p:sp>
      <p:grpSp>
        <p:nvGrpSpPr>
          <p:cNvPr id="19" name="Group 18">
            <a:extLst>
              <a:ext uri="{FF2B5EF4-FFF2-40B4-BE49-F238E27FC236}">
                <a16:creationId xmlns:a16="http://schemas.microsoft.com/office/drawing/2014/main" id="{E9AC1120-4208-4BC9-43BD-44AE23EBB0E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334762E2-A2EA-2744-9E1B-C9091DF1979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1A773D90-9696-B714-31D7-F9082ECB071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DE50AA22-0445-0DA2-9A08-1B5EB1581808}"/>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8E9D2E6B-9762-9033-0202-D95E56C601AF}"/>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44518FED-CC41-F005-F648-162B89AEFB4A}"/>
              </a:ext>
            </a:extLst>
          </p:cNvPr>
          <p:cNvPicPr>
            <a:picLocks noChangeAspect="1"/>
          </p:cNvPicPr>
          <p:nvPr/>
        </p:nvPicPr>
        <p:blipFill>
          <a:blip r:embed="rId4"/>
          <a:stretch>
            <a:fillRect/>
          </a:stretch>
        </p:blipFill>
        <p:spPr>
          <a:xfrm>
            <a:off x="10410779" y="4760794"/>
            <a:ext cx="1633870" cy="2097206"/>
          </a:xfrm>
          <a:prstGeom prst="rect">
            <a:avLst/>
          </a:prstGeom>
        </p:spPr>
      </p:pic>
      <p:grpSp>
        <p:nvGrpSpPr>
          <p:cNvPr id="5" name="Group 4">
            <a:extLst>
              <a:ext uri="{FF2B5EF4-FFF2-40B4-BE49-F238E27FC236}">
                <a16:creationId xmlns:a16="http://schemas.microsoft.com/office/drawing/2014/main" id="{93A24932-530C-EDB9-E012-75C958D3F5A7}"/>
              </a:ext>
            </a:extLst>
          </p:cNvPr>
          <p:cNvGrpSpPr/>
          <p:nvPr/>
        </p:nvGrpSpPr>
        <p:grpSpPr>
          <a:xfrm>
            <a:off x="-1419526" y="1750794"/>
            <a:ext cx="11830305" cy="5053512"/>
            <a:chOff x="-1148593" y="1864208"/>
            <a:chExt cx="10980324" cy="4624251"/>
          </a:xfrm>
        </p:grpSpPr>
        <p:grpSp>
          <p:nvGrpSpPr>
            <p:cNvPr id="10" name="Group 9">
              <a:extLst>
                <a:ext uri="{FF2B5EF4-FFF2-40B4-BE49-F238E27FC236}">
                  <a16:creationId xmlns:a16="http://schemas.microsoft.com/office/drawing/2014/main" id="{97789473-E5B2-9245-03D8-C3C50EFFECDA}"/>
                </a:ext>
              </a:extLst>
            </p:cNvPr>
            <p:cNvGrpSpPr/>
            <p:nvPr/>
          </p:nvGrpSpPr>
          <p:grpSpPr>
            <a:xfrm>
              <a:off x="478726" y="1864208"/>
              <a:ext cx="9353005" cy="4624251"/>
              <a:chOff x="-128142" y="-221545"/>
              <a:chExt cx="12343440" cy="6925884"/>
            </a:xfrm>
          </p:grpSpPr>
          <p:grpSp>
            <p:nvGrpSpPr>
              <p:cNvPr id="11" name="Group 10">
                <a:extLst>
                  <a:ext uri="{FF2B5EF4-FFF2-40B4-BE49-F238E27FC236}">
                    <a16:creationId xmlns:a16="http://schemas.microsoft.com/office/drawing/2014/main" id="{656746CD-6B1A-E519-009C-CF800D8B0763}"/>
                  </a:ext>
                </a:extLst>
              </p:cNvPr>
              <p:cNvGrpSpPr/>
              <p:nvPr/>
            </p:nvGrpSpPr>
            <p:grpSpPr>
              <a:xfrm>
                <a:off x="-128142" y="-221545"/>
                <a:ext cx="12343440" cy="6925884"/>
                <a:chOff x="-128142" y="-153019"/>
                <a:chExt cx="12343440" cy="6925884"/>
              </a:xfrm>
            </p:grpSpPr>
            <p:sp>
              <p:nvSpPr>
                <p:cNvPr id="17" name="CustomShape 1">
                  <a:extLst>
                    <a:ext uri="{FF2B5EF4-FFF2-40B4-BE49-F238E27FC236}">
                      <a16:creationId xmlns:a16="http://schemas.microsoft.com/office/drawing/2014/main" id="{D52E6659-17DD-A14F-0737-293211267D32}"/>
                    </a:ext>
                  </a:extLst>
                </p:cNvPr>
                <p:cNvSpPr/>
                <p:nvPr/>
              </p:nvSpPr>
              <p:spPr bwMode="auto">
                <a:xfrm>
                  <a:off x="-128142" y="-153019"/>
                  <a:ext cx="12343440" cy="6925884"/>
                </a:xfrm>
                <a:prstGeom prst="rect">
                  <a:avLst/>
                </a:prstGeom>
                <a:blipFill>
                  <a:blip r:embed="rId5"/>
                  <a:stretch/>
                </a:blipFill>
                <a:ln w="0">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ea typeface="+mn-ea"/>
                      <a:cs typeface="+mn-cs"/>
                    </a:rPr>
                    <a:t> </a:t>
                  </a:r>
                  <a:endParaRPr kumimoji="0"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24" name="CustomShape 5">
                  <a:extLst>
                    <a:ext uri="{FF2B5EF4-FFF2-40B4-BE49-F238E27FC236}">
                      <a16:creationId xmlns:a16="http://schemas.microsoft.com/office/drawing/2014/main" id="{CE5F6D4C-B086-FD74-A627-85CC81E67E41}"/>
                    </a:ext>
                  </a:extLst>
                </p:cNvPr>
                <p:cNvSpPr/>
                <p:nvPr/>
              </p:nvSpPr>
              <p:spPr bwMode="auto">
                <a:xfrm rot="12425489" flipV="1">
                  <a:off x="5052941" y="2494319"/>
                  <a:ext cx="1857540" cy="2183244"/>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aphicFrame>
            <p:nvGraphicFramePr>
              <p:cNvPr id="15" name="Table 6">
                <a:extLst>
                  <a:ext uri="{FF2B5EF4-FFF2-40B4-BE49-F238E27FC236}">
                    <a16:creationId xmlns:a16="http://schemas.microsoft.com/office/drawing/2014/main" id="{66C6B7F7-2A96-3CEC-F10D-C5E0B8B0F70C}"/>
                  </a:ext>
                </a:extLst>
              </p:cNvPr>
              <p:cNvGraphicFramePr>
                <a:graphicFrameLocks/>
              </p:cNvGraphicFramePr>
              <p:nvPr>
                <p:extLst>
                  <p:ext uri="{D42A27DB-BD31-4B8C-83A1-F6EECF244321}">
                    <p14:modId xmlns:p14="http://schemas.microsoft.com/office/powerpoint/2010/main" val="1382139530"/>
                  </p:ext>
                </p:extLst>
              </p:nvPr>
            </p:nvGraphicFramePr>
            <p:xfrm>
              <a:off x="6957261" y="1313165"/>
              <a:ext cx="4880259" cy="1965583"/>
            </p:xfrm>
            <a:graphic>
              <a:graphicData uri="http://schemas.openxmlformats.org/drawingml/2006/table">
                <a:tbl>
                  <a:tblPr/>
                  <a:tblGrid>
                    <a:gridCol w="2304483">
                      <a:extLst>
                        <a:ext uri="{9D8B030D-6E8A-4147-A177-3AD203B41FA5}">
                          <a16:colId xmlns:a16="http://schemas.microsoft.com/office/drawing/2014/main" val="20000"/>
                        </a:ext>
                      </a:extLst>
                    </a:gridCol>
                    <a:gridCol w="1679694">
                      <a:extLst>
                        <a:ext uri="{9D8B030D-6E8A-4147-A177-3AD203B41FA5}">
                          <a16:colId xmlns:a16="http://schemas.microsoft.com/office/drawing/2014/main" val="20001"/>
                        </a:ext>
                      </a:extLst>
                    </a:gridCol>
                  </a:tblGrid>
                  <a:tr h="373051">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Kuwait</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solidFill>
                      </a:tcPr>
                    </a:tc>
                    <a:tc hMerge="1">
                      <a:txBody>
                        <a:bodyPr/>
                        <a:lstStyle/>
                        <a:p>
                          <a:endParaRPr/>
                        </a:p>
                      </a:txBody>
                      <a:tcPr/>
                    </a:tc>
                    <a:extLst>
                      <a:ext uri="{0D108BD9-81ED-4DB2-BD59-A6C34878D82A}">
                        <a16:rowId xmlns:a16="http://schemas.microsoft.com/office/drawing/2014/main" val="10000"/>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en-US" sz="1400" b="1" dirty="0">
                              <a:solidFill>
                                <a:schemeClr val="bg1"/>
                              </a:solidFill>
                            </a:rPr>
                            <a:t>Property Manager</a:t>
                          </a: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1 </a:t>
                          </a:r>
                          <a:endParaRPr lang="en-US" sz="1400" b="0" strike="noStrike" spc="-1" dirty="0">
                            <a:latin typeface="Calibri" panose="020F0502020204030204" pitchFamily="34" charset="0"/>
                            <a:ea typeface="Calibri" panose="020F0502020204030204" pitchFamily="34" charset="0"/>
                            <a:cs typeface="Calibri" panose="020F0502020204030204" pitchFamily="34" charset="0"/>
                          </a:endParaRP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Materials Control Supervisor</a:t>
                          </a: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chemeClr val="bg1"/>
                              </a:solidFill>
                              <a:latin typeface="Calibri" panose="020F0502020204030204" pitchFamily="34" charset="0"/>
                              <a:ea typeface="Calibri" panose="020F0502020204030204" pitchFamily="34" charset="0"/>
                              <a:cs typeface="Calibri" panose="020F0502020204030204" pitchFamily="34" charset="0"/>
                            </a:rPr>
                            <a:t>1</a:t>
                          </a:r>
                          <a:endParaRPr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3"/>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Materials Control Specialist</a:t>
                          </a: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dirty="0">
                              <a:solidFill>
                                <a:schemeClr val="bg1"/>
                              </a:solidFill>
                              <a:latin typeface="Calibri" panose="020F0502020204030204" pitchFamily="34" charset="0"/>
                              <a:ea typeface="Calibri" panose="020F0502020204030204" pitchFamily="34" charset="0"/>
                              <a:cs typeface="Calibri" panose="020F0502020204030204" pitchFamily="34" charset="0"/>
                            </a:rPr>
                            <a:t>1 </a:t>
                          </a:r>
                          <a:endParaRPr sz="1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487285089"/>
                      </a:ext>
                    </a:extLst>
                  </a:tr>
                </a:tbl>
              </a:graphicData>
            </a:graphic>
          </p:graphicFrame>
        </p:grpSp>
        <p:sp>
          <p:nvSpPr>
            <p:cNvPr id="27" name="TextBox 26">
              <a:extLst>
                <a:ext uri="{FF2B5EF4-FFF2-40B4-BE49-F238E27FC236}">
                  <a16:creationId xmlns:a16="http://schemas.microsoft.com/office/drawing/2014/main" id="{041ED4A3-7AD1-E32F-9EE1-BE1ABED9113A}"/>
                </a:ext>
              </a:extLst>
            </p:cNvPr>
            <p:cNvSpPr txBox="1"/>
            <p:nvPr/>
          </p:nvSpPr>
          <p:spPr>
            <a:xfrm>
              <a:off x="-1148593" y="1864208"/>
              <a:ext cx="6096000" cy="15696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Task Force UFC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Current Team Location</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2400" b="1" spc="-1" dirty="0">
                  <a:solidFill>
                    <a:srgbClr val="000000"/>
                  </a:solidFill>
                  <a:latin typeface="Calibri"/>
                  <a:ea typeface="Calibri"/>
                </a:rPr>
                <a:t>In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CENTCOM</a:t>
              </a:r>
              <a:endParaRPr kumimoji="0" lang="en-US" sz="2400" b="0" i="0" u="none" strike="noStrike" kern="1200" cap="none" spc="-1" normalizeH="0" baseline="0" noProof="0" dirty="0">
                <a:ln>
                  <a:noFill/>
                </a:ln>
                <a:solidFill>
                  <a:prstClr val="black"/>
                </a:solidFill>
                <a:effectLst/>
                <a:uLnTx/>
                <a:uFillTx/>
                <a:latin typeface="Arial"/>
                <a:ea typeface="+mn-ea"/>
                <a:cs typeface="+mn-cs"/>
              </a:endParaRPr>
            </a:p>
          </p:txBody>
        </p:sp>
        <p:sp>
          <p:nvSpPr>
            <p:cNvPr id="8" name="TextBox 7">
              <a:extLst>
                <a:ext uri="{FF2B5EF4-FFF2-40B4-BE49-F238E27FC236}">
                  <a16:creationId xmlns:a16="http://schemas.microsoft.com/office/drawing/2014/main" id="{ABEF8F76-2B80-CE35-71E9-11D9B207828C}"/>
                </a:ext>
              </a:extLst>
            </p:cNvPr>
            <p:cNvSpPr txBox="1"/>
            <p:nvPr/>
          </p:nvSpPr>
          <p:spPr>
            <a:xfrm>
              <a:off x="6279967" y="2463029"/>
              <a:ext cx="2902067" cy="369332"/>
            </a:xfrm>
            <a:prstGeom prst="rect">
              <a:avLst/>
            </a:prstGeom>
            <a:solidFill>
              <a:schemeClr val="tx1">
                <a:lumMod val="95000"/>
              </a:schemeClr>
            </a:solidFill>
          </p:spPr>
          <p:txBody>
            <a:bodyPr wrap="square">
              <a:spAutoFit/>
            </a:bodyPr>
            <a:lstStyle/>
            <a:p>
              <a:r>
                <a:rPr lang="en-US" b="1" dirty="0">
                  <a:solidFill>
                    <a:schemeClr val="bg1"/>
                  </a:solidFill>
                </a:rPr>
                <a:t>Contractual Requirements</a:t>
              </a:r>
            </a:p>
          </p:txBody>
        </p:sp>
      </p:grpSp>
    </p:spTree>
    <p:extLst>
      <p:ext uri="{BB962C8B-B14F-4D97-AF65-F5344CB8AC3E}">
        <p14:creationId xmlns:p14="http://schemas.microsoft.com/office/powerpoint/2010/main" val="2291000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9A1B-9EEB-6B0D-1728-E4B91233F7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4086DF-839B-9FC8-D336-1C0A0A60AEAB}"/>
              </a:ext>
            </a:extLst>
          </p:cNvPr>
          <p:cNvSpPr>
            <a:spLocks noGrp="1"/>
          </p:cNvSpPr>
          <p:nvPr>
            <p:ph type="title"/>
          </p:nvPr>
        </p:nvSpPr>
        <p:spPr>
          <a:xfrm>
            <a:off x="482927" y="53693"/>
            <a:ext cx="11548652" cy="1680205"/>
          </a:xfrm>
        </p:spPr>
        <p:txBody>
          <a:bodyPr/>
          <a:lstStyle/>
          <a:p>
            <a:r>
              <a:rPr lang="en-US" sz="3400" dirty="0"/>
              <a:t>Program Operations – Property-Materials-Logistics Team</a:t>
            </a:r>
            <a:br>
              <a:rPr lang="en-US" dirty="0"/>
            </a:br>
            <a:r>
              <a:rPr lang="en-US" sz="3200" dirty="0"/>
              <a:t>Task Force SAFE / UFC</a:t>
            </a:r>
          </a:p>
        </p:txBody>
      </p:sp>
      <p:grpSp>
        <p:nvGrpSpPr>
          <p:cNvPr id="19" name="Group 18">
            <a:extLst>
              <a:ext uri="{FF2B5EF4-FFF2-40B4-BE49-F238E27FC236}">
                <a16:creationId xmlns:a16="http://schemas.microsoft.com/office/drawing/2014/main" id="{E3ECC776-B58C-8519-EA42-452F7018F6B6}"/>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6F6855A6-7378-7AE0-F2A2-0C6CF17799C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29D62963-BA95-9F3F-51AF-98620BBBFD3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D936E78D-AF8F-6432-B667-63551760844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7691638F-AF6E-5D29-1D3A-3D9A7C95A839}"/>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D7F1018C-58C7-424E-F78E-53D744AA235D}"/>
              </a:ext>
            </a:extLst>
          </p:cNvPr>
          <p:cNvPicPr>
            <a:picLocks noChangeAspect="1"/>
          </p:cNvPicPr>
          <p:nvPr/>
        </p:nvPicPr>
        <p:blipFill>
          <a:blip r:embed="rId4"/>
          <a:stretch>
            <a:fillRect/>
          </a:stretch>
        </p:blipFill>
        <p:spPr>
          <a:xfrm>
            <a:off x="10397709" y="4707101"/>
            <a:ext cx="1633870" cy="2097206"/>
          </a:xfrm>
          <a:prstGeom prst="rect">
            <a:avLst/>
          </a:prstGeom>
        </p:spPr>
      </p:pic>
      <p:sp>
        <p:nvSpPr>
          <p:cNvPr id="6" name="Content Placeholder 5">
            <a:extLst>
              <a:ext uri="{FF2B5EF4-FFF2-40B4-BE49-F238E27FC236}">
                <a16:creationId xmlns:a16="http://schemas.microsoft.com/office/drawing/2014/main" id="{9322C2D0-C693-7689-9D7C-7D8B5E2DECD6}"/>
              </a:ext>
            </a:extLst>
          </p:cNvPr>
          <p:cNvSpPr>
            <a:spLocks noGrp="1"/>
          </p:cNvSpPr>
          <p:nvPr>
            <p:ph sz="quarter" idx="13"/>
          </p:nvPr>
        </p:nvSpPr>
        <p:spPr>
          <a:xfrm>
            <a:off x="1320722" y="2050467"/>
            <a:ext cx="9074487" cy="4418065"/>
          </a:xfrm>
        </p:spPr>
        <p:txBody>
          <a:bodyPr>
            <a:noAutofit/>
          </a:bodyPr>
          <a:lstStyle/>
          <a:p>
            <a:pPr marL="0" indent="0">
              <a:buNone/>
            </a:pPr>
            <a:r>
              <a:rPr lang="en-US" sz="2400" b="1" dirty="0">
                <a:latin typeface="Aptos Display" panose="020B0004020202020204" pitchFamily="34" charset="0"/>
              </a:rPr>
              <a:t>What Have They Done?</a:t>
            </a:r>
          </a:p>
          <a:p>
            <a:pPr marL="0" indent="0">
              <a:buNone/>
            </a:pPr>
            <a:r>
              <a:rPr lang="en-US" sz="2400" b="1" dirty="0">
                <a:latin typeface="Aptos Display" panose="020B0004020202020204" pitchFamily="34" charset="0"/>
              </a:rPr>
              <a:t>From 4 Jan 2025 to 30 Sep 2025, the team did the following:</a:t>
            </a:r>
          </a:p>
          <a:p>
            <a:pPr lvl="1">
              <a:buFont typeface="Wingdings" panose="05000000000000000000" pitchFamily="2" charset="2"/>
              <a:buChar char="§"/>
            </a:pPr>
            <a:r>
              <a:rPr lang="en-US" sz="2400" dirty="0">
                <a:latin typeface="Aptos Display" panose="020B0004020202020204" pitchFamily="34" charset="0"/>
              </a:rPr>
              <a:t>Maintained 100% accountability of all TF SAFE/UFC government and contractor property and materials valued at nearly $2.2 Million dollars and totaled over 65000 items in seven countries throughout the AOR. </a:t>
            </a:r>
          </a:p>
          <a:p>
            <a:pPr lvl="1">
              <a:buFont typeface="Wingdings" panose="05000000000000000000" pitchFamily="2" charset="2"/>
              <a:buChar char="§"/>
            </a:pPr>
            <a:r>
              <a:rPr lang="en-US" sz="2400" dirty="0">
                <a:latin typeface="Aptos Display" panose="020B0004020202020204" pitchFamily="34" charset="0"/>
                <a:ea typeface="Times New Roman" panose="02020603050405020304" pitchFamily="18" charset="0"/>
              </a:rPr>
              <a:t>C</a:t>
            </a:r>
            <a:r>
              <a:rPr lang="en-US" sz="2400" dirty="0">
                <a:effectLst/>
                <a:latin typeface="Aptos Display" panose="020B0004020202020204" pitchFamily="34" charset="0"/>
                <a:ea typeface="Times New Roman" panose="02020603050405020304" pitchFamily="18" charset="0"/>
              </a:rPr>
              <a:t>ompleted procurement activities to supply electricians throughout the AOR with components needed to repair electrical deficiencies by shipping 16250 items.</a:t>
            </a:r>
            <a:endParaRPr lang="en-US" sz="2400" dirty="0">
              <a:latin typeface="Aptos Display" panose="020B0004020202020204" pitchFamily="34" charset="0"/>
            </a:endParaRPr>
          </a:p>
        </p:txBody>
      </p:sp>
    </p:spTree>
    <p:extLst>
      <p:ext uri="{BB962C8B-B14F-4D97-AF65-F5344CB8AC3E}">
        <p14:creationId xmlns:p14="http://schemas.microsoft.com/office/powerpoint/2010/main" val="2855322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3D5D6-507E-ACF3-4E1A-B7BBFC9EDB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75E00EB-2A1D-81D7-37EF-C2972A9CE565}"/>
              </a:ext>
            </a:extLst>
          </p:cNvPr>
          <p:cNvSpPr>
            <a:spLocks noGrp="1"/>
          </p:cNvSpPr>
          <p:nvPr>
            <p:ph type="title"/>
          </p:nvPr>
        </p:nvSpPr>
        <p:spPr>
          <a:xfrm>
            <a:off x="594358" y="11681"/>
            <a:ext cx="11371217" cy="1680205"/>
          </a:xfrm>
        </p:spPr>
        <p:txBody>
          <a:bodyPr/>
          <a:lstStyle/>
          <a:p>
            <a:r>
              <a:rPr lang="en-US" sz="3600" dirty="0"/>
              <a:t>Program Operations – Site Safety and Health Officer</a:t>
            </a:r>
            <a:br>
              <a:rPr lang="en-US" dirty="0"/>
            </a:br>
            <a:r>
              <a:rPr lang="en-US" sz="3200" dirty="0"/>
              <a:t>Task Force SAFE / UFC</a:t>
            </a:r>
          </a:p>
        </p:txBody>
      </p:sp>
      <p:grpSp>
        <p:nvGrpSpPr>
          <p:cNvPr id="19" name="Group 18">
            <a:extLst>
              <a:ext uri="{FF2B5EF4-FFF2-40B4-BE49-F238E27FC236}">
                <a16:creationId xmlns:a16="http://schemas.microsoft.com/office/drawing/2014/main" id="{067A63AA-5549-FD58-1DBA-3A731C239315}"/>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DE7AD32D-2B44-3CFF-FC53-457B4519940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BDA0D49-8469-356F-D246-BB375F4561F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AB40FCDD-A7B7-16E6-E168-CD0C93912C91}"/>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7A7AFCAA-0F23-3878-ADA1-36C7A2DB4207}"/>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0C5D0735-A420-2708-F60C-704BECF58C2C}"/>
              </a:ext>
            </a:extLst>
          </p:cNvPr>
          <p:cNvPicPr>
            <a:picLocks noChangeAspect="1"/>
          </p:cNvPicPr>
          <p:nvPr/>
        </p:nvPicPr>
        <p:blipFill>
          <a:blip r:embed="rId4"/>
          <a:stretch>
            <a:fillRect/>
          </a:stretch>
        </p:blipFill>
        <p:spPr>
          <a:xfrm>
            <a:off x="10404213" y="4749113"/>
            <a:ext cx="1633870" cy="2097206"/>
          </a:xfrm>
          <a:prstGeom prst="rect">
            <a:avLst/>
          </a:prstGeom>
        </p:spPr>
      </p:pic>
      <p:grpSp>
        <p:nvGrpSpPr>
          <p:cNvPr id="6" name="Group 5">
            <a:extLst>
              <a:ext uri="{FF2B5EF4-FFF2-40B4-BE49-F238E27FC236}">
                <a16:creationId xmlns:a16="http://schemas.microsoft.com/office/drawing/2014/main" id="{29CF4604-B24A-C3E4-C7D8-19C097A756A1}"/>
              </a:ext>
            </a:extLst>
          </p:cNvPr>
          <p:cNvGrpSpPr/>
          <p:nvPr/>
        </p:nvGrpSpPr>
        <p:grpSpPr>
          <a:xfrm>
            <a:off x="-1385660" y="1733899"/>
            <a:ext cx="11371217" cy="4870101"/>
            <a:chOff x="-1148593" y="1864208"/>
            <a:chExt cx="10980324" cy="4624251"/>
          </a:xfrm>
        </p:grpSpPr>
        <p:grpSp>
          <p:nvGrpSpPr>
            <p:cNvPr id="10" name="Group 9">
              <a:extLst>
                <a:ext uri="{FF2B5EF4-FFF2-40B4-BE49-F238E27FC236}">
                  <a16:creationId xmlns:a16="http://schemas.microsoft.com/office/drawing/2014/main" id="{DB8941C8-A41C-EACE-409E-C9552BC9015B}"/>
                </a:ext>
              </a:extLst>
            </p:cNvPr>
            <p:cNvGrpSpPr/>
            <p:nvPr/>
          </p:nvGrpSpPr>
          <p:grpSpPr>
            <a:xfrm>
              <a:off x="478726" y="1864208"/>
              <a:ext cx="9353005" cy="4624251"/>
              <a:chOff x="-128142" y="-221545"/>
              <a:chExt cx="12343440" cy="6925884"/>
            </a:xfrm>
          </p:grpSpPr>
          <p:grpSp>
            <p:nvGrpSpPr>
              <p:cNvPr id="11" name="Group 10">
                <a:extLst>
                  <a:ext uri="{FF2B5EF4-FFF2-40B4-BE49-F238E27FC236}">
                    <a16:creationId xmlns:a16="http://schemas.microsoft.com/office/drawing/2014/main" id="{B50A3864-CC08-6A28-77E4-4F8F669B8EF6}"/>
                  </a:ext>
                </a:extLst>
              </p:cNvPr>
              <p:cNvGrpSpPr/>
              <p:nvPr/>
            </p:nvGrpSpPr>
            <p:grpSpPr>
              <a:xfrm>
                <a:off x="-128142" y="-221545"/>
                <a:ext cx="12343440" cy="6925884"/>
                <a:chOff x="-128142" y="-153019"/>
                <a:chExt cx="12343440" cy="6925884"/>
              </a:xfrm>
            </p:grpSpPr>
            <p:sp>
              <p:nvSpPr>
                <p:cNvPr id="17" name="CustomShape 1">
                  <a:extLst>
                    <a:ext uri="{FF2B5EF4-FFF2-40B4-BE49-F238E27FC236}">
                      <a16:creationId xmlns:a16="http://schemas.microsoft.com/office/drawing/2014/main" id="{630E8C36-D2EA-18A3-8BAD-5DEAF9B91609}"/>
                    </a:ext>
                  </a:extLst>
                </p:cNvPr>
                <p:cNvSpPr/>
                <p:nvPr/>
              </p:nvSpPr>
              <p:spPr bwMode="auto">
                <a:xfrm>
                  <a:off x="-128142" y="-153019"/>
                  <a:ext cx="12343440" cy="6925884"/>
                </a:xfrm>
                <a:prstGeom prst="rect">
                  <a:avLst/>
                </a:prstGeom>
                <a:blipFill>
                  <a:blip r:embed="rId5"/>
                  <a:stretch/>
                </a:blipFill>
                <a:ln w="0">
                  <a:noFill/>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prstClr val="black"/>
                      </a:solidFill>
                      <a:effectLst/>
                      <a:uLnTx/>
                      <a:uFillTx/>
                      <a:latin typeface="Calibri"/>
                      <a:ea typeface="+mn-ea"/>
                      <a:cs typeface="+mn-cs"/>
                    </a:rPr>
                    <a:t> </a:t>
                  </a:r>
                  <a:endParaRPr kumimoji="0"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24" name="CustomShape 5">
                  <a:extLst>
                    <a:ext uri="{FF2B5EF4-FFF2-40B4-BE49-F238E27FC236}">
                      <a16:creationId xmlns:a16="http://schemas.microsoft.com/office/drawing/2014/main" id="{6DFA5C32-7475-E12D-FF78-7A51A223019E}"/>
                    </a:ext>
                  </a:extLst>
                </p:cNvPr>
                <p:cNvSpPr/>
                <p:nvPr/>
              </p:nvSpPr>
              <p:spPr bwMode="auto">
                <a:xfrm rot="12425489" flipV="1">
                  <a:off x="5205846" y="1774052"/>
                  <a:ext cx="1505570" cy="2849086"/>
                </a:xfrm>
                <a:custGeom>
                  <a:avLst/>
                  <a:gdLst/>
                  <a:ahLst/>
                  <a:cxnLst/>
                  <a:rect l="l" t="t" r="r" b="b"/>
                  <a:pathLst>
                    <a:path w="1083310" h="759460" extrusionOk="0">
                      <a:moveTo>
                        <a:pt x="0" y="0"/>
                      </a:moveTo>
                      <a:lnTo>
                        <a:pt x="1083310" y="759460"/>
                      </a:lnTo>
                    </a:path>
                  </a:pathLst>
                </a:custGeom>
                <a:noFill/>
                <a:ln w="76200">
                  <a:solidFill>
                    <a:srgbClr val="300FF7">
                      <a:alpha val="75000"/>
                    </a:srgbClr>
                  </a:solidFill>
                  <a:round/>
                  <a:tailEnd type="triangle" w="lg" len="lg"/>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graphicFrame>
            <p:nvGraphicFramePr>
              <p:cNvPr id="15" name="Table 6">
                <a:extLst>
                  <a:ext uri="{FF2B5EF4-FFF2-40B4-BE49-F238E27FC236}">
                    <a16:creationId xmlns:a16="http://schemas.microsoft.com/office/drawing/2014/main" id="{058C07F3-39B6-0C5E-E138-FB05F2401C92}"/>
                  </a:ext>
                </a:extLst>
              </p:cNvPr>
              <p:cNvGraphicFramePr>
                <a:graphicFrameLocks/>
              </p:cNvGraphicFramePr>
              <p:nvPr>
                <p:extLst>
                  <p:ext uri="{D42A27DB-BD31-4B8C-83A1-F6EECF244321}">
                    <p14:modId xmlns:p14="http://schemas.microsoft.com/office/powerpoint/2010/main" val="30419598"/>
                  </p:ext>
                </p:extLst>
              </p:nvPr>
            </p:nvGraphicFramePr>
            <p:xfrm>
              <a:off x="6957261" y="1313165"/>
              <a:ext cx="5077289" cy="1267412"/>
            </p:xfrm>
            <a:graphic>
              <a:graphicData uri="http://schemas.openxmlformats.org/drawingml/2006/table">
                <a:tbl>
                  <a:tblPr/>
                  <a:tblGrid>
                    <a:gridCol w="2950994">
                      <a:extLst>
                        <a:ext uri="{9D8B030D-6E8A-4147-A177-3AD203B41FA5}">
                          <a16:colId xmlns:a16="http://schemas.microsoft.com/office/drawing/2014/main" val="20000"/>
                        </a:ext>
                      </a:extLst>
                    </a:gridCol>
                    <a:gridCol w="1033183">
                      <a:extLst>
                        <a:ext uri="{9D8B030D-6E8A-4147-A177-3AD203B41FA5}">
                          <a16:colId xmlns:a16="http://schemas.microsoft.com/office/drawing/2014/main" val="20001"/>
                        </a:ext>
                      </a:extLst>
                    </a:gridCol>
                  </a:tblGrid>
                  <a:tr h="373051">
                    <a:tc gridSpan="2">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800" b="1" strike="noStrike" spc="-1" dirty="0">
                              <a:solidFill>
                                <a:srgbClr val="FFFFFF"/>
                              </a:solidFill>
                              <a:latin typeface="Calibri"/>
                              <a:ea typeface="Calibri"/>
                            </a:rPr>
                            <a:t>Kuwait</a:t>
                          </a:r>
                          <a:endParaRPr lang="en-US" sz="1800" b="0" strike="noStrike" spc="-1" dirty="0">
                            <a:latin typeface="Arial"/>
                          </a:endParaRPr>
                        </a:p>
                      </a:txBody>
                      <a:tcPr marL="90000" marR="45000">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6">
                            <a:lumMod val="75000"/>
                          </a:schemeClr>
                        </a:solidFill>
                      </a:tcPr>
                    </a:tc>
                    <a:tc hMerge="1">
                      <a:txBody>
                        <a:bodyPr/>
                        <a:lstStyle/>
                        <a:p>
                          <a:endParaRPr/>
                        </a:p>
                      </a:txBody>
                      <a:tcPr/>
                    </a:tc>
                    <a:extLst>
                      <a:ext uri="{0D108BD9-81ED-4DB2-BD59-A6C34878D82A}">
                        <a16:rowId xmlns:a16="http://schemas.microsoft.com/office/drawing/2014/main" val="10000"/>
                      </a:ext>
                    </a:extLst>
                  </a:tr>
                  <a:tr h="353716">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en-US" sz="1400" b="1" dirty="0">
                              <a:solidFill>
                                <a:schemeClr val="bg1"/>
                              </a:solidFill>
                            </a:rPr>
                            <a:t>Site Safety and Health Officer (SSHO)</a:t>
                          </a: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lang="en-US" sz="1400" b="1" dirty="0">
                              <a:solidFill>
                                <a:schemeClr val="bg1"/>
                              </a:solidFill>
                            </a:rPr>
                            <a:t>(Master Electrician Required)</a:t>
                          </a: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6">
                            <a:lumMod val="20000"/>
                            <a:lumOff val="80000"/>
                          </a:schemeClr>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algn="ctr">
                            <a:lnSpc>
                              <a:spcPct val="100000"/>
                            </a:lnSpc>
                            <a:tabLst>
                              <a:tab pos="0" algn="l"/>
                            </a:tabLst>
                            <a:defRPr/>
                          </a:pPr>
                          <a:r>
                            <a:rPr lang="en-US" sz="1400" b="1" strike="noStrike" spc="-1" dirty="0">
                              <a:solidFill>
                                <a:srgbClr val="000000"/>
                              </a:solidFill>
                              <a:latin typeface="Calibri" panose="020F0502020204030204" pitchFamily="34" charset="0"/>
                              <a:ea typeface="Calibri" panose="020F0502020204030204" pitchFamily="34" charset="0"/>
                              <a:cs typeface="Calibri" panose="020F0502020204030204" pitchFamily="34" charset="0"/>
                            </a:rPr>
                            <a:t>1 </a:t>
                          </a:r>
                          <a:endParaRPr lang="en-US" sz="1400" b="0" strike="noStrike" spc="-1" dirty="0">
                            <a:latin typeface="Calibri" panose="020F0502020204030204" pitchFamily="34" charset="0"/>
                            <a:ea typeface="Calibri" panose="020F0502020204030204" pitchFamily="34" charset="0"/>
                            <a:cs typeface="Calibri" panose="020F0502020204030204" pitchFamily="34" charset="0"/>
                          </a:endParaRPr>
                        </a:p>
                      </a:txBody>
                      <a:tcPr marL="90000" marR="45000" anchor="ctr">
                        <a:lnL w="12700" cmpd="sng">
                          <a:solidFill>
                            <a:prstClr val="black"/>
                          </a:solidFill>
                          <a:prstDash val="solid"/>
                        </a:lnL>
                        <a:lnR w="12700" cmpd="sng">
                          <a:solidFill>
                            <a:prstClr val="black"/>
                          </a:solidFill>
                          <a:prstDash val="solid"/>
                        </a:lnR>
                        <a:lnT w="12700" cmpd="sng">
                          <a:solidFill>
                            <a:prstClr val="black"/>
                          </a:solidFill>
                          <a:prstDash val="solid"/>
                        </a:lnT>
                        <a:lnB w="12700" cmpd="sng">
                          <a:solidFill>
                            <a:prstClr val="black"/>
                          </a:solidFill>
                          <a:prstDash val="soli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1"/>
                      </a:ext>
                    </a:extLst>
                  </a:tr>
                </a:tbl>
              </a:graphicData>
            </a:graphic>
          </p:graphicFrame>
        </p:grpSp>
        <p:sp>
          <p:nvSpPr>
            <p:cNvPr id="27" name="TextBox 26">
              <a:extLst>
                <a:ext uri="{FF2B5EF4-FFF2-40B4-BE49-F238E27FC236}">
                  <a16:creationId xmlns:a16="http://schemas.microsoft.com/office/drawing/2014/main" id="{03938D70-63B8-396B-8F5F-AD202E980C43}"/>
                </a:ext>
              </a:extLst>
            </p:cNvPr>
            <p:cNvSpPr txBox="1"/>
            <p:nvPr/>
          </p:nvSpPr>
          <p:spPr>
            <a:xfrm>
              <a:off x="-1148593" y="1864208"/>
              <a:ext cx="6096000" cy="156966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Task Force UFC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Current Team Location</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lang="en-US" sz="2400" b="1" spc="-1" dirty="0">
                  <a:solidFill>
                    <a:srgbClr val="000000"/>
                  </a:solidFill>
                  <a:latin typeface="Calibri"/>
                  <a:ea typeface="Calibri"/>
                </a:rPr>
                <a:t>In </a:t>
              </a:r>
            </a:p>
            <a:p>
              <a:pPr marL="0" marR="0" lvl="0" indent="0" algn="ctr" defTabSz="914400" rtl="0" eaLnBrk="1" fontAlgn="auto" latinLnBrk="0" hangingPunct="1">
                <a:lnSpc>
                  <a:spcPct val="100000"/>
                </a:lnSpc>
                <a:spcBef>
                  <a:spcPts val="0"/>
                </a:spcBef>
                <a:spcAft>
                  <a:spcPts val="0"/>
                </a:spcAft>
                <a:buClrTx/>
                <a:buSzTx/>
                <a:buFontTx/>
                <a:buNone/>
                <a:tabLst>
                  <a:tab pos="0" algn="l"/>
                </a:tabLst>
                <a:defRPr/>
              </a:pPr>
              <a:r>
                <a:rPr kumimoji="0" lang="en-US" sz="2400" b="1" i="0" u="none" strike="noStrike" kern="1200" cap="none" spc="-1" normalizeH="0" baseline="0" noProof="0" dirty="0">
                  <a:ln>
                    <a:noFill/>
                  </a:ln>
                  <a:solidFill>
                    <a:srgbClr val="000000"/>
                  </a:solidFill>
                  <a:effectLst/>
                  <a:uLnTx/>
                  <a:uFillTx/>
                  <a:latin typeface="Calibri"/>
                  <a:ea typeface="Calibri"/>
                  <a:cs typeface="+mn-cs"/>
                </a:rPr>
                <a:t>CENTCOM</a:t>
              </a:r>
              <a:endParaRPr kumimoji="0" lang="en-US" sz="2400" b="0" i="0" u="none" strike="noStrike" kern="1200" cap="none" spc="-1" normalizeH="0" baseline="0" noProof="0" dirty="0">
                <a:ln>
                  <a:noFill/>
                </a:ln>
                <a:solidFill>
                  <a:prstClr val="black"/>
                </a:solidFill>
                <a:effectLst/>
                <a:uLnTx/>
                <a:uFillTx/>
                <a:latin typeface="Arial"/>
                <a:ea typeface="+mn-ea"/>
                <a:cs typeface="+mn-cs"/>
              </a:endParaRPr>
            </a:p>
          </p:txBody>
        </p:sp>
        <p:sp>
          <p:nvSpPr>
            <p:cNvPr id="7" name="TextBox 6">
              <a:extLst>
                <a:ext uri="{FF2B5EF4-FFF2-40B4-BE49-F238E27FC236}">
                  <a16:creationId xmlns:a16="http://schemas.microsoft.com/office/drawing/2014/main" id="{3825E248-4B4A-D041-2879-8FE73B0C9A1F}"/>
                </a:ext>
              </a:extLst>
            </p:cNvPr>
            <p:cNvSpPr txBox="1"/>
            <p:nvPr/>
          </p:nvSpPr>
          <p:spPr>
            <a:xfrm>
              <a:off x="6279967" y="2463029"/>
              <a:ext cx="2902067" cy="369332"/>
            </a:xfrm>
            <a:prstGeom prst="rect">
              <a:avLst/>
            </a:prstGeom>
            <a:solidFill>
              <a:schemeClr val="tx1">
                <a:lumMod val="95000"/>
              </a:schemeClr>
            </a:solidFill>
          </p:spPr>
          <p:txBody>
            <a:bodyPr wrap="square">
              <a:spAutoFit/>
            </a:bodyPr>
            <a:lstStyle/>
            <a:p>
              <a:r>
                <a:rPr lang="en-US" b="1" dirty="0">
                  <a:solidFill>
                    <a:schemeClr val="bg1"/>
                  </a:solidFill>
                </a:rPr>
                <a:t>Contractual Requirements</a:t>
              </a:r>
            </a:p>
          </p:txBody>
        </p:sp>
        <p:sp>
          <p:nvSpPr>
            <p:cNvPr id="5" name="TextBox 4">
              <a:extLst>
                <a:ext uri="{FF2B5EF4-FFF2-40B4-BE49-F238E27FC236}">
                  <a16:creationId xmlns:a16="http://schemas.microsoft.com/office/drawing/2014/main" id="{2343C36F-DAC4-A5C6-C63F-82527BF9AF43}"/>
                </a:ext>
              </a:extLst>
            </p:cNvPr>
            <p:cNvSpPr txBox="1"/>
            <p:nvPr/>
          </p:nvSpPr>
          <p:spPr>
            <a:xfrm>
              <a:off x="5813908" y="3735119"/>
              <a:ext cx="3914509" cy="993614"/>
            </a:xfrm>
            <a:prstGeom prst="rect">
              <a:avLst/>
            </a:prstGeom>
            <a:solidFill>
              <a:schemeClr val="tx1"/>
            </a:solidFill>
          </p:spPr>
          <p:txBody>
            <a:bodyPr wrap="square" rtlCol="0">
              <a:spAutoFit/>
            </a:bodyPr>
            <a:lstStyle/>
            <a:p>
              <a:r>
                <a:rPr lang="en-US" sz="1600" b="1" dirty="0">
                  <a:solidFill>
                    <a:schemeClr val="bg1"/>
                  </a:solidFill>
                  <a:latin typeface="Aptos Display" panose="020B0004020202020204" pitchFamily="34" charset="0"/>
                </a:rPr>
                <a:t>Note:</a:t>
              </a:r>
            </a:p>
            <a:p>
              <a:pPr marL="285750" indent="-285750">
                <a:buFont typeface="Wingdings" panose="05000000000000000000" pitchFamily="2" charset="2"/>
                <a:buChar char="§"/>
              </a:pPr>
              <a:r>
                <a:rPr lang="en-US" sz="1600" b="1" dirty="0">
                  <a:solidFill>
                    <a:schemeClr val="bg1"/>
                  </a:solidFill>
                  <a:latin typeface="Aptos Display" panose="020B0004020202020204" pitchFamily="34" charset="0"/>
                </a:rPr>
                <a:t>The SSHO position has been waived for a Health and Safety Professional</a:t>
              </a:r>
            </a:p>
            <a:p>
              <a:endParaRPr lang="en-US" sz="1400" b="1" dirty="0">
                <a:solidFill>
                  <a:schemeClr val="bg1"/>
                </a:solidFill>
              </a:endParaRPr>
            </a:p>
          </p:txBody>
        </p:sp>
      </p:grpSp>
    </p:spTree>
    <p:extLst>
      <p:ext uri="{BB962C8B-B14F-4D97-AF65-F5344CB8AC3E}">
        <p14:creationId xmlns:p14="http://schemas.microsoft.com/office/powerpoint/2010/main" val="4197795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1D2B0-5C0F-7415-7657-09295ADB88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66F078-0F88-C92D-36C1-B556BB1FCD6B}"/>
              </a:ext>
            </a:extLst>
          </p:cNvPr>
          <p:cNvSpPr>
            <a:spLocks noGrp="1"/>
          </p:cNvSpPr>
          <p:nvPr>
            <p:ph type="title"/>
          </p:nvPr>
        </p:nvSpPr>
        <p:spPr>
          <a:xfrm>
            <a:off x="482927" y="-52750"/>
            <a:ext cx="11301549" cy="1680205"/>
          </a:xfrm>
        </p:spPr>
        <p:txBody>
          <a:bodyPr/>
          <a:lstStyle/>
          <a:p>
            <a:r>
              <a:rPr lang="en-US" sz="3200" dirty="0"/>
              <a:t>Program Operations – Property-Materials-Logistics Team</a:t>
            </a:r>
            <a:br>
              <a:rPr lang="en-US" dirty="0"/>
            </a:br>
            <a:r>
              <a:rPr lang="en-US" sz="3200" dirty="0"/>
              <a:t>Task Force SAFE / UFC</a:t>
            </a:r>
          </a:p>
        </p:txBody>
      </p:sp>
      <p:grpSp>
        <p:nvGrpSpPr>
          <p:cNvPr id="19" name="Group 18">
            <a:extLst>
              <a:ext uri="{FF2B5EF4-FFF2-40B4-BE49-F238E27FC236}">
                <a16:creationId xmlns:a16="http://schemas.microsoft.com/office/drawing/2014/main" id="{235C21F4-F5D5-8EB0-4A6F-E99E490A244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AEF8983B-D460-CF84-6BEA-3910A676FC4D}"/>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90B7D4B4-03C0-AC60-D350-2F5D082828F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6E479DC1-7D25-7A38-EAB8-6FBA0AD1147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346425D4-40FB-1E4F-D5FF-B41B759ED6A1}"/>
              </a:ext>
            </a:extLst>
          </p:cNvPr>
          <p:cNvPicPr>
            <a:picLocks noChangeAspect="1"/>
          </p:cNvPicPr>
          <p:nvPr/>
        </p:nvPicPr>
        <p:blipFill>
          <a:blip r:embed="rId3"/>
          <a:stretch>
            <a:fillRect/>
          </a:stretch>
        </p:blipFill>
        <p:spPr>
          <a:xfrm>
            <a:off x="482927" y="53694"/>
            <a:ext cx="970854" cy="769028"/>
          </a:xfrm>
          <a:prstGeom prst="rect">
            <a:avLst/>
          </a:prstGeom>
        </p:spPr>
      </p:pic>
      <p:pic>
        <p:nvPicPr>
          <p:cNvPr id="4" name="Picture 3">
            <a:extLst>
              <a:ext uri="{FF2B5EF4-FFF2-40B4-BE49-F238E27FC236}">
                <a16:creationId xmlns:a16="http://schemas.microsoft.com/office/drawing/2014/main" id="{C979D610-6999-C4AB-2398-1FEB0E182F58}"/>
              </a:ext>
            </a:extLst>
          </p:cNvPr>
          <p:cNvPicPr>
            <a:picLocks noChangeAspect="1"/>
          </p:cNvPicPr>
          <p:nvPr/>
        </p:nvPicPr>
        <p:blipFill>
          <a:blip r:embed="rId4"/>
          <a:stretch>
            <a:fillRect/>
          </a:stretch>
        </p:blipFill>
        <p:spPr>
          <a:xfrm>
            <a:off x="9834230" y="4565332"/>
            <a:ext cx="1633870" cy="2097206"/>
          </a:xfrm>
          <a:prstGeom prst="rect">
            <a:avLst/>
          </a:prstGeom>
        </p:spPr>
      </p:pic>
      <p:sp>
        <p:nvSpPr>
          <p:cNvPr id="6" name="Content Placeholder 5">
            <a:extLst>
              <a:ext uri="{FF2B5EF4-FFF2-40B4-BE49-F238E27FC236}">
                <a16:creationId xmlns:a16="http://schemas.microsoft.com/office/drawing/2014/main" id="{DDE0FF05-4FC8-B752-D162-7379CE4E2FBE}"/>
              </a:ext>
            </a:extLst>
          </p:cNvPr>
          <p:cNvSpPr>
            <a:spLocks noGrp="1"/>
          </p:cNvSpPr>
          <p:nvPr>
            <p:ph sz="quarter" idx="13"/>
          </p:nvPr>
        </p:nvSpPr>
        <p:spPr>
          <a:xfrm>
            <a:off x="1228388" y="2055937"/>
            <a:ext cx="8343309" cy="4471134"/>
          </a:xfrm>
        </p:spPr>
        <p:txBody>
          <a:bodyPr>
            <a:noAutofit/>
          </a:bodyPr>
          <a:lstStyle/>
          <a:p>
            <a:pPr marL="0" indent="0">
              <a:buNone/>
            </a:pPr>
            <a:r>
              <a:rPr lang="en-US" sz="2400" b="1" dirty="0">
                <a:latin typeface="Aptos Display" panose="020B0004020202020204" pitchFamily="34" charset="0"/>
              </a:rPr>
              <a:t>What Have They Done?</a:t>
            </a:r>
          </a:p>
          <a:p>
            <a:pPr marL="0" indent="0">
              <a:buNone/>
            </a:pPr>
            <a:r>
              <a:rPr lang="en-US" sz="2400" b="1" dirty="0">
                <a:latin typeface="Aptos Display" panose="020B0004020202020204" pitchFamily="34" charset="0"/>
              </a:rPr>
              <a:t>From 4 Jan 2025 to 30 Sep 2025, the team did the following:</a:t>
            </a:r>
          </a:p>
          <a:p>
            <a:pPr lvl="1">
              <a:buFont typeface="Wingdings" panose="05000000000000000000" pitchFamily="2" charset="2"/>
              <a:buChar char="§"/>
            </a:pPr>
            <a:r>
              <a:rPr lang="en-US" sz="2400" dirty="0">
                <a:latin typeface="Aptos Display" panose="020B0004020202020204" pitchFamily="34" charset="0"/>
              </a:rPr>
              <a:t>Maintained 100% accountability of all TF SAFE/UFC government and contractor property and materials valued at nearly $2.2 Million dollars and totaled over 65000 items in seven countries throughout the AOR. </a:t>
            </a:r>
          </a:p>
          <a:p>
            <a:pPr lvl="1">
              <a:buFont typeface="Wingdings" panose="05000000000000000000" pitchFamily="2" charset="2"/>
              <a:buChar char="§"/>
            </a:pPr>
            <a:r>
              <a:rPr lang="en-US" sz="2400" dirty="0">
                <a:latin typeface="Aptos Display" panose="020B0004020202020204" pitchFamily="34" charset="0"/>
                <a:ea typeface="Times New Roman" panose="02020603050405020304" pitchFamily="18" charset="0"/>
              </a:rPr>
              <a:t>C</a:t>
            </a:r>
            <a:r>
              <a:rPr lang="en-US" sz="2400" dirty="0">
                <a:effectLst/>
                <a:latin typeface="Aptos Display" panose="020B0004020202020204" pitchFamily="34" charset="0"/>
                <a:ea typeface="Times New Roman" panose="02020603050405020304" pitchFamily="18" charset="0"/>
              </a:rPr>
              <a:t>ompleted procurement activities to supply electricians throughout the AOR with components needed to repair electrical deficiencies by shipping 16250 items.</a:t>
            </a:r>
            <a:endParaRPr lang="en-US" sz="2400" dirty="0">
              <a:latin typeface="Aptos Display" panose="020B0004020202020204" pitchFamily="34" charset="0"/>
            </a:endParaRPr>
          </a:p>
        </p:txBody>
      </p:sp>
    </p:spTree>
    <p:extLst>
      <p:ext uri="{BB962C8B-B14F-4D97-AF65-F5344CB8AC3E}">
        <p14:creationId xmlns:p14="http://schemas.microsoft.com/office/powerpoint/2010/main" val="572019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9EF9A-2D1C-F1E9-9757-409C76B393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630002-97D5-5720-527D-D2873030DC6C}"/>
              </a:ext>
            </a:extLst>
          </p:cNvPr>
          <p:cNvSpPr>
            <a:spLocks noGrp="1"/>
          </p:cNvSpPr>
          <p:nvPr>
            <p:ph type="title"/>
          </p:nvPr>
        </p:nvSpPr>
        <p:spPr>
          <a:xfrm>
            <a:off x="591662" y="906528"/>
            <a:ext cx="3097107" cy="1680205"/>
          </a:xfrm>
        </p:spPr>
        <p:txBody>
          <a:bodyPr/>
          <a:lstStyle/>
          <a:p>
            <a:r>
              <a:rPr lang="en-US" sz="2800" dirty="0"/>
              <a:t>Definitions</a:t>
            </a:r>
          </a:p>
        </p:txBody>
      </p:sp>
      <p:grpSp>
        <p:nvGrpSpPr>
          <p:cNvPr id="19" name="Group 18">
            <a:extLst>
              <a:ext uri="{FF2B5EF4-FFF2-40B4-BE49-F238E27FC236}">
                <a16:creationId xmlns:a16="http://schemas.microsoft.com/office/drawing/2014/main" id="{1E58D052-B0C4-45FB-28C6-7508613C87AD}"/>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D0ACF4B3-916D-3824-FCDE-C6828545177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559D4C85-2FC1-4F4F-ED97-A9ADB75A2FC7}"/>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0FE23BBD-8143-3817-2229-2DD4E18E3A9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B9704807-1F56-8EA1-38C5-7F401AFE8FDB}"/>
              </a:ext>
            </a:extLst>
          </p:cNvPr>
          <p:cNvPicPr>
            <a:picLocks noChangeAspect="1"/>
          </p:cNvPicPr>
          <p:nvPr/>
        </p:nvPicPr>
        <p:blipFill>
          <a:blip r:embed="rId3"/>
          <a:stretch>
            <a:fillRect/>
          </a:stretch>
        </p:blipFill>
        <p:spPr>
          <a:xfrm>
            <a:off x="484177" y="53694"/>
            <a:ext cx="1344623" cy="1065096"/>
          </a:xfrm>
          <a:prstGeom prst="rect">
            <a:avLst/>
          </a:prstGeom>
        </p:spPr>
      </p:pic>
      <p:pic>
        <p:nvPicPr>
          <p:cNvPr id="4" name="Picture 3">
            <a:extLst>
              <a:ext uri="{FF2B5EF4-FFF2-40B4-BE49-F238E27FC236}">
                <a16:creationId xmlns:a16="http://schemas.microsoft.com/office/drawing/2014/main" id="{DA79928F-CD99-0F35-BF32-036DA61D65B3}"/>
              </a:ext>
            </a:extLst>
          </p:cNvPr>
          <p:cNvPicPr>
            <a:picLocks noChangeAspect="1"/>
          </p:cNvPicPr>
          <p:nvPr/>
        </p:nvPicPr>
        <p:blipFill>
          <a:blip r:embed="rId4"/>
          <a:stretch>
            <a:fillRect/>
          </a:stretch>
        </p:blipFill>
        <p:spPr>
          <a:xfrm>
            <a:off x="10404213" y="4658127"/>
            <a:ext cx="1633870" cy="2097206"/>
          </a:xfrm>
          <a:prstGeom prst="rect">
            <a:avLst/>
          </a:prstGeom>
        </p:spPr>
      </p:pic>
      <p:sp>
        <p:nvSpPr>
          <p:cNvPr id="6" name="Content Placeholder 5">
            <a:extLst>
              <a:ext uri="{FF2B5EF4-FFF2-40B4-BE49-F238E27FC236}">
                <a16:creationId xmlns:a16="http://schemas.microsoft.com/office/drawing/2014/main" id="{21216A56-6AA4-7298-B47C-43C1A70B530F}"/>
              </a:ext>
            </a:extLst>
          </p:cNvPr>
          <p:cNvSpPr>
            <a:spLocks noGrp="1"/>
          </p:cNvSpPr>
          <p:nvPr>
            <p:ph sz="quarter" idx="13"/>
          </p:nvPr>
        </p:nvSpPr>
        <p:spPr>
          <a:xfrm>
            <a:off x="1604559" y="2468596"/>
            <a:ext cx="8673974" cy="5070731"/>
          </a:xfrm>
        </p:spPr>
        <p:txBody>
          <a:bodyPr>
            <a:noAutofit/>
          </a:bodyPr>
          <a:lstStyle/>
          <a:p>
            <a:pPr marL="342900" marR="0" lvl="0" indent="-342900">
              <a:lnSpc>
                <a:spcPct val="107000"/>
              </a:lnSpc>
              <a:buFont typeface="Symbol" panose="05050102010706020507" pitchFamily="18" charset="2"/>
              <a:buChar char=""/>
            </a:pPr>
            <a:r>
              <a:rPr lang="en-US" sz="22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LHS Electrical Deficiency:</a:t>
            </a:r>
            <a:endParaRPr lang="en-US" sz="2200" b="1"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buFont typeface="Courier New" panose="02070309020205020404" pitchFamily="49" charset="0"/>
              <a:buChar char="o"/>
            </a:pPr>
            <a:r>
              <a:rPr lang="en-US" sz="2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 deficiency that is, in its current state, likely to bring harm or damage. </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US" sz="22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Imminent LHS Electrical Deficiency:</a:t>
            </a:r>
            <a:endParaRPr lang="en-US" sz="2200" b="1"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buFont typeface="Courier New" panose="02070309020205020404" pitchFamily="49" charset="0"/>
              <a:buChar char="o"/>
            </a:pPr>
            <a:r>
              <a:rPr lang="en-US" sz="2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 deficiency that, in its current state, is certain to bring harm or damage. </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0000"/>
              </a:lnSpc>
              <a:spcAft>
                <a:spcPts val="800"/>
              </a:spcAft>
              <a:buFont typeface="Symbol" panose="05050102010706020507" pitchFamily="18" charset="2"/>
              <a:buChar char=""/>
            </a:pPr>
            <a:r>
              <a:rPr lang="en-US" sz="22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Mitigated:</a:t>
            </a:r>
            <a:endParaRPr lang="en-US" sz="2200" b="1" dirty="0">
              <a:latin typeface="Calibri" panose="020F0502020204030204" pitchFamily="34" charset="0"/>
              <a:ea typeface="Calibri" panose="020F0502020204030204" pitchFamily="34" charset="0"/>
              <a:cs typeface="Times New Roman" panose="02020603050405020304" pitchFamily="18" charset="0"/>
            </a:endParaRPr>
          </a:p>
          <a:p>
            <a:pPr lvl="1">
              <a:lnSpc>
                <a:spcPct val="100000"/>
              </a:lnSpc>
              <a:spcAft>
                <a:spcPts val="800"/>
              </a:spcAft>
              <a:buFont typeface="Courier New" panose="02070309020205020404" pitchFamily="49" charset="0"/>
              <a:buChar char="o"/>
            </a:pPr>
            <a:r>
              <a:rPr lang="en-US" sz="2200" dirty="0">
                <a:solidFill>
                  <a:srgbClr val="000000"/>
                </a:solidFill>
                <a:effectLst/>
                <a:latin typeface="Arial" panose="020B0604020202020204" pitchFamily="34" charset="0"/>
                <a:ea typeface="Calibri" panose="020F0502020204030204" pitchFamily="34" charset="0"/>
              </a:rPr>
              <a:t>An action taken to reduce an LHS deficiency.</a:t>
            </a:r>
            <a:endParaRPr lang="en-US" sz="2200" dirty="0"/>
          </a:p>
        </p:txBody>
      </p:sp>
      <p:sp>
        <p:nvSpPr>
          <p:cNvPr id="8" name="Title 1">
            <a:extLst>
              <a:ext uri="{FF2B5EF4-FFF2-40B4-BE49-F238E27FC236}">
                <a16:creationId xmlns:a16="http://schemas.microsoft.com/office/drawing/2014/main" id="{10E01F09-4E43-AF60-637A-5D2EB37F3D22}"/>
              </a:ext>
            </a:extLst>
          </p:cNvPr>
          <p:cNvSpPr txBox="1">
            <a:spLocks/>
          </p:cNvSpPr>
          <p:nvPr/>
        </p:nvSpPr>
        <p:spPr>
          <a:xfrm>
            <a:off x="484177" y="467609"/>
            <a:ext cx="10873740" cy="1680205"/>
          </a:xfrm>
          <a:prstGeom prst="rect">
            <a:avLst/>
          </a:prstGeom>
        </p:spPr>
        <p:txBody>
          <a:bodyPr vert="horz" lIns="0" tIns="0" rIns="0" bIns="0" rtlCol="0" anchor="b" anchorCtr="0">
            <a:noAutofit/>
          </a:bodyPr>
          <a:lst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Program Operations – QA/QC Process</a:t>
            </a:r>
            <a:br>
              <a:rPr lang="en-US" dirty="0"/>
            </a:br>
            <a:r>
              <a:rPr lang="en-US" dirty="0"/>
              <a:t>Task Force SAFE / UFC</a:t>
            </a:r>
          </a:p>
        </p:txBody>
      </p:sp>
    </p:spTree>
    <p:extLst>
      <p:ext uri="{BB962C8B-B14F-4D97-AF65-F5344CB8AC3E}">
        <p14:creationId xmlns:p14="http://schemas.microsoft.com/office/powerpoint/2010/main" val="422783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13D9B-3AE3-0B99-88E0-4DEAB61C16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54CFDE-B248-167E-268B-6B431949337A}"/>
              </a:ext>
            </a:extLst>
          </p:cNvPr>
          <p:cNvSpPr>
            <a:spLocks noGrp="1"/>
          </p:cNvSpPr>
          <p:nvPr>
            <p:ph type="title"/>
          </p:nvPr>
        </p:nvSpPr>
        <p:spPr>
          <a:xfrm>
            <a:off x="556883" y="881524"/>
            <a:ext cx="2816311" cy="1680205"/>
          </a:xfrm>
        </p:spPr>
        <p:txBody>
          <a:bodyPr/>
          <a:lstStyle/>
          <a:p>
            <a:r>
              <a:rPr lang="en-US" sz="2800" dirty="0"/>
              <a:t>Definitions</a:t>
            </a:r>
          </a:p>
        </p:txBody>
      </p:sp>
      <p:grpSp>
        <p:nvGrpSpPr>
          <p:cNvPr id="19" name="Group 18">
            <a:extLst>
              <a:ext uri="{FF2B5EF4-FFF2-40B4-BE49-F238E27FC236}">
                <a16:creationId xmlns:a16="http://schemas.microsoft.com/office/drawing/2014/main" id="{60A6840C-F159-439A-16E6-740CC6FBF104}"/>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999422E5-8A0A-63D3-8265-D4810B2794C6}"/>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2D883F4C-59DE-285D-FC0C-6E7341BEC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FF3F4853-61BE-9841-E58D-70DF7648C7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81F66F11-B8E4-4E5E-5379-FAF0D1D0341E}"/>
              </a:ext>
            </a:extLst>
          </p:cNvPr>
          <p:cNvPicPr>
            <a:picLocks noChangeAspect="1"/>
          </p:cNvPicPr>
          <p:nvPr/>
        </p:nvPicPr>
        <p:blipFill>
          <a:blip r:embed="rId3"/>
          <a:stretch>
            <a:fillRect/>
          </a:stretch>
        </p:blipFill>
        <p:spPr>
          <a:xfrm>
            <a:off x="484177" y="53694"/>
            <a:ext cx="1344623" cy="1065096"/>
          </a:xfrm>
          <a:prstGeom prst="rect">
            <a:avLst/>
          </a:prstGeom>
        </p:spPr>
      </p:pic>
      <p:pic>
        <p:nvPicPr>
          <p:cNvPr id="4" name="Picture 3">
            <a:extLst>
              <a:ext uri="{FF2B5EF4-FFF2-40B4-BE49-F238E27FC236}">
                <a16:creationId xmlns:a16="http://schemas.microsoft.com/office/drawing/2014/main" id="{D014A703-464F-86AE-5EC4-FF10AA20FB40}"/>
              </a:ext>
            </a:extLst>
          </p:cNvPr>
          <p:cNvPicPr>
            <a:picLocks noChangeAspect="1"/>
          </p:cNvPicPr>
          <p:nvPr/>
        </p:nvPicPr>
        <p:blipFill>
          <a:blip r:embed="rId4"/>
          <a:stretch>
            <a:fillRect/>
          </a:stretch>
        </p:blipFill>
        <p:spPr>
          <a:xfrm>
            <a:off x="10404213" y="4658127"/>
            <a:ext cx="1633870" cy="2097206"/>
          </a:xfrm>
          <a:prstGeom prst="rect">
            <a:avLst/>
          </a:prstGeom>
        </p:spPr>
      </p:pic>
      <p:sp>
        <p:nvSpPr>
          <p:cNvPr id="7" name="Content Placeholder 6">
            <a:extLst>
              <a:ext uri="{FF2B5EF4-FFF2-40B4-BE49-F238E27FC236}">
                <a16:creationId xmlns:a16="http://schemas.microsoft.com/office/drawing/2014/main" id="{F11377AF-8ADB-1A79-6D9C-4FFD212800CA}"/>
              </a:ext>
            </a:extLst>
          </p:cNvPr>
          <p:cNvSpPr>
            <a:spLocks noGrp="1"/>
          </p:cNvSpPr>
          <p:nvPr>
            <p:ph sz="quarter" idx="13"/>
          </p:nvPr>
        </p:nvSpPr>
        <p:spPr>
          <a:xfrm>
            <a:off x="2244619" y="2273072"/>
            <a:ext cx="8411096" cy="4753838"/>
          </a:xfrm>
        </p:spPr>
        <p:txBody>
          <a:bodyPr>
            <a:normAutofit fontScale="92500" lnSpcReduction="20000"/>
          </a:bodyPr>
          <a:lstStyle/>
          <a:p>
            <a:pPr marL="342900" marR="0" lvl="0" indent="-342900">
              <a:lnSpc>
                <a:spcPct val="107000"/>
              </a:lnSpc>
              <a:buFont typeface="Symbol" panose="05050102010706020507" pitchFamily="18" charset="2"/>
              <a:buChar char=""/>
            </a:pPr>
            <a:r>
              <a:rPr lang="en-US" sz="2200" b="1"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RAC – Risk Assessment Code:</a:t>
            </a:r>
            <a:endParaRPr lang="en-US" sz="2200" b="1" dirty="0">
              <a:effectLst/>
              <a:latin typeface="Aptos Display" panose="020B0004020202020204" pitchFamily="34" charset="0"/>
              <a:ea typeface="Calibri" panose="020F0502020204030204" pitchFamily="34" charset="0"/>
              <a:cs typeface="Times New Roman" panose="02020603050405020304" pitchFamily="18" charset="0"/>
            </a:endParaRPr>
          </a:p>
          <a:p>
            <a:pPr marL="742950" marR="0" lvl="1" indent="-285750">
              <a:lnSpc>
                <a:spcPct val="107000"/>
              </a:lnSpc>
              <a:buFont typeface="Courier New" panose="02070309020205020404" pitchFamily="49" charset="0"/>
              <a:buChar char="o"/>
            </a:pPr>
            <a:r>
              <a:rPr lang="en-US" sz="2200"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To provide guidance for safety personnel by representing the severity of identified deficiencies; meant for information purposes only.</a:t>
            </a:r>
            <a:endParaRPr lang="en-US" sz="22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US" sz="2200" b="1"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RAC 1:</a:t>
            </a:r>
            <a:endParaRPr lang="en-US" sz="2200" b="1" dirty="0">
              <a:effectLst/>
              <a:latin typeface="Aptos Display" panose="020B0004020202020204" pitchFamily="34" charset="0"/>
              <a:ea typeface="Calibri" panose="020F0502020204030204" pitchFamily="34" charset="0"/>
              <a:cs typeface="Times New Roman" panose="02020603050405020304" pitchFamily="18" charset="0"/>
            </a:endParaRPr>
          </a:p>
          <a:p>
            <a:pPr marL="742950" marR="0" lvl="1" indent="-285750">
              <a:lnSpc>
                <a:spcPct val="107000"/>
              </a:lnSpc>
              <a:buFont typeface="Courier New" panose="02070309020205020404" pitchFamily="49" charset="0"/>
              <a:buChar char="o"/>
            </a:pPr>
            <a:r>
              <a:rPr lang="en-US" sz="2200"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Immediate danger to public or property with critical to catastrophic consequences.</a:t>
            </a:r>
            <a:endParaRPr lang="en-US" sz="22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US" sz="2200" b="1"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RAC 2:</a:t>
            </a:r>
            <a:endParaRPr lang="en-US" sz="2200" b="1" dirty="0">
              <a:effectLst/>
              <a:latin typeface="Aptos Display" panose="020B0004020202020204" pitchFamily="34" charset="0"/>
              <a:ea typeface="Calibri" panose="020F0502020204030204" pitchFamily="34" charset="0"/>
              <a:cs typeface="Times New Roman" panose="02020603050405020304" pitchFamily="18" charset="0"/>
            </a:endParaRPr>
          </a:p>
          <a:p>
            <a:pPr marL="742950" marR="0" lvl="1" indent="-285750">
              <a:lnSpc>
                <a:spcPct val="107000"/>
              </a:lnSpc>
              <a:buFont typeface="Courier New" panose="02070309020205020404" pitchFamily="49" charset="0"/>
              <a:buChar char="o"/>
            </a:pPr>
            <a:r>
              <a:rPr lang="en-US" sz="2200"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Possible danger to public or property with significant consequences.</a:t>
            </a:r>
            <a:endParaRPr lang="en-US" sz="22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US" sz="2200" b="1"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RAC 3:</a:t>
            </a:r>
            <a:endParaRPr lang="en-US" sz="2200" b="1" dirty="0">
              <a:effectLst/>
              <a:latin typeface="Aptos Display" panose="020B0004020202020204" pitchFamily="34" charset="0"/>
              <a:ea typeface="Calibri" panose="020F0502020204030204" pitchFamily="34" charset="0"/>
              <a:cs typeface="Times New Roman" panose="02020603050405020304" pitchFamily="18" charset="0"/>
            </a:endParaRPr>
          </a:p>
          <a:p>
            <a:pPr marL="742950" marR="0" lvl="1" indent="-285750">
              <a:lnSpc>
                <a:spcPct val="107000"/>
              </a:lnSpc>
              <a:spcAft>
                <a:spcPts val="800"/>
              </a:spcAft>
              <a:buFont typeface="Courier New" panose="02070309020205020404" pitchFamily="49" charset="0"/>
              <a:buChar char="o"/>
            </a:pPr>
            <a:r>
              <a:rPr lang="en-US" sz="2200" dirty="0">
                <a:solidFill>
                  <a:srgbClr val="000000"/>
                </a:solidFill>
                <a:effectLst/>
                <a:latin typeface="Aptos Display" panose="020B0004020202020204" pitchFamily="34" charset="0"/>
                <a:ea typeface="Calibri" panose="020F0502020204030204" pitchFamily="34" charset="0"/>
                <a:cs typeface="Times New Roman" panose="02020603050405020304" pitchFamily="18" charset="0"/>
              </a:rPr>
              <a:t>Unlikely to cause danger to public or property with minor consequences.</a:t>
            </a:r>
            <a:endParaRPr lang="en-US" sz="2200" dirty="0">
              <a:effectLst/>
              <a:latin typeface="Aptos Display" panose="020B0004020202020204" pitchFamily="34" charset="0"/>
              <a:ea typeface="Calibri" panose="020F0502020204030204" pitchFamily="34" charset="0"/>
              <a:cs typeface="Times New Roman" panose="02020603050405020304" pitchFamily="18" charset="0"/>
            </a:endParaRPr>
          </a:p>
          <a:p>
            <a:endParaRPr lang="en-US" dirty="0"/>
          </a:p>
        </p:txBody>
      </p:sp>
      <p:sp>
        <p:nvSpPr>
          <p:cNvPr id="8" name="Title 1">
            <a:extLst>
              <a:ext uri="{FF2B5EF4-FFF2-40B4-BE49-F238E27FC236}">
                <a16:creationId xmlns:a16="http://schemas.microsoft.com/office/drawing/2014/main" id="{72342975-B7E8-4287-C8AC-8841565F974E}"/>
              </a:ext>
            </a:extLst>
          </p:cNvPr>
          <p:cNvSpPr txBox="1">
            <a:spLocks/>
          </p:cNvSpPr>
          <p:nvPr/>
        </p:nvSpPr>
        <p:spPr>
          <a:xfrm>
            <a:off x="484177" y="467609"/>
            <a:ext cx="10873740" cy="1680205"/>
          </a:xfrm>
          <a:prstGeom prst="rect">
            <a:avLst/>
          </a:prstGeom>
        </p:spPr>
        <p:txBody>
          <a:bodyPr vert="horz" lIns="0" tIns="0" rIns="0" bIns="0" rtlCol="0" anchor="b" anchorCtr="0">
            <a:noAutofit/>
          </a:bodyPr>
          <a:lst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Program Operations – QA/QC Process</a:t>
            </a:r>
            <a:br>
              <a:rPr lang="en-US" dirty="0"/>
            </a:br>
            <a:r>
              <a:rPr lang="en-US" dirty="0"/>
              <a:t>Task Force SAFE / UFC</a:t>
            </a:r>
          </a:p>
        </p:txBody>
      </p:sp>
    </p:spTree>
    <p:extLst>
      <p:ext uri="{BB962C8B-B14F-4D97-AF65-F5344CB8AC3E}">
        <p14:creationId xmlns:p14="http://schemas.microsoft.com/office/powerpoint/2010/main" val="31836111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169F6-4809-B3F7-D05C-91B095EA14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0C60C8-4A24-9BF8-88A4-27A3E6892B6C}"/>
              </a:ext>
            </a:extLst>
          </p:cNvPr>
          <p:cNvSpPr>
            <a:spLocks noGrp="1"/>
          </p:cNvSpPr>
          <p:nvPr>
            <p:ph type="title"/>
          </p:nvPr>
        </p:nvSpPr>
        <p:spPr>
          <a:xfrm>
            <a:off x="652182" y="881524"/>
            <a:ext cx="2928967" cy="1680205"/>
          </a:xfrm>
        </p:spPr>
        <p:txBody>
          <a:bodyPr/>
          <a:lstStyle/>
          <a:p>
            <a:r>
              <a:rPr lang="en-US" sz="2800" dirty="0"/>
              <a:t>Workflow</a:t>
            </a:r>
          </a:p>
        </p:txBody>
      </p:sp>
      <p:grpSp>
        <p:nvGrpSpPr>
          <p:cNvPr id="19" name="Group 18">
            <a:extLst>
              <a:ext uri="{FF2B5EF4-FFF2-40B4-BE49-F238E27FC236}">
                <a16:creationId xmlns:a16="http://schemas.microsoft.com/office/drawing/2014/main" id="{2CAF3337-1AC5-914A-9775-11F7F4F18385}"/>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16D00182-E620-28DB-1DA9-F07E5FC40BAB}"/>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F5F30C00-0E67-7B92-4B85-EC99F3050A45}"/>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324DE2D-80C3-FA52-8E32-4AE658AF4752}"/>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pic>
        <p:nvPicPr>
          <p:cNvPr id="2" name="Picture 1">
            <a:extLst>
              <a:ext uri="{FF2B5EF4-FFF2-40B4-BE49-F238E27FC236}">
                <a16:creationId xmlns:a16="http://schemas.microsoft.com/office/drawing/2014/main" id="{E3F19B14-C7A7-C310-68C5-C879674AC4C2}"/>
              </a:ext>
            </a:extLst>
          </p:cNvPr>
          <p:cNvPicPr>
            <a:picLocks noChangeAspect="1"/>
          </p:cNvPicPr>
          <p:nvPr/>
        </p:nvPicPr>
        <p:blipFill>
          <a:blip r:embed="rId3"/>
          <a:stretch>
            <a:fillRect/>
          </a:stretch>
        </p:blipFill>
        <p:spPr>
          <a:xfrm>
            <a:off x="484177" y="53694"/>
            <a:ext cx="1344623" cy="1065096"/>
          </a:xfrm>
          <a:prstGeom prst="rect">
            <a:avLst/>
          </a:prstGeom>
        </p:spPr>
      </p:pic>
      <p:pic>
        <p:nvPicPr>
          <p:cNvPr id="4" name="Picture 3">
            <a:extLst>
              <a:ext uri="{FF2B5EF4-FFF2-40B4-BE49-F238E27FC236}">
                <a16:creationId xmlns:a16="http://schemas.microsoft.com/office/drawing/2014/main" id="{B9982BC8-CBC9-B182-AEB4-E96B1A3334DA}"/>
              </a:ext>
            </a:extLst>
          </p:cNvPr>
          <p:cNvPicPr>
            <a:picLocks noChangeAspect="1"/>
          </p:cNvPicPr>
          <p:nvPr/>
        </p:nvPicPr>
        <p:blipFill>
          <a:blip r:embed="rId4"/>
          <a:stretch>
            <a:fillRect/>
          </a:stretch>
        </p:blipFill>
        <p:spPr>
          <a:xfrm>
            <a:off x="10404213" y="4658127"/>
            <a:ext cx="1633870" cy="2097206"/>
          </a:xfrm>
          <a:prstGeom prst="rect">
            <a:avLst/>
          </a:prstGeom>
        </p:spPr>
      </p:pic>
      <p:sp>
        <p:nvSpPr>
          <p:cNvPr id="6" name="Content Placeholder 5">
            <a:extLst>
              <a:ext uri="{FF2B5EF4-FFF2-40B4-BE49-F238E27FC236}">
                <a16:creationId xmlns:a16="http://schemas.microsoft.com/office/drawing/2014/main" id="{C3CDFE30-BB4D-3620-2FA8-1B4EB51D2105}"/>
              </a:ext>
            </a:extLst>
          </p:cNvPr>
          <p:cNvSpPr>
            <a:spLocks noGrp="1"/>
          </p:cNvSpPr>
          <p:nvPr>
            <p:ph sz="quarter" idx="13"/>
          </p:nvPr>
        </p:nvSpPr>
        <p:spPr>
          <a:xfrm>
            <a:off x="693195" y="2295945"/>
            <a:ext cx="9708519" cy="5522325"/>
          </a:xfrm>
        </p:spPr>
        <p:txBody>
          <a:bodyPr>
            <a:noAutofit/>
          </a:bodyPr>
          <a:lstStyle/>
          <a:p>
            <a:pPr marL="342900" marR="0" lvl="0" indent="-342900">
              <a:lnSpc>
                <a:spcPct val="100000"/>
              </a:lnSpc>
              <a:buFont typeface="+mj-lt"/>
              <a:buAutoNum type="arabicPeriod"/>
            </a:pPr>
            <a:r>
              <a:rPr lang="en-US"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Inspections will be carried out from source to end users.</a:t>
            </a:r>
            <a:endParaRPr lang="en-US" sz="19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0000"/>
              </a:lnSpc>
              <a:buFont typeface="+mj-lt"/>
              <a:buAutoNum type="arabicPeriod"/>
            </a:pPr>
            <a:r>
              <a:rPr lang="en-GB"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When a LHS deficiency is identified, it will always be documented, at the time it was found. </a:t>
            </a:r>
            <a:r>
              <a:rPr lang="en-US"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 </a:t>
            </a:r>
            <a:endParaRPr lang="en-US" sz="19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0000"/>
              </a:lnSpc>
              <a:buFont typeface="+mj-lt"/>
              <a:buAutoNum type="arabicPeriod"/>
            </a:pPr>
            <a:r>
              <a:rPr lang="en-US"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If an unsafe deficiency is found it will never be left in its current condition. An unsafe deficiency will either be repaired or mitigated.</a:t>
            </a:r>
            <a:endParaRPr lang="en-US" sz="19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0000"/>
              </a:lnSpc>
              <a:buFont typeface="+mj-lt"/>
              <a:buAutoNum type="arabicPeriod"/>
            </a:pPr>
            <a:r>
              <a:rPr lang="en-US"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Mitigating actions could include, but are not limited to, isolating the supply, posting warning signs and/or barriers or informing the POC on site.</a:t>
            </a:r>
            <a:endParaRPr lang="en-US" sz="1900" dirty="0">
              <a:effectLst/>
              <a:latin typeface="Aptos Display" panose="020B0004020202020204" pitchFamily="34" charset="0"/>
              <a:ea typeface="Calibri" panose="020F0502020204030204" pitchFamily="34" charset="0"/>
              <a:cs typeface="Times New Roman" panose="02020603050405020304" pitchFamily="18" charset="0"/>
            </a:endParaRPr>
          </a:p>
          <a:p>
            <a:pPr marL="342900" marR="0" lvl="0" indent="-342900">
              <a:lnSpc>
                <a:spcPct val="100000"/>
              </a:lnSpc>
              <a:spcAft>
                <a:spcPts val="800"/>
              </a:spcAft>
              <a:buFont typeface="+mj-lt"/>
              <a:buAutoNum type="arabicPeriod"/>
            </a:pPr>
            <a:r>
              <a:rPr lang="en-US"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On recording any LHS deficiency, it will be recorded at the status as to which it was initially inspected.</a:t>
            </a:r>
          </a:p>
          <a:p>
            <a:pPr marL="342900" marR="0" lvl="0" indent="-342900">
              <a:lnSpc>
                <a:spcPct val="100000"/>
              </a:lnSpc>
              <a:spcAft>
                <a:spcPts val="800"/>
              </a:spcAft>
              <a:buFont typeface="+mj-lt"/>
              <a:buAutoNum type="arabicPeriod"/>
            </a:pPr>
            <a:r>
              <a:rPr lang="en-US" sz="1900" dirty="0">
                <a:solidFill>
                  <a:srgbClr val="404040"/>
                </a:solidFill>
                <a:effectLst/>
                <a:latin typeface="Aptos Display" panose="020B0004020202020204" pitchFamily="34" charset="0"/>
                <a:ea typeface="Calibri" panose="020F0502020204030204" pitchFamily="34" charset="0"/>
                <a:cs typeface="Times New Roman" panose="02020603050405020304" pitchFamily="18" charset="0"/>
              </a:rPr>
              <a:t>Reporting systems have been implemented by TFS, to provide a true reflection of the condition of all inspected electrical systems and facilities throughout CENTCOM.</a:t>
            </a:r>
            <a:endParaRPr lang="en-US" sz="1900" dirty="0">
              <a:latin typeface="Aptos Display" panose="020B0004020202020204" pitchFamily="34" charset="0"/>
            </a:endParaRPr>
          </a:p>
        </p:txBody>
      </p:sp>
      <p:sp>
        <p:nvSpPr>
          <p:cNvPr id="8" name="Title 1">
            <a:extLst>
              <a:ext uri="{FF2B5EF4-FFF2-40B4-BE49-F238E27FC236}">
                <a16:creationId xmlns:a16="http://schemas.microsoft.com/office/drawing/2014/main" id="{722B34AA-53C3-1C06-0747-6A2963133E06}"/>
              </a:ext>
            </a:extLst>
          </p:cNvPr>
          <p:cNvSpPr txBox="1">
            <a:spLocks/>
          </p:cNvSpPr>
          <p:nvPr/>
        </p:nvSpPr>
        <p:spPr>
          <a:xfrm>
            <a:off x="484177" y="467609"/>
            <a:ext cx="10873740" cy="1680205"/>
          </a:xfrm>
          <a:prstGeom prst="rect">
            <a:avLst/>
          </a:prstGeom>
        </p:spPr>
        <p:txBody>
          <a:bodyPr vert="horz" lIns="0" tIns="0" rIns="0" bIns="0" rtlCol="0" anchor="b" anchorCtr="0">
            <a:noAutofit/>
          </a:bodyPr>
          <a:lst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Program Operations – QA/QC Process</a:t>
            </a:r>
            <a:br>
              <a:rPr lang="en-US" dirty="0"/>
            </a:br>
            <a:r>
              <a:rPr lang="en-US" dirty="0"/>
              <a:t>Task Force SAFE / UFC</a:t>
            </a:r>
          </a:p>
        </p:txBody>
      </p:sp>
    </p:spTree>
    <p:extLst>
      <p:ext uri="{BB962C8B-B14F-4D97-AF65-F5344CB8AC3E}">
        <p14:creationId xmlns:p14="http://schemas.microsoft.com/office/powerpoint/2010/main" val="13490378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AA00D55-DAE5-E063-F062-3D9C4CCC43E1}"/>
              </a:ext>
            </a:extLst>
          </p:cNvPr>
          <p:cNvPicPr>
            <a:picLocks noGrp="1" noChangeAspect="1"/>
          </p:cNvPicPr>
          <p:nvPr>
            <p:ph type="pic" sz="quarter" idx="12"/>
          </p:nvPr>
        </p:nvPicPr>
        <p:blipFill>
          <a:blip r:embed="rId2"/>
          <a:srcRect r="977" b="3"/>
          <a:stretch>
            <a:fillRect/>
          </a:stretch>
        </p:blipFill>
        <p:spPr>
          <a:xfrm>
            <a:off x="442602" y="124354"/>
            <a:ext cx="5791180" cy="6733646"/>
          </a:xfrm>
          <a:prstGeom prst="rect">
            <a:avLst/>
          </a:prstGeom>
          <a:noFill/>
        </p:spPr>
      </p:pic>
      <p:pic>
        <p:nvPicPr>
          <p:cNvPr id="5" name="Picture 4">
            <a:extLst>
              <a:ext uri="{FF2B5EF4-FFF2-40B4-BE49-F238E27FC236}">
                <a16:creationId xmlns:a16="http://schemas.microsoft.com/office/drawing/2014/main" id="{02E8D684-DFF5-000E-2FD7-1E5B87361CB6}"/>
              </a:ext>
            </a:extLst>
          </p:cNvPr>
          <p:cNvPicPr>
            <a:picLocks noChangeAspect="1"/>
          </p:cNvPicPr>
          <p:nvPr/>
        </p:nvPicPr>
        <p:blipFill>
          <a:blip r:embed="rId3"/>
          <a:stretch>
            <a:fillRect/>
          </a:stretch>
        </p:blipFill>
        <p:spPr>
          <a:xfrm>
            <a:off x="6231467" y="25532"/>
            <a:ext cx="5517931" cy="6806936"/>
          </a:xfrm>
          <a:prstGeom prst="rect">
            <a:avLst/>
          </a:prstGeom>
        </p:spPr>
      </p:pic>
    </p:spTree>
    <p:extLst>
      <p:ext uri="{BB962C8B-B14F-4D97-AF65-F5344CB8AC3E}">
        <p14:creationId xmlns:p14="http://schemas.microsoft.com/office/powerpoint/2010/main" val="464076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9BFA8-ED66-E431-C913-2263FDF780D9}"/>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649D83E-25A1-C350-FA13-ADB52DEE0A3E}"/>
              </a:ext>
            </a:extLst>
          </p:cNvPr>
          <p:cNvPicPr>
            <a:picLocks noGrp="1" noChangeAspect="1"/>
          </p:cNvPicPr>
          <p:nvPr>
            <p:ph type="pic" sz="quarter" idx="12"/>
          </p:nvPr>
        </p:nvPicPr>
        <p:blipFill>
          <a:blip r:embed="rId2"/>
          <a:srcRect t="1910" b="1910"/>
          <a:stretch>
            <a:fillRect/>
          </a:stretch>
        </p:blipFill>
        <p:spPr>
          <a:xfrm>
            <a:off x="3200400" y="51064"/>
            <a:ext cx="5791200" cy="6806936"/>
          </a:xfrm>
          <a:prstGeom prst="rect">
            <a:avLst/>
          </a:prstGeom>
        </p:spPr>
      </p:pic>
    </p:spTree>
    <p:extLst>
      <p:ext uri="{BB962C8B-B14F-4D97-AF65-F5344CB8AC3E}">
        <p14:creationId xmlns:p14="http://schemas.microsoft.com/office/powerpoint/2010/main" val="203027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C1B79-EB08-A67C-10B7-31D7083C2441}"/>
              </a:ext>
            </a:extLst>
          </p:cNvPr>
          <p:cNvSpPr>
            <a:spLocks noGrp="1"/>
          </p:cNvSpPr>
          <p:nvPr>
            <p:ph type="title"/>
          </p:nvPr>
        </p:nvSpPr>
        <p:spPr/>
        <p:txBody>
          <a:bodyPr/>
          <a:lstStyle/>
          <a:p>
            <a:r>
              <a:rPr lang="en-US" dirty="0"/>
              <a:t>Program Operations – QA/QC Process</a:t>
            </a:r>
            <a:br>
              <a:rPr lang="en-US" dirty="0"/>
            </a:br>
            <a:r>
              <a:rPr lang="en-US" dirty="0"/>
              <a:t>Task Force SAFE / UFC</a:t>
            </a:r>
          </a:p>
        </p:txBody>
      </p:sp>
      <p:grpSp>
        <p:nvGrpSpPr>
          <p:cNvPr id="14" name="Group 13">
            <a:extLst>
              <a:ext uri="{FF2B5EF4-FFF2-40B4-BE49-F238E27FC236}">
                <a16:creationId xmlns:a16="http://schemas.microsoft.com/office/drawing/2014/main" id="{384A4292-90A3-A79E-F33E-C394A1A6A836}"/>
              </a:ext>
            </a:extLst>
          </p:cNvPr>
          <p:cNvGrpSpPr/>
          <p:nvPr/>
        </p:nvGrpSpPr>
        <p:grpSpPr>
          <a:xfrm>
            <a:off x="1794933" y="1955175"/>
            <a:ext cx="10267461" cy="4937338"/>
            <a:chOff x="1018413" y="1586435"/>
            <a:chExt cx="10145268" cy="4937338"/>
          </a:xfrm>
        </p:grpSpPr>
        <p:sp>
          <p:nvSpPr>
            <p:cNvPr id="15" name="object 2">
              <a:extLst>
                <a:ext uri="{FF2B5EF4-FFF2-40B4-BE49-F238E27FC236}">
                  <a16:creationId xmlns:a16="http://schemas.microsoft.com/office/drawing/2014/main" id="{E28F2A79-24CF-005B-D398-B87C1F0D0CDD}"/>
                </a:ext>
              </a:extLst>
            </p:cNvPr>
            <p:cNvSpPr/>
            <p:nvPr/>
          </p:nvSpPr>
          <p:spPr>
            <a:xfrm>
              <a:off x="7310246" y="4088510"/>
              <a:ext cx="2242185" cy="3810"/>
            </a:xfrm>
            <a:custGeom>
              <a:avLst/>
              <a:gdLst/>
              <a:ahLst/>
              <a:cxnLst/>
              <a:rect l="l" t="t" r="r" b="b"/>
              <a:pathLst>
                <a:path w="2242184" h="3810">
                  <a:moveTo>
                    <a:pt x="-6350" y="1905"/>
                  </a:moveTo>
                  <a:lnTo>
                    <a:pt x="2248280" y="1905"/>
                  </a:lnTo>
                </a:path>
              </a:pathLst>
            </a:custGeom>
            <a:ln w="16510">
              <a:solidFill>
                <a:srgbClr val="3C67B0"/>
              </a:solidFill>
            </a:ln>
          </p:spPr>
          <p:txBody>
            <a:bodyPr wrap="square" lIns="0" tIns="0" rIns="0" bIns="0" rtlCol="0"/>
            <a:lstStyle/>
            <a:p>
              <a:endParaRPr/>
            </a:p>
          </p:txBody>
        </p:sp>
        <p:sp>
          <p:nvSpPr>
            <p:cNvPr id="16" name="object 3">
              <a:extLst>
                <a:ext uri="{FF2B5EF4-FFF2-40B4-BE49-F238E27FC236}">
                  <a16:creationId xmlns:a16="http://schemas.microsoft.com/office/drawing/2014/main" id="{877BACE0-89A6-8814-48EB-CD96D63D0D78}"/>
                </a:ext>
              </a:extLst>
            </p:cNvPr>
            <p:cNvSpPr/>
            <p:nvPr/>
          </p:nvSpPr>
          <p:spPr>
            <a:xfrm>
              <a:off x="5377053" y="3478148"/>
              <a:ext cx="322580" cy="614045"/>
            </a:xfrm>
            <a:custGeom>
              <a:avLst/>
              <a:gdLst/>
              <a:ahLst/>
              <a:cxnLst/>
              <a:rect l="l" t="t" r="r" b="b"/>
              <a:pathLst>
                <a:path w="322579" h="614045">
                  <a:moveTo>
                    <a:pt x="0" y="0"/>
                  </a:moveTo>
                  <a:lnTo>
                    <a:pt x="161163" y="0"/>
                  </a:lnTo>
                  <a:lnTo>
                    <a:pt x="161163" y="614045"/>
                  </a:lnTo>
                  <a:lnTo>
                    <a:pt x="322199" y="614045"/>
                  </a:lnTo>
                </a:path>
              </a:pathLst>
            </a:custGeom>
            <a:ln w="12700">
              <a:solidFill>
                <a:srgbClr val="3C67B0"/>
              </a:solidFill>
            </a:ln>
          </p:spPr>
          <p:txBody>
            <a:bodyPr wrap="square" lIns="0" tIns="0" rIns="0" bIns="0" rtlCol="0"/>
            <a:lstStyle/>
            <a:p>
              <a:endParaRPr/>
            </a:p>
          </p:txBody>
        </p:sp>
        <p:sp>
          <p:nvSpPr>
            <p:cNvPr id="17" name="object 5">
              <a:extLst>
                <a:ext uri="{FF2B5EF4-FFF2-40B4-BE49-F238E27FC236}">
                  <a16:creationId xmlns:a16="http://schemas.microsoft.com/office/drawing/2014/main" id="{FEA8DF4B-0D54-EC1B-DB66-6F5C29B57D1E}"/>
                </a:ext>
              </a:extLst>
            </p:cNvPr>
            <p:cNvSpPr/>
            <p:nvPr/>
          </p:nvSpPr>
          <p:spPr>
            <a:xfrm>
              <a:off x="9244203" y="2863976"/>
              <a:ext cx="322580" cy="0"/>
            </a:xfrm>
            <a:custGeom>
              <a:avLst/>
              <a:gdLst/>
              <a:ahLst/>
              <a:cxnLst/>
              <a:rect l="l" t="t" r="r" b="b"/>
              <a:pathLst>
                <a:path w="322579">
                  <a:moveTo>
                    <a:pt x="0" y="0"/>
                  </a:moveTo>
                  <a:lnTo>
                    <a:pt x="322199" y="0"/>
                  </a:lnTo>
                </a:path>
              </a:pathLst>
            </a:custGeom>
            <a:ln w="12700">
              <a:solidFill>
                <a:srgbClr val="3C67B0"/>
              </a:solidFill>
            </a:ln>
          </p:spPr>
          <p:txBody>
            <a:bodyPr wrap="square" lIns="0" tIns="0" rIns="0" bIns="0" rtlCol="0"/>
            <a:lstStyle/>
            <a:p>
              <a:endParaRPr/>
            </a:p>
          </p:txBody>
        </p:sp>
        <p:sp>
          <p:nvSpPr>
            <p:cNvPr id="18" name="object 6">
              <a:extLst>
                <a:ext uri="{FF2B5EF4-FFF2-40B4-BE49-F238E27FC236}">
                  <a16:creationId xmlns:a16="http://schemas.microsoft.com/office/drawing/2014/main" id="{6140AA45-0F89-4BCC-6AD2-F664FE0F8E05}"/>
                </a:ext>
              </a:extLst>
            </p:cNvPr>
            <p:cNvSpPr/>
            <p:nvPr/>
          </p:nvSpPr>
          <p:spPr>
            <a:xfrm>
              <a:off x="7310246" y="2863976"/>
              <a:ext cx="322580" cy="0"/>
            </a:xfrm>
            <a:custGeom>
              <a:avLst/>
              <a:gdLst/>
              <a:ahLst/>
              <a:cxnLst/>
              <a:rect l="l" t="t" r="r" b="b"/>
              <a:pathLst>
                <a:path w="322579">
                  <a:moveTo>
                    <a:pt x="0" y="0"/>
                  </a:moveTo>
                  <a:lnTo>
                    <a:pt x="322199" y="0"/>
                  </a:lnTo>
                </a:path>
              </a:pathLst>
            </a:custGeom>
            <a:ln w="12700">
              <a:solidFill>
                <a:srgbClr val="3C67B0"/>
              </a:solidFill>
            </a:ln>
          </p:spPr>
          <p:txBody>
            <a:bodyPr wrap="square" lIns="0" tIns="0" rIns="0" bIns="0" rtlCol="0"/>
            <a:lstStyle/>
            <a:p>
              <a:endParaRPr/>
            </a:p>
          </p:txBody>
        </p:sp>
        <p:sp>
          <p:nvSpPr>
            <p:cNvPr id="19" name="object 7">
              <a:extLst>
                <a:ext uri="{FF2B5EF4-FFF2-40B4-BE49-F238E27FC236}">
                  <a16:creationId xmlns:a16="http://schemas.microsoft.com/office/drawing/2014/main" id="{AC7FBB18-6C5A-391A-AFBB-C9142BA358DC}"/>
                </a:ext>
              </a:extLst>
            </p:cNvPr>
            <p:cNvSpPr/>
            <p:nvPr/>
          </p:nvSpPr>
          <p:spPr>
            <a:xfrm>
              <a:off x="5377053" y="2863976"/>
              <a:ext cx="322580" cy="614045"/>
            </a:xfrm>
            <a:custGeom>
              <a:avLst/>
              <a:gdLst/>
              <a:ahLst/>
              <a:cxnLst/>
              <a:rect l="l" t="t" r="r" b="b"/>
              <a:pathLst>
                <a:path w="322579" h="614045">
                  <a:moveTo>
                    <a:pt x="0" y="614045"/>
                  </a:moveTo>
                  <a:lnTo>
                    <a:pt x="161163" y="614045"/>
                  </a:lnTo>
                  <a:lnTo>
                    <a:pt x="161163" y="0"/>
                  </a:lnTo>
                  <a:lnTo>
                    <a:pt x="322199" y="0"/>
                  </a:lnTo>
                </a:path>
              </a:pathLst>
            </a:custGeom>
            <a:ln w="12700">
              <a:solidFill>
                <a:srgbClr val="3C67B0"/>
              </a:solidFill>
            </a:ln>
          </p:spPr>
          <p:txBody>
            <a:bodyPr wrap="square" lIns="0" tIns="0" rIns="0" bIns="0" rtlCol="0"/>
            <a:lstStyle/>
            <a:p>
              <a:endParaRPr/>
            </a:p>
          </p:txBody>
        </p:sp>
        <p:sp>
          <p:nvSpPr>
            <p:cNvPr id="20" name="object 8">
              <a:extLst>
                <a:ext uri="{FF2B5EF4-FFF2-40B4-BE49-F238E27FC236}">
                  <a16:creationId xmlns:a16="http://schemas.microsoft.com/office/drawing/2014/main" id="{7458F6E4-3BD5-FFBB-7054-8EE0939A8901}"/>
                </a:ext>
              </a:extLst>
            </p:cNvPr>
            <p:cNvSpPr/>
            <p:nvPr/>
          </p:nvSpPr>
          <p:spPr>
            <a:xfrm>
              <a:off x="3443096" y="3478148"/>
              <a:ext cx="322580" cy="0"/>
            </a:xfrm>
            <a:custGeom>
              <a:avLst/>
              <a:gdLst/>
              <a:ahLst/>
              <a:cxnLst/>
              <a:rect l="l" t="t" r="r" b="b"/>
              <a:pathLst>
                <a:path w="322579">
                  <a:moveTo>
                    <a:pt x="0" y="0"/>
                  </a:moveTo>
                  <a:lnTo>
                    <a:pt x="322199" y="0"/>
                  </a:lnTo>
                </a:path>
              </a:pathLst>
            </a:custGeom>
            <a:ln w="12700">
              <a:solidFill>
                <a:srgbClr val="3C67B0"/>
              </a:solidFill>
            </a:ln>
          </p:spPr>
          <p:txBody>
            <a:bodyPr wrap="square" lIns="0" tIns="0" rIns="0" bIns="0" rtlCol="0"/>
            <a:lstStyle/>
            <a:p>
              <a:endParaRPr/>
            </a:p>
          </p:txBody>
        </p:sp>
        <p:sp>
          <p:nvSpPr>
            <p:cNvPr id="21" name="object 9">
              <a:extLst>
                <a:ext uri="{FF2B5EF4-FFF2-40B4-BE49-F238E27FC236}">
                  <a16:creationId xmlns:a16="http://schemas.microsoft.com/office/drawing/2014/main" id="{272D3669-89D5-DDD2-DDD0-A9F3DD9B667E}"/>
                </a:ext>
              </a:extLst>
            </p:cNvPr>
            <p:cNvSpPr/>
            <p:nvPr/>
          </p:nvSpPr>
          <p:spPr>
            <a:xfrm>
              <a:off x="1509902" y="3478148"/>
              <a:ext cx="322580" cy="0"/>
            </a:xfrm>
            <a:custGeom>
              <a:avLst/>
              <a:gdLst/>
              <a:ahLst/>
              <a:cxnLst/>
              <a:rect l="l" t="t" r="r" b="b"/>
              <a:pathLst>
                <a:path w="322580">
                  <a:moveTo>
                    <a:pt x="0" y="0"/>
                  </a:moveTo>
                  <a:lnTo>
                    <a:pt x="322199" y="0"/>
                  </a:lnTo>
                </a:path>
              </a:pathLst>
            </a:custGeom>
            <a:ln w="12700">
              <a:solidFill>
                <a:srgbClr val="34589C"/>
              </a:solidFill>
            </a:ln>
          </p:spPr>
          <p:txBody>
            <a:bodyPr wrap="square" lIns="0" tIns="0" rIns="0" bIns="0" rtlCol="0"/>
            <a:lstStyle/>
            <a:p>
              <a:endParaRPr/>
            </a:p>
          </p:txBody>
        </p:sp>
        <p:sp>
          <p:nvSpPr>
            <p:cNvPr id="22" name="object 11">
              <a:extLst>
                <a:ext uri="{FF2B5EF4-FFF2-40B4-BE49-F238E27FC236}">
                  <a16:creationId xmlns:a16="http://schemas.microsoft.com/office/drawing/2014/main" id="{21ACE39D-B318-C475-4EE4-6DBDB0C4BE3F}"/>
                </a:ext>
              </a:extLst>
            </p:cNvPr>
            <p:cNvSpPr/>
            <p:nvPr/>
          </p:nvSpPr>
          <p:spPr>
            <a:xfrm>
              <a:off x="1018413" y="2185035"/>
              <a:ext cx="491490" cy="2585720"/>
            </a:xfrm>
            <a:custGeom>
              <a:avLst/>
              <a:gdLst/>
              <a:ahLst/>
              <a:cxnLst/>
              <a:rect l="l" t="t" r="r" b="b"/>
              <a:pathLst>
                <a:path w="491490" h="2585720">
                  <a:moveTo>
                    <a:pt x="0" y="2585466"/>
                  </a:moveTo>
                  <a:lnTo>
                    <a:pt x="491490" y="2585466"/>
                  </a:lnTo>
                  <a:lnTo>
                    <a:pt x="491490" y="0"/>
                  </a:lnTo>
                  <a:lnTo>
                    <a:pt x="0" y="0"/>
                  </a:lnTo>
                  <a:lnTo>
                    <a:pt x="0" y="2585466"/>
                  </a:lnTo>
                  <a:close/>
                </a:path>
              </a:pathLst>
            </a:custGeom>
            <a:ln w="12699">
              <a:solidFill>
                <a:srgbClr val="FFFFFF"/>
              </a:solidFill>
            </a:ln>
          </p:spPr>
          <p:txBody>
            <a:bodyPr wrap="square" lIns="0" tIns="0" rIns="0" bIns="0" rtlCol="0"/>
            <a:lstStyle/>
            <a:p>
              <a:endParaRPr/>
            </a:p>
          </p:txBody>
        </p:sp>
        <p:sp>
          <p:nvSpPr>
            <p:cNvPr id="23" name="object 15">
              <a:extLst>
                <a:ext uri="{FF2B5EF4-FFF2-40B4-BE49-F238E27FC236}">
                  <a16:creationId xmlns:a16="http://schemas.microsoft.com/office/drawing/2014/main" id="{8B9B771B-1F27-6539-C66E-44FB2ACDCF13}"/>
                </a:ext>
              </a:extLst>
            </p:cNvPr>
            <p:cNvSpPr txBox="1"/>
            <p:nvPr/>
          </p:nvSpPr>
          <p:spPr>
            <a:xfrm>
              <a:off x="1671192" y="3206749"/>
              <a:ext cx="1981728" cy="462947"/>
            </a:xfrm>
            <a:prstGeom prst="rect">
              <a:avLst/>
            </a:prstGeom>
            <a:solidFill>
              <a:srgbClr val="0070C0"/>
            </a:solidFill>
          </p:spPr>
          <p:txBody>
            <a:bodyPr vert="horz" wrap="square" lIns="0" tIns="54610" rIns="0" bIns="0" rtlCol="0">
              <a:spAutoFit/>
            </a:bodyPr>
            <a:lstStyle/>
            <a:p>
              <a:pPr marL="281940" algn="ctr">
                <a:spcBef>
                  <a:spcPts val="330"/>
                </a:spcBef>
              </a:pPr>
              <a:r>
                <a:rPr lang="en-US" sz="1200" dirty="0">
                  <a:solidFill>
                    <a:srgbClr val="FFFFFF"/>
                  </a:solidFill>
                  <a:latin typeface="Calibri"/>
                  <a:cs typeface="Calibri"/>
                </a:rPr>
                <a:t>Check file for new reports</a:t>
              </a:r>
              <a:endParaRPr lang="en-US" sz="1200" dirty="0">
                <a:latin typeface="Calibri"/>
                <a:cs typeface="Calibri"/>
              </a:endParaRPr>
            </a:p>
            <a:p>
              <a:pPr marL="281940" algn="ctr">
                <a:lnSpc>
                  <a:spcPct val="100000"/>
                </a:lnSpc>
                <a:spcBef>
                  <a:spcPts val="330"/>
                </a:spcBef>
              </a:pPr>
              <a:r>
                <a:rPr sz="1200" dirty="0">
                  <a:solidFill>
                    <a:srgbClr val="FFFFFF"/>
                  </a:solidFill>
                  <a:latin typeface="Calibri"/>
                  <a:cs typeface="Calibri"/>
                </a:rPr>
                <a:t>1. </a:t>
              </a:r>
              <a:r>
                <a:rPr sz="1200" spc="-5" dirty="0">
                  <a:solidFill>
                    <a:srgbClr val="FFFFFF"/>
                  </a:solidFill>
                  <a:latin typeface="Calibri"/>
                  <a:cs typeface="Calibri"/>
                </a:rPr>
                <a:t>Submitted</a:t>
              </a:r>
              <a:r>
                <a:rPr sz="1200" spc="-20" dirty="0">
                  <a:solidFill>
                    <a:srgbClr val="FFFFFF"/>
                  </a:solidFill>
                  <a:latin typeface="Calibri"/>
                  <a:cs typeface="Calibri"/>
                </a:rPr>
                <a:t> </a:t>
              </a:r>
              <a:r>
                <a:rPr sz="1200" dirty="0">
                  <a:solidFill>
                    <a:srgbClr val="FFFFFF"/>
                  </a:solidFill>
                  <a:latin typeface="Calibri"/>
                  <a:cs typeface="Calibri"/>
                </a:rPr>
                <a:t>Report</a:t>
              </a:r>
              <a:endParaRPr lang="en-US" sz="1200" dirty="0">
                <a:solidFill>
                  <a:srgbClr val="FFFFFF"/>
                </a:solidFill>
                <a:latin typeface="Calibri"/>
                <a:cs typeface="Calibri"/>
              </a:endParaRPr>
            </a:p>
          </p:txBody>
        </p:sp>
        <p:sp>
          <p:nvSpPr>
            <p:cNvPr id="24" name="object 18">
              <a:extLst>
                <a:ext uri="{FF2B5EF4-FFF2-40B4-BE49-F238E27FC236}">
                  <a16:creationId xmlns:a16="http://schemas.microsoft.com/office/drawing/2014/main" id="{4CAB69E0-DA60-E874-C29D-6F0148B9FEAF}"/>
                </a:ext>
              </a:extLst>
            </p:cNvPr>
            <p:cNvSpPr txBox="1"/>
            <p:nvPr/>
          </p:nvSpPr>
          <p:spPr>
            <a:xfrm>
              <a:off x="3765168" y="3167358"/>
              <a:ext cx="1611630" cy="533479"/>
            </a:xfrm>
            <a:prstGeom prst="rect">
              <a:avLst/>
            </a:prstGeom>
            <a:solidFill>
              <a:srgbClr val="0070C0"/>
            </a:solidFill>
          </p:spPr>
          <p:txBody>
            <a:bodyPr vert="horz" wrap="square" lIns="0" tIns="27940" rIns="0" bIns="0" rtlCol="0">
              <a:spAutoFit/>
            </a:bodyPr>
            <a:lstStyle/>
            <a:p>
              <a:pPr marL="128270" marR="121920" algn="ctr">
                <a:lnSpc>
                  <a:spcPts val="1100"/>
                </a:lnSpc>
                <a:spcBef>
                  <a:spcPts val="220"/>
                </a:spcBef>
              </a:pPr>
              <a:r>
                <a:rPr sz="1200" dirty="0">
                  <a:solidFill>
                    <a:srgbClr val="FFFFFF"/>
                  </a:solidFill>
                  <a:latin typeface="Calibri"/>
                  <a:cs typeface="Calibri"/>
                </a:rPr>
                <a:t>QA report and </a:t>
              </a:r>
              <a:r>
                <a:rPr sz="1200" spc="-5" dirty="0">
                  <a:solidFill>
                    <a:srgbClr val="FFFFFF"/>
                  </a:solidFill>
                  <a:latin typeface="Calibri"/>
                  <a:cs typeface="Calibri"/>
                </a:rPr>
                <a:t>remove</a:t>
              </a:r>
              <a:r>
                <a:rPr sz="1200" spc="-90" dirty="0">
                  <a:solidFill>
                    <a:srgbClr val="FFFFFF"/>
                  </a:solidFill>
                  <a:latin typeface="Calibri"/>
                  <a:cs typeface="Calibri"/>
                </a:rPr>
                <a:t> </a:t>
              </a:r>
              <a:r>
                <a:rPr sz="1200" spc="-5" dirty="0">
                  <a:solidFill>
                    <a:srgbClr val="FFFFFF"/>
                  </a:solidFill>
                  <a:latin typeface="Calibri"/>
                  <a:cs typeface="Calibri"/>
                </a:rPr>
                <a:t>file  from</a:t>
              </a:r>
              <a:endParaRPr sz="1200" dirty="0">
                <a:latin typeface="Calibri"/>
                <a:cs typeface="Calibri"/>
              </a:endParaRPr>
            </a:p>
            <a:p>
              <a:pPr algn="ctr">
                <a:lnSpc>
                  <a:spcPct val="100000"/>
                </a:lnSpc>
                <a:spcBef>
                  <a:spcPts val="310"/>
                </a:spcBef>
              </a:pPr>
              <a:r>
                <a:rPr sz="1200" dirty="0">
                  <a:solidFill>
                    <a:srgbClr val="FFFFFF"/>
                  </a:solidFill>
                  <a:latin typeface="Calibri"/>
                  <a:cs typeface="Calibri"/>
                </a:rPr>
                <a:t>1.Submitted</a:t>
              </a:r>
              <a:r>
                <a:rPr sz="1200" spc="-20" dirty="0">
                  <a:solidFill>
                    <a:srgbClr val="FFFFFF"/>
                  </a:solidFill>
                  <a:latin typeface="Calibri"/>
                  <a:cs typeface="Calibri"/>
                </a:rPr>
                <a:t> </a:t>
              </a:r>
              <a:r>
                <a:rPr sz="1200" dirty="0">
                  <a:solidFill>
                    <a:srgbClr val="FFFFFF"/>
                  </a:solidFill>
                  <a:latin typeface="Calibri"/>
                  <a:cs typeface="Calibri"/>
                </a:rPr>
                <a:t>Report</a:t>
              </a:r>
              <a:endParaRPr sz="1200" dirty="0">
                <a:latin typeface="Calibri"/>
                <a:cs typeface="Calibri"/>
              </a:endParaRPr>
            </a:p>
          </p:txBody>
        </p:sp>
        <p:sp>
          <p:nvSpPr>
            <p:cNvPr id="25" name="object 19">
              <a:extLst>
                <a:ext uri="{FF2B5EF4-FFF2-40B4-BE49-F238E27FC236}">
                  <a16:creationId xmlns:a16="http://schemas.microsoft.com/office/drawing/2014/main" id="{4EDF621F-AD01-94A2-CBE3-ABF440D29E85}"/>
                </a:ext>
              </a:extLst>
            </p:cNvPr>
            <p:cNvSpPr/>
            <p:nvPr/>
          </p:nvSpPr>
          <p:spPr>
            <a:xfrm>
              <a:off x="5699378" y="2618613"/>
              <a:ext cx="1610995" cy="490855"/>
            </a:xfrm>
            <a:custGeom>
              <a:avLst/>
              <a:gdLst/>
              <a:ahLst/>
              <a:cxnLst/>
              <a:rect l="l" t="t" r="r" b="b"/>
              <a:pathLst>
                <a:path w="1610995" h="490855">
                  <a:moveTo>
                    <a:pt x="0" y="490727"/>
                  </a:moveTo>
                  <a:lnTo>
                    <a:pt x="1610868" y="490727"/>
                  </a:lnTo>
                  <a:lnTo>
                    <a:pt x="1610868" y="0"/>
                  </a:lnTo>
                  <a:lnTo>
                    <a:pt x="0" y="0"/>
                  </a:lnTo>
                  <a:lnTo>
                    <a:pt x="0" y="490727"/>
                  </a:lnTo>
                  <a:close/>
                </a:path>
              </a:pathLst>
            </a:custGeom>
            <a:solidFill>
              <a:srgbClr val="4471C4"/>
            </a:solidFill>
          </p:spPr>
          <p:txBody>
            <a:bodyPr wrap="square" lIns="0" tIns="0" rIns="0" bIns="0" rtlCol="0"/>
            <a:lstStyle/>
            <a:p>
              <a:endParaRPr dirty="0"/>
            </a:p>
          </p:txBody>
        </p:sp>
        <p:sp>
          <p:nvSpPr>
            <p:cNvPr id="28" name="object 28">
              <a:extLst>
                <a:ext uri="{FF2B5EF4-FFF2-40B4-BE49-F238E27FC236}">
                  <a16:creationId xmlns:a16="http://schemas.microsoft.com/office/drawing/2014/main" id="{20E0A7DB-B6EE-4ECC-1ED3-1D29F28C3E05}"/>
                </a:ext>
              </a:extLst>
            </p:cNvPr>
            <p:cNvSpPr txBox="1"/>
            <p:nvPr/>
          </p:nvSpPr>
          <p:spPr>
            <a:xfrm>
              <a:off x="5699377" y="3232023"/>
              <a:ext cx="1706001" cy="377667"/>
            </a:xfrm>
            <a:prstGeom prst="rect">
              <a:avLst/>
            </a:prstGeom>
            <a:solidFill>
              <a:srgbClr val="FF0000"/>
            </a:solidFill>
            <a:ln w="12700">
              <a:solidFill>
                <a:srgbClr val="006FC0"/>
              </a:solidFill>
            </a:ln>
          </p:spPr>
          <p:txBody>
            <a:bodyPr vert="horz" wrap="square" lIns="0" tIns="635" rIns="0" bIns="0" rtlCol="0">
              <a:spAutoFit/>
            </a:bodyPr>
            <a:lstStyle/>
            <a:p>
              <a:pPr>
                <a:lnSpc>
                  <a:spcPct val="100000"/>
                </a:lnSpc>
                <a:spcBef>
                  <a:spcPts val="5"/>
                </a:spcBef>
              </a:pPr>
              <a:endParaRPr sz="1050" dirty="0">
                <a:latin typeface="Times New Roman"/>
                <a:cs typeface="Times New Roman"/>
              </a:endParaRPr>
            </a:p>
            <a:p>
              <a:pPr marL="406400" algn="ctr">
                <a:lnSpc>
                  <a:spcPct val="100000"/>
                </a:lnSpc>
              </a:pPr>
              <a:endParaRPr sz="1400" dirty="0">
                <a:latin typeface="Calibri"/>
                <a:cs typeface="Calibri"/>
              </a:endParaRPr>
            </a:p>
          </p:txBody>
        </p:sp>
        <p:sp>
          <p:nvSpPr>
            <p:cNvPr id="30" name="object 32">
              <a:extLst>
                <a:ext uri="{FF2B5EF4-FFF2-40B4-BE49-F238E27FC236}">
                  <a16:creationId xmlns:a16="http://schemas.microsoft.com/office/drawing/2014/main" id="{663ADB28-0DCF-B84B-4FA2-3282B5BBE608}"/>
                </a:ext>
              </a:extLst>
            </p:cNvPr>
            <p:cNvSpPr/>
            <p:nvPr/>
          </p:nvSpPr>
          <p:spPr>
            <a:xfrm>
              <a:off x="9552051" y="3842384"/>
              <a:ext cx="1611630" cy="491490"/>
            </a:xfrm>
            <a:custGeom>
              <a:avLst/>
              <a:gdLst/>
              <a:ahLst/>
              <a:cxnLst/>
              <a:rect l="l" t="t" r="r" b="b"/>
              <a:pathLst>
                <a:path w="1611629" h="491489">
                  <a:moveTo>
                    <a:pt x="0" y="491489"/>
                  </a:moveTo>
                  <a:lnTo>
                    <a:pt x="1611629" y="491489"/>
                  </a:lnTo>
                  <a:lnTo>
                    <a:pt x="1611629" y="0"/>
                  </a:lnTo>
                  <a:lnTo>
                    <a:pt x="0" y="0"/>
                  </a:lnTo>
                  <a:lnTo>
                    <a:pt x="0" y="491489"/>
                  </a:lnTo>
                  <a:close/>
                </a:path>
              </a:pathLst>
            </a:custGeom>
            <a:solidFill>
              <a:srgbClr val="4471C4"/>
            </a:solidFill>
          </p:spPr>
          <p:txBody>
            <a:bodyPr wrap="square" lIns="0" tIns="0" rIns="0" bIns="0" rtlCol="0"/>
            <a:lstStyle/>
            <a:p>
              <a:pPr algn="ctr"/>
              <a:r>
                <a:rPr lang="en-US" sz="1200" dirty="0">
                  <a:latin typeface="Calibri" panose="020F0502020204030204" pitchFamily="34" charset="0"/>
                  <a:ea typeface="Calibri" panose="020F0502020204030204" pitchFamily="34" charset="0"/>
                  <a:cs typeface="Calibri" panose="020F0502020204030204" pitchFamily="34" charset="0"/>
                </a:rPr>
                <a:t>Make a copy and archive file in Main QA file</a:t>
              </a:r>
              <a:endParaRPr sz="1200" dirty="0">
                <a:latin typeface="Calibri" panose="020F0502020204030204" pitchFamily="34" charset="0"/>
                <a:ea typeface="Calibri" panose="020F0502020204030204" pitchFamily="34" charset="0"/>
                <a:cs typeface="Calibri" panose="020F0502020204030204" pitchFamily="34" charset="0"/>
              </a:endParaRPr>
            </a:p>
          </p:txBody>
        </p:sp>
        <p:sp>
          <p:nvSpPr>
            <p:cNvPr id="31" name="object 35">
              <a:extLst>
                <a:ext uri="{FF2B5EF4-FFF2-40B4-BE49-F238E27FC236}">
                  <a16:creationId xmlns:a16="http://schemas.microsoft.com/office/drawing/2014/main" id="{97A1245B-8E9A-89F3-53BC-A3D2672CE914}"/>
                </a:ext>
              </a:extLst>
            </p:cNvPr>
            <p:cNvSpPr/>
            <p:nvPr/>
          </p:nvSpPr>
          <p:spPr>
            <a:xfrm>
              <a:off x="10357866" y="3094783"/>
              <a:ext cx="0" cy="788670"/>
            </a:xfrm>
            <a:custGeom>
              <a:avLst/>
              <a:gdLst/>
              <a:ahLst/>
              <a:cxnLst/>
              <a:rect l="l" t="t" r="r" b="b"/>
              <a:pathLst>
                <a:path h="788670">
                  <a:moveTo>
                    <a:pt x="0" y="0"/>
                  </a:moveTo>
                  <a:lnTo>
                    <a:pt x="0" y="788543"/>
                  </a:lnTo>
                </a:path>
              </a:pathLst>
            </a:custGeom>
            <a:ln w="19050">
              <a:solidFill>
                <a:srgbClr val="4471C4"/>
              </a:solidFill>
            </a:ln>
          </p:spPr>
          <p:txBody>
            <a:bodyPr wrap="square" lIns="0" tIns="0" rIns="0" bIns="0" rtlCol="0"/>
            <a:lstStyle/>
            <a:p>
              <a:endParaRPr/>
            </a:p>
          </p:txBody>
        </p:sp>
        <p:sp>
          <p:nvSpPr>
            <p:cNvPr id="32" name="object 36">
              <a:extLst>
                <a:ext uri="{FF2B5EF4-FFF2-40B4-BE49-F238E27FC236}">
                  <a16:creationId xmlns:a16="http://schemas.microsoft.com/office/drawing/2014/main" id="{474135F6-3F13-54C5-973E-36BFD187452D}"/>
                </a:ext>
              </a:extLst>
            </p:cNvPr>
            <p:cNvSpPr/>
            <p:nvPr/>
          </p:nvSpPr>
          <p:spPr>
            <a:xfrm>
              <a:off x="1263925" y="4153218"/>
              <a:ext cx="4506928" cy="2370555"/>
            </a:xfrm>
            <a:prstGeom prst="rect">
              <a:avLst/>
            </a:prstGeom>
            <a:blipFill>
              <a:blip r:embed="rId2" cstate="print"/>
              <a:stretch>
                <a:fillRect/>
              </a:stretch>
            </a:blipFill>
          </p:spPr>
          <p:txBody>
            <a:bodyPr wrap="square" lIns="0" tIns="0" rIns="0" bIns="0" rtlCol="0"/>
            <a:lstStyle/>
            <a:p>
              <a:endParaRPr sz="4000" dirty="0"/>
            </a:p>
          </p:txBody>
        </p:sp>
        <p:sp>
          <p:nvSpPr>
            <p:cNvPr id="33" name="object 37">
              <a:extLst>
                <a:ext uri="{FF2B5EF4-FFF2-40B4-BE49-F238E27FC236}">
                  <a16:creationId xmlns:a16="http://schemas.microsoft.com/office/drawing/2014/main" id="{166E6A06-6EC4-454F-2CE5-684674F8DBBC}"/>
                </a:ext>
              </a:extLst>
            </p:cNvPr>
            <p:cNvSpPr/>
            <p:nvPr/>
          </p:nvSpPr>
          <p:spPr>
            <a:xfrm>
              <a:off x="3443096" y="4213751"/>
              <a:ext cx="2488411" cy="2003148"/>
            </a:xfrm>
            <a:prstGeom prst="rect">
              <a:avLst/>
            </a:prstGeom>
            <a:blipFill>
              <a:blip r:embed="rId3" cstate="print"/>
              <a:stretch>
                <a:fillRect/>
              </a:stretch>
            </a:blipFill>
          </p:spPr>
          <p:txBody>
            <a:bodyPr wrap="square" lIns="0" tIns="0" rIns="0" bIns="0" rtlCol="0"/>
            <a:lstStyle/>
            <a:p>
              <a:endParaRPr/>
            </a:p>
          </p:txBody>
        </p:sp>
        <p:sp>
          <p:nvSpPr>
            <p:cNvPr id="34" name="object 39">
              <a:extLst>
                <a:ext uri="{FF2B5EF4-FFF2-40B4-BE49-F238E27FC236}">
                  <a16:creationId xmlns:a16="http://schemas.microsoft.com/office/drawing/2014/main" id="{9D6E9553-4793-11C8-C339-4459C2AC64DD}"/>
                </a:ext>
              </a:extLst>
            </p:cNvPr>
            <p:cNvSpPr/>
            <p:nvPr/>
          </p:nvSpPr>
          <p:spPr>
            <a:xfrm>
              <a:off x="7628858" y="1586435"/>
              <a:ext cx="1600200" cy="584455"/>
            </a:xfrm>
            <a:custGeom>
              <a:avLst/>
              <a:gdLst/>
              <a:ahLst/>
              <a:cxnLst/>
              <a:rect l="l" t="t" r="r" b="b"/>
              <a:pathLst>
                <a:path w="1600200" h="400050">
                  <a:moveTo>
                    <a:pt x="0" y="400050"/>
                  </a:moveTo>
                  <a:lnTo>
                    <a:pt x="1600200" y="400050"/>
                  </a:lnTo>
                  <a:lnTo>
                    <a:pt x="1600200" y="0"/>
                  </a:lnTo>
                  <a:lnTo>
                    <a:pt x="0" y="0"/>
                  </a:lnTo>
                  <a:lnTo>
                    <a:pt x="0" y="400050"/>
                  </a:lnTo>
                  <a:close/>
                </a:path>
              </a:pathLst>
            </a:custGeom>
            <a:solidFill>
              <a:srgbClr val="4471C4"/>
            </a:solidFill>
          </p:spPr>
          <p:txBody>
            <a:bodyPr wrap="square" lIns="0" tIns="0" rIns="0" bIns="0" rtlCol="0"/>
            <a:lstStyle/>
            <a:p>
              <a:endParaRPr/>
            </a:p>
          </p:txBody>
        </p:sp>
        <p:sp>
          <p:nvSpPr>
            <p:cNvPr id="35" name="object 41">
              <a:extLst>
                <a:ext uri="{FF2B5EF4-FFF2-40B4-BE49-F238E27FC236}">
                  <a16:creationId xmlns:a16="http://schemas.microsoft.com/office/drawing/2014/main" id="{D8D8EFA5-214A-4A74-E9BC-7FC12F48EF51}"/>
                </a:ext>
              </a:extLst>
            </p:cNvPr>
            <p:cNvSpPr txBox="1"/>
            <p:nvPr/>
          </p:nvSpPr>
          <p:spPr>
            <a:xfrm>
              <a:off x="7628858" y="1627365"/>
              <a:ext cx="1568003" cy="443711"/>
            </a:xfrm>
            <a:prstGeom prst="rect">
              <a:avLst/>
            </a:prstGeom>
          </p:spPr>
          <p:txBody>
            <a:bodyPr vert="horz" wrap="square" lIns="0" tIns="12700" rIns="0" bIns="0" rtlCol="0">
              <a:spAutoFit/>
            </a:bodyPr>
            <a:lstStyle/>
            <a:p>
              <a:pPr marL="224154" algn="ctr">
                <a:lnSpc>
                  <a:spcPct val="100000"/>
                </a:lnSpc>
                <a:spcBef>
                  <a:spcPts val="100"/>
                </a:spcBef>
              </a:pPr>
              <a:r>
                <a:rPr sz="1400" spc="-5" dirty="0">
                  <a:solidFill>
                    <a:srgbClr val="FFFFFF"/>
                  </a:solidFill>
                  <a:latin typeface="Calibri"/>
                  <a:cs typeface="Calibri"/>
                </a:rPr>
                <a:t>Send link </a:t>
              </a:r>
              <a:r>
                <a:rPr sz="1400" dirty="0">
                  <a:solidFill>
                    <a:srgbClr val="FFFFFF"/>
                  </a:solidFill>
                  <a:latin typeface="Calibri"/>
                  <a:cs typeface="Calibri"/>
                </a:rPr>
                <a:t>to</a:t>
              </a:r>
              <a:r>
                <a:rPr sz="1400" spc="-40" dirty="0">
                  <a:solidFill>
                    <a:srgbClr val="FFFFFF"/>
                  </a:solidFill>
                  <a:latin typeface="Calibri"/>
                  <a:cs typeface="Calibri"/>
                </a:rPr>
                <a:t> </a:t>
              </a:r>
              <a:r>
                <a:rPr sz="1400" dirty="0">
                  <a:solidFill>
                    <a:srgbClr val="FFFFFF"/>
                  </a:solidFill>
                  <a:latin typeface="Calibri"/>
                  <a:cs typeface="Calibri"/>
                </a:rPr>
                <a:t>inspectors</a:t>
              </a:r>
              <a:endParaRPr sz="1400" dirty="0">
                <a:latin typeface="Calibri"/>
                <a:cs typeface="Calibri"/>
              </a:endParaRPr>
            </a:p>
          </p:txBody>
        </p:sp>
        <p:sp>
          <p:nvSpPr>
            <p:cNvPr id="36" name="object 42">
              <a:extLst>
                <a:ext uri="{FF2B5EF4-FFF2-40B4-BE49-F238E27FC236}">
                  <a16:creationId xmlns:a16="http://schemas.microsoft.com/office/drawing/2014/main" id="{CB67C4B1-E545-1F15-9236-4C0E14B33568}"/>
                </a:ext>
              </a:extLst>
            </p:cNvPr>
            <p:cNvSpPr/>
            <p:nvPr/>
          </p:nvSpPr>
          <p:spPr>
            <a:xfrm>
              <a:off x="8412860" y="2000630"/>
              <a:ext cx="0" cy="651510"/>
            </a:xfrm>
            <a:custGeom>
              <a:avLst/>
              <a:gdLst/>
              <a:ahLst/>
              <a:cxnLst/>
              <a:rect l="l" t="t" r="r" b="b"/>
              <a:pathLst>
                <a:path h="651510">
                  <a:moveTo>
                    <a:pt x="0" y="0"/>
                  </a:moveTo>
                  <a:lnTo>
                    <a:pt x="0" y="651510"/>
                  </a:lnTo>
                </a:path>
              </a:pathLst>
            </a:custGeom>
            <a:ln w="19050">
              <a:solidFill>
                <a:srgbClr val="4471C4"/>
              </a:solidFill>
            </a:ln>
          </p:spPr>
          <p:txBody>
            <a:bodyPr wrap="square" lIns="0" tIns="0" rIns="0" bIns="0" rtlCol="0"/>
            <a:lstStyle/>
            <a:p>
              <a:endParaRPr/>
            </a:p>
          </p:txBody>
        </p:sp>
      </p:grpSp>
      <p:sp>
        <p:nvSpPr>
          <p:cNvPr id="40" name="object 29">
            <a:extLst>
              <a:ext uri="{FF2B5EF4-FFF2-40B4-BE49-F238E27FC236}">
                <a16:creationId xmlns:a16="http://schemas.microsoft.com/office/drawing/2014/main" id="{17B0FFC2-5216-0F85-07F0-3939D506A1C3}"/>
              </a:ext>
            </a:extLst>
          </p:cNvPr>
          <p:cNvSpPr/>
          <p:nvPr/>
        </p:nvSpPr>
        <p:spPr>
          <a:xfrm>
            <a:off x="6531891" y="4226174"/>
            <a:ext cx="1726935" cy="491490"/>
          </a:xfrm>
          <a:custGeom>
            <a:avLst/>
            <a:gdLst/>
            <a:ahLst/>
            <a:cxnLst/>
            <a:rect l="l" t="t" r="r" b="b"/>
            <a:pathLst>
              <a:path w="1610995" h="491489">
                <a:moveTo>
                  <a:pt x="0" y="491489"/>
                </a:moveTo>
                <a:lnTo>
                  <a:pt x="1610868" y="491489"/>
                </a:lnTo>
                <a:lnTo>
                  <a:pt x="1610868" y="0"/>
                </a:lnTo>
                <a:lnTo>
                  <a:pt x="0" y="0"/>
                </a:lnTo>
                <a:lnTo>
                  <a:pt x="0" y="491489"/>
                </a:lnTo>
                <a:close/>
              </a:path>
            </a:pathLst>
          </a:custGeom>
          <a:solidFill>
            <a:srgbClr val="4471C4"/>
          </a:solidFill>
        </p:spPr>
        <p:txBody>
          <a:bodyPr wrap="square" lIns="0" tIns="0" rIns="0" bIns="0" rtlCol="0" anchor="ctr"/>
          <a:lstStyle/>
          <a:p>
            <a:pPr marL="305435" marR="226060" lvl="0" indent="-73660" algn="ctr" defTabSz="914400" rtl="0" eaLnBrk="1" fontAlgn="auto" latinLnBrk="0" hangingPunct="1">
              <a:lnSpc>
                <a:spcPts val="1100"/>
              </a:lnSpc>
              <a:spcBef>
                <a:spcPts val="22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ea typeface="+mn-ea"/>
                <a:cs typeface="Calibri"/>
              </a:rPr>
              <a:t>Move the </a:t>
            </a:r>
            <a:r>
              <a:rPr kumimoji="0" lang="en-US" sz="1200" b="0" i="0" u="none" strike="noStrike" kern="1200" cap="none" spc="-5" normalizeH="0" baseline="0" noProof="0" dirty="0">
                <a:ln>
                  <a:noFill/>
                </a:ln>
                <a:solidFill>
                  <a:srgbClr val="FFFFFF"/>
                </a:solidFill>
                <a:effectLst/>
                <a:uLnTx/>
                <a:uFillTx/>
                <a:ea typeface="+mn-ea"/>
                <a:cs typeface="Calibri"/>
              </a:rPr>
              <a:t>Excel file </a:t>
            </a:r>
            <a:r>
              <a:rPr kumimoji="0" lang="en-US" sz="1200" b="0" i="0" u="none" strike="noStrike" kern="1200" cap="none" spc="0" normalizeH="0" baseline="0" noProof="0" dirty="0">
                <a:ln>
                  <a:noFill/>
                </a:ln>
                <a:solidFill>
                  <a:srgbClr val="FFFFFF"/>
                </a:solidFill>
                <a:effectLst/>
                <a:uLnTx/>
                <a:uFillTx/>
                <a:ea typeface="+mn-ea"/>
                <a:cs typeface="Calibri"/>
              </a:rPr>
              <a:t>to  </a:t>
            </a:r>
            <a:endParaRPr lang="en-US" sz="1200" dirty="0">
              <a:solidFill>
                <a:srgbClr val="FFFFFF"/>
              </a:solidFill>
              <a:cs typeface="Calibri"/>
            </a:endParaRPr>
          </a:p>
          <a:p>
            <a:pPr marL="305435" marR="226060" lvl="0" indent="-73660" algn="ctr" defTabSz="914400" rtl="0" eaLnBrk="1" fontAlgn="auto" latinLnBrk="0" hangingPunct="1">
              <a:lnSpc>
                <a:spcPts val="1100"/>
              </a:lnSpc>
              <a:spcBef>
                <a:spcPts val="220"/>
              </a:spcBef>
              <a:spcAft>
                <a:spcPts val="0"/>
              </a:spcAft>
              <a:buClrTx/>
              <a:buSzTx/>
              <a:buFontTx/>
              <a:buNone/>
              <a:tabLst/>
              <a:defRPr/>
            </a:pPr>
            <a:r>
              <a:rPr kumimoji="0" lang="en-US" sz="1200" b="0" i="0" u="none" strike="noStrike" kern="1200" cap="none" spc="-5" normalizeH="0" baseline="0" noProof="0" dirty="0">
                <a:ln>
                  <a:noFill/>
                </a:ln>
                <a:solidFill>
                  <a:srgbClr val="FFFFFF"/>
                </a:solidFill>
                <a:effectLst/>
                <a:uLnTx/>
                <a:uFillTx/>
                <a:ea typeface="+mn-ea"/>
                <a:cs typeface="Calibri"/>
              </a:rPr>
              <a:t>Completed</a:t>
            </a:r>
            <a:r>
              <a:rPr lang="en-US" sz="1200" spc="-25" dirty="0">
                <a:solidFill>
                  <a:srgbClr val="FFFFFF"/>
                </a:solidFill>
                <a:cs typeface="Calibri"/>
              </a:rPr>
              <a:t> </a:t>
            </a:r>
            <a:r>
              <a:rPr kumimoji="0" lang="en-US" sz="1200" b="0" i="0" u="none" strike="noStrike" kern="1200" cap="none" spc="0" normalizeH="0" baseline="0" noProof="0" dirty="0">
                <a:ln>
                  <a:noFill/>
                </a:ln>
                <a:solidFill>
                  <a:srgbClr val="FFFFFF"/>
                </a:solidFill>
                <a:effectLst/>
                <a:uLnTx/>
                <a:uFillTx/>
                <a:ea typeface="+mn-ea"/>
                <a:cs typeface="Calibri"/>
              </a:rPr>
              <a:t>Reports</a:t>
            </a:r>
            <a:endParaRPr kumimoji="0" lang="en-US" sz="1200" b="0" i="0" u="none" strike="noStrike" kern="1200" cap="none" spc="0" normalizeH="0" baseline="0" noProof="0" dirty="0">
              <a:ln>
                <a:noFill/>
              </a:ln>
              <a:solidFill>
                <a:prstClr val="black"/>
              </a:solidFill>
              <a:effectLst/>
              <a:uLnTx/>
              <a:uFillTx/>
              <a:ea typeface="+mn-ea"/>
              <a:cs typeface="Calibri"/>
            </a:endParaRPr>
          </a:p>
        </p:txBody>
      </p:sp>
      <p:sp>
        <p:nvSpPr>
          <p:cNvPr id="42" name="object 11">
            <a:extLst>
              <a:ext uri="{FF2B5EF4-FFF2-40B4-BE49-F238E27FC236}">
                <a16:creationId xmlns:a16="http://schemas.microsoft.com/office/drawing/2014/main" id="{BC6A2C37-307A-9ACB-1977-1B04BAB0314E}"/>
              </a:ext>
            </a:extLst>
          </p:cNvPr>
          <p:cNvSpPr/>
          <p:nvPr/>
        </p:nvSpPr>
        <p:spPr>
          <a:xfrm rot="5400000">
            <a:off x="1104635" y="2947217"/>
            <a:ext cx="614044" cy="1799343"/>
          </a:xfrm>
          <a:custGeom>
            <a:avLst/>
            <a:gdLst/>
            <a:ahLst/>
            <a:cxnLst/>
            <a:rect l="l" t="t" r="r" b="b"/>
            <a:pathLst>
              <a:path w="491490" h="2585720">
                <a:moveTo>
                  <a:pt x="0" y="2585466"/>
                </a:moveTo>
                <a:lnTo>
                  <a:pt x="491490" y="2585466"/>
                </a:lnTo>
                <a:lnTo>
                  <a:pt x="491490" y="0"/>
                </a:lnTo>
                <a:lnTo>
                  <a:pt x="0" y="0"/>
                </a:lnTo>
                <a:lnTo>
                  <a:pt x="0" y="2585466"/>
                </a:lnTo>
                <a:close/>
              </a:path>
            </a:pathLst>
          </a:custGeom>
          <a:solidFill>
            <a:srgbClr val="0070C0"/>
          </a:solidFill>
          <a:ln w="12699">
            <a:solidFill>
              <a:srgbClr val="FFFFFF"/>
            </a:solidFill>
          </a:ln>
        </p:spPr>
        <p:txBody>
          <a:bodyPr vert="vert270" wrap="square" lIns="0" tIns="0" rIns="0" bIns="0" rtlCol="0"/>
          <a:lstStyle/>
          <a:p>
            <a:pPr marL="0" marR="0" lvl="0" indent="0" algn="ctr" defTabSz="914400" rtl="0" eaLnBrk="1" fontAlgn="auto" latinLnBrk="0" hangingPunct="1">
              <a:lnSpc>
                <a:spcPts val="1540"/>
              </a:lnSpc>
              <a:spcBef>
                <a:spcPts val="0"/>
              </a:spcBef>
              <a:spcAft>
                <a:spcPts val="0"/>
              </a:spcAft>
              <a:buClrTx/>
              <a:buSzTx/>
              <a:buFontTx/>
              <a:buNone/>
              <a:tabLst/>
              <a:defRPr/>
            </a:pPr>
            <a:r>
              <a:rPr kumimoji="0" lang="en-US" sz="1400" b="0" i="0" u="none" strike="noStrike" kern="1200" cap="none" spc="-10" normalizeH="0" baseline="0" noProof="0" dirty="0">
                <a:ln>
                  <a:noFill/>
                </a:ln>
                <a:solidFill>
                  <a:srgbClr val="FFFFFF"/>
                </a:solidFill>
                <a:effectLst/>
                <a:uLnTx/>
                <a:uFillTx/>
                <a:latin typeface="Calibri"/>
                <a:ea typeface="+mn-ea"/>
                <a:cs typeface="Calibri"/>
              </a:rPr>
              <a:t>Receive </a:t>
            </a:r>
            <a:r>
              <a:rPr lang="en-US" sz="1400" spc="-5" dirty="0">
                <a:solidFill>
                  <a:srgbClr val="FFFFFF"/>
                </a:solidFill>
                <a:latin typeface="Calibri"/>
                <a:cs typeface="Calibri"/>
              </a:rPr>
              <a:t>e</a:t>
            </a:r>
            <a:r>
              <a:rPr kumimoji="0" lang="en-US" sz="1400" b="0" i="0" u="none" strike="noStrike" kern="1200" cap="none" spc="-5" normalizeH="0" baseline="0" noProof="0" dirty="0">
                <a:ln>
                  <a:noFill/>
                </a:ln>
                <a:solidFill>
                  <a:srgbClr val="FFFFFF"/>
                </a:solidFill>
                <a:effectLst/>
                <a:uLnTx/>
                <a:uFillTx/>
                <a:latin typeface="Calibri"/>
                <a:ea typeface="+mn-ea"/>
                <a:cs typeface="Calibri"/>
              </a:rPr>
              <a:t>mail </a:t>
            </a:r>
            <a:r>
              <a:rPr kumimoji="0" lang="en-US" sz="1400" b="0" i="0" u="none" strike="noStrike" kern="1200" cap="none" spc="-10" normalizeH="0" baseline="0" noProof="0" dirty="0">
                <a:ln>
                  <a:noFill/>
                </a:ln>
                <a:solidFill>
                  <a:srgbClr val="FFFFFF"/>
                </a:solidFill>
                <a:effectLst/>
                <a:uLnTx/>
                <a:uFillTx/>
                <a:latin typeface="Calibri"/>
                <a:ea typeface="+mn-ea"/>
                <a:cs typeface="Calibri"/>
              </a:rPr>
              <a:t>from</a:t>
            </a:r>
            <a:r>
              <a:rPr kumimoji="0" lang="en-US" sz="1400" b="0" i="0" u="none" strike="noStrike" kern="1200" cap="none" spc="-35" normalizeH="0" baseline="0" noProof="0" dirty="0">
                <a:ln>
                  <a:noFill/>
                </a:ln>
                <a:solidFill>
                  <a:srgbClr val="FFFFFF"/>
                </a:solidFill>
                <a:effectLst/>
                <a:uLnTx/>
                <a:uFillTx/>
                <a:latin typeface="Calibri"/>
                <a:ea typeface="+mn-ea"/>
                <a:cs typeface="Calibri"/>
              </a:rPr>
              <a:t> </a:t>
            </a:r>
            <a:r>
              <a:rPr kumimoji="0" lang="en-US" sz="1400" b="0" i="0" u="none" strike="noStrike" kern="1200" cap="none" spc="-10" normalizeH="0" baseline="0" noProof="0" dirty="0">
                <a:ln>
                  <a:noFill/>
                </a:ln>
                <a:solidFill>
                  <a:srgbClr val="FFFFFF"/>
                </a:solidFill>
                <a:effectLst/>
                <a:uLnTx/>
                <a:uFillTx/>
                <a:latin typeface="Calibri"/>
                <a:ea typeface="+mn-ea"/>
                <a:cs typeface="Calibri"/>
              </a:rPr>
              <a:t>inspector</a:t>
            </a:r>
            <a:r>
              <a:rPr lang="en-US" sz="1400" dirty="0">
                <a:solidFill>
                  <a:prstClr val="black"/>
                </a:solidFill>
                <a:latin typeface="Calibri"/>
                <a:cs typeface="Calibri"/>
              </a:rPr>
              <a:t> </a:t>
            </a:r>
            <a:r>
              <a:rPr kumimoji="0" lang="en-US" sz="1400" b="0" i="0" u="none" strike="noStrike" kern="1200" cap="none" spc="-10" normalizeH="0" baseline="0" noProof="0" dirty="0">
                <a:ln>
                  <a:noFill/>
                </a:ln>
                <a:solidFill>
                  <a:srgbClr val="FFFFFF"/>
                </a:solidFill>
                <a:effectLst/>
                <a:uLnTx/>
                <a:uFillTx/>
                <a:latin typeface="Calibri"/>
                <a:ea typeface="+mn-ea"/>
                <a:cs typeface="Calibri"/>
              </a:rPr>
              <a:t>that </a:t>
            </a:r>
            <a:r>
              <a:rPr kumimoji="0" lang="en-US" sz="1400" b="0" i="0" u="none" strike="noStrike" kern="1200" cap="none" spc="-5" normalizeH="0" baseline="0" noProof="0" dirty="0">
                <a:ln>
                  <a:noFill/>
                </a:ln>
                <a:solidFill>
                  <a:srgbClr val="FFFFFF"/>
                </a:solidFill>
                <a:effectLst/>
                <a:uLnTx/>
                <a:uFillTx/>
                <a:latin typeface="Calibri"/>
                <a:ea typeface="+mn-ea"/>
                <a:cs typeface="Calibri"/>
              </a:rPr>
              <a:t>report </a:t>
            </a:r>
            <a:r>
              <a:rPr kumimoji="0" lang="en-US" sz="1400" b="0" i="0" u="none" strike="noStrike" kern="1200" cap="none" spc="0" normalizeH="0" baseline="0" noProof="0" dirty="0">
                <a:ln>
                  <a:noFill/>
                </a:ln>
                <a:solidFill>
                  <a:srgbClr val="FFFFFF"/>
                </a:solidFill>
                <a:effectLst/>
                <a:uLnTx/>
                <a:uFillTx/>
                <a:latin typeface="Calibri"/>
                <a:ea typeface="+mn-ea"/>
                <a:cs typeface="Calibri"/>
              </a:rPr>
              <a:t>is</a:t>
            </a:r>
            <a:r>
              <a:rPr kumimoji="0" lang="en-US" sz="1400" b="0" i="0" u="none" strike="noStrike" kern="1200" cap="none" spc="-5" normalizeH="0" baseline="0" noProof="0" dirty="0">
                <a:ln>
                  <a:noFill/>
                </a:ln>
                <a:solidFill>
                  <a:srgbClr val="FFFFFF"/>
                </a:solidFill>
                <a:effectLst/>
                <a:uLnTx/>
                <a:uFillTx/>
                <a:latin typeface="Calibri"/>
                <a:ea typeface="+mn-ea"/>
                <a:cs typeface="Calibri"/>
              </a:rPr>
              <a:t> </a:t>
            </a:r>
            <a:r>
              <a:rPr kumimoji="0" lang="en-US" sz="1400" b="0" i="0" u="none" strike="noStrike" kern="1200" cap="none" spc="-10" normalizeH="0" baseline="0" noProof="0" dirty="0">
                <a:ln>
                  <a:noFill/>
                </a:ln>
                <a:solidFill>
                  <a:srgbClr val="FFFFFF"/>
                </a:solidFill>
                <a:effectLst/>
                <a:uLnTx/>
                <a:uFillTx/>
                <a:latin typeface="Calibri"/>
                <a:ea typeface="+mn-ea"/>
                <a:cs typeface="Calibri"/>
              </a:rPr>
              <a:t>submitted</a:t>
            </a:r>
            <a:endParaRPr kumimoji="0" lang="en-US" sz="14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TextBox 45">
            <a:extLst>
              <a:ext uri="{FF2B5EF4-FFF2-40B4-BE49-F238E27FC236}">
                <a16:creationId xmlns:a16="http://schemas.microsoft.com/office/drawing/2014/main" id="{6BAB5FF7-527B-9E60-0F70-77B7D826C8B5}"/>
              </a:ext>
            </a:extLst>
          </p:cNvPr>
          <p:cNvSpPr txBox="1"/>
          <p:nvPr/>
        </p:nvSpPr>
        <p:spPr>
          <a:xfrm>
            <a:off x="6539089" y="3001858"/>
            <a:ext cx="1719736" cy="461665"/>
          </a:xfrm>
          <a:prstGeom prst="rect">
            <a:avLst/>
          </a:prstGeom>
          <a:noFill/>
        </p:spPr>
        <p:txBody>
          <a:bodyPr wrap="square">
            <a:spAutoFit/>
          </a:bodyPr>
          <a:lstStyle/>
          <a:p>
            <a:pPr algn="ctr"/>
            <a:r>
              <a:rPr lang="en-US" sz="1200" dirty="0"/>
              <a:t>Make a PDF of report and sign</a:t>
            </a:r>
          </a:p>
        </p:txBody>
      </p:sp>
      <p:sp>
        <p:nvSpPr>
          <p:cNvPr id="47" name="TextBox 46">
            <a:extLst>
              <a:ext uri="{FF2B5EF4-FFF2-40B4-BE49-F238E27FC236}">
                <a16:creationId xmlns:a16="http://schemas.microsoft.com/office/drawing/2014/main" id="{26AC5BF3-6F25-8E69-5F8D-E681FC412D6B}"/>
              </a:ext>
            </a:extLst>
          </p:cNvPr>
          <p:cNvSpPr txBox="1"/>
          <p:nvPr/>
        </p:nvSpPr>
        <p:spPr>
          <a:xfrm>
            <a:off x="6604613" y="3600763"/>
            <a:ext cx="1485984" cy="338554"/>
          </a:xfrm>
          <a:prstGeom prst="rect">
            <a:avLst/>
          </a:prstGeom>
          <a:noFill/>
        </p:spPr>
        <p:txBody>
          <a:bodyPr wrap="none" rtlCol="0">
            <a:spAutoFit/>
          </a:bodyPr>
          <a:lstStyle/>
          <a:p>
            <a:r>
              <a:rPr lang="en-US" sz="1600" b="1" dirty="0"/>
              <a:t>Update Tracker</a:t>
            </a:r>
          </a:p>
        </p:txBody>
      </p:sp>
      <p:sp>
        <p:nvSpPr>
          <p:cNvPr id="50" name="object 27">
            <a:extLst>
              <a:ext uri="{FF2B5EF4-FFF2-40B4-BE49-F238E27FC236}">
                <a16:creationId xmlns:a16="http://schemas.microsoft.com/office/drawing/2014/main" id="{7D4E4559-41D2-9994-7A8D-BAE8416F6CDB}"/>
              </a:ext>
            </a:extLst>
          </p:cNvPr>
          <p:cNvSpPr txBox="1"/>
          <p:nvPr/>
        </p:nvSpPr>
        <p:spPr>
          <a:xfrm>
            <a:off x="10427276" y="2988330"/>
            <a:ext cx="1611630" cy="512445"/>
          </a:xfrm>
          <a:prstGeom prst="rect">
            <a:avLst/>
          </a:prstGeom>
          <a:solidFill>
            <a:srgbClr val="0070C0"/>
          </a:solidFill>
        </p:spPr>
        <p:txBody>
          <a:bodyPr vert="horz" wrap="square" lIns="0" tIns="27940" rIns="0" bIns="0" rtlCol="0">
            <a:spAutoFit/>
          </a:bodyPr>
          <a:lstStyle/>
          <a:p>
            <a:pPr marL="479425" marR="115570" indent="-342265">
              <a:lnSpc>
                <a:spcPts val="1100"/>
              </a:lnSpc>
              <a:spcBef>
                <a:spcPts val="220"/>
              </a:spcBef>
            </a:pPr>
            <a:r>
              <a:rPr sz="1000" dirty="0">
                <a:solidFill>
                  <a:srgbClr val="FFFFFF"/>
                </a:solidFill>
                <a:latin typeface="Calibri"/>
                <a:cs typeface="Calibri"/>
              </a:rPr>
              <a:t>Inspector </a:t>
            </a:r>
            <a:r>
              <a:rPr sz="1000" spc="-5" dirty="0">
                <a:solidFill>
                  <a:srgbClr val="FFFFFF"/>
                </a:solidFill>
                <a:latin typeface="Calibri"/>
                <a:cs typeface="Calibri"/>
              </a:rPr>
              <a:t>signs </a:t>
            </a:r>
            <a:r>
              <a:rPr sz="1000" dirty="0">
                <a:solidFill>
                  <a:srgbClr val="FFFFFF"/>
                </a:solidFill>
                <a:latin typeface="Calibri"/>
                <a:cs typeface="Calibri"/>
              </a:rPr>
              <a:t>report</a:t>
            </a:r>
            <a:r>
              <a:rPr sz="1000" spc="-90" dirty="0">
                <a:solidFill>
                  <a:srgbClr val="FFFFFF"/>
                </a:solidFill>
                <a:latin typeface="Calibri"/>
                <a:cs typeface="Calibri"/>
              </a:rPr>
              <a:t> </a:t>
            </a:r>
            <a:r>
              <a:rPr sz="1000" dirty="0">
                <a:solidFill>
                  <a:srgbClr val="FFFFFF"/>
                </a:solidFill>
                <a:latin typeface="Calibri"/>
                <a:cs typeface="Calibri"/>
              </a:rPr>
              <a:t>and  </a:t>
            </a:r>
            <a:r>
              <a:rPr sz="1000" spc="-5" dirty="0">
                <a:solidFill>
                  <a:srgbClr val="FFFFFF"/>
                </a:solidFill>
                <a:latin typeface="Calibri"/>
                <a:cs typeface="Calibri"/>
              </a:rPr>
              <a:t>moves </a:t>
            </a:r>
            <a:r>
              <a:rPr sz="1000" dirty="0">
                <a:solidFill>
                  <a:srgbClr val="FFFFFF"/>
                </a:solidFill>
                <a:latin typeface="Calibri"/>
                <a:cs typeface="Calibri"/>
              </a:rPr>
              <a:t>to</a:t>
            </a:r>
            <a:r>
              <a:rPr sz="1000" spc="-5" dirty="0">
                <a:solidFill>
                  <a:srgbClr val="FFFFFF"/>
                </a:solidFill>
                <a:latin typeface="Calibri"/>
                <a:cs typeface="Calibri"/>
              </a:rPr>
              <a:t> file</a:t>
            </a:r>
            <a:endParaRPr sz="1000" dirty="0">
              <a:latin typeface="Calibri"/>
              <a:cs typeface="Calibri"/>
            </a:endParaRPr>
          </a:p>
          <a:p>
            <a:pPr marL="386715">
              <a:lnSpc>
                <a:spcPct val="100000"/>
              </a:lnSpc>
              <a:spcBef>
                <a:spcPts val="309"/>
              </a:spcBef>
            </a:pPr>
            <a:r>
              <a:rPr sz="1000" dirty="0">
                <a:solidFill>
                  <a:srgbClr val="FFFFFF"/>
                </a:solidFill>
                <a:latin typeface="Calibri"/>
                <a:cs typeface="Calibri"/>
              </a:rPr>
              <a:t>3. </a:t>
            </a:r>
            <a:r>
              <a:rPr sz="1000" spc="-5" dirty="0">
                <a:solidFill>
                  <a:srgbClr val="FFFFFF"/>
                </a:solidFill>
                <a:latin typeface="Calibri"/>
                <a:cs typeface="Calibri"/>
              </a:rPr>
              <a:t>Signed</a:t>
            </a:r>
            <a:r>
              <a:rPr sz="1000" spc="-20" dirty="0">
                <a:solidFill>
                  <a:srgbClr val="FFFFFF"/>
                </a:solidFill>
                <a:latin typeface="Calibri"/>
                <a:cs typeface="Calibri"/>
              </a:rPr>
              <a:t> </a:t>
            </a:r>
            <a:r>
              <a:rPr sz="1000" dirty="0">
                <a:solidFill>
                  <a:srgbClr val="FFFFFF"/>
                </a:solidFill>
                <a:latin typeface="Calibri"/>
                <a:cs typeface="Calibri"/>
              </a:rPr>
              <a:t>Report</a:t>
            </a:r>
            <a:endParaRPr sz="1000" dirty="0">
              <a:latin typeface="Calibri"/>
              <a:cs typeface="Calibri"/>
            </a:endParaRPr>
          </a:p>
        </p:txBody>
      </p:sp>
      <p:sp>
        <p:nvSpPr>
          <p:cNvPr id="51" name="object 23">
            <a:extLst>
              <a:ext uri="{FF2B5EF4-FFF2-40B4-BE49-F238E27FC236}">
                <a16:creationId xmlns:a16="http://schemas.microsoft.com/office/drawing/2014/main" id="{868768FB-3AAC-7D80-B3CC-853F4E61FF32}"/>
              </a:ext>
            </a:extLst>
          </p:cNvPr>
          <p:cNvSpPr/>
          <p:nvPr/>
        </p:nvSpPr>
        <p:spPr>
          <a:xfrm>
            <a:off x="8402419" y="2929633"/>
            <a:ext cx="1803972" cy="490855"/>
          </a:xfrm>
          <a:custGeom>
            <a:avLst/>
            <a:gdLst/>
            <a:ahLst/>
            <a:cxnLst/>
            <a:rect l="l" t="t" r="r" b="b"/>
            <a:pathLst>
              <a:path w="1611629" h="490855">
                <a:moveTo>
                  <a:pt x="0" y="490727"/>
                </a:moveTo>
                <a:lnTo>
                  <a:pt x="1611629" y="490727"/>
                </a:lnTo>
                <a:lnTo>
                  <a:pt x="1611629" y="0"/>
                </a:lnTo>
                <a:lnTo>
                  <a:pt x="0" y="0"/>
                </a:lnTo>
                <a:lnTo>
                  <a:pt x="0" y="490727"/>
                </a:lnTo>
                <a:close/>
              </a:path>
            </a:pathLst>
          </a:custGeom>
          <a:solidFill>
            <a:srgbClr val="0070C0"/>
          </a:solidFill>
          <a:ln w="12700">
            <a:solidFill>
              <a:srgbClr val="FFFFFF"/>
            </a:solidFill>
          </a:ln>
        </p:spPr>
        <p:txBody>
          <a:bodyPr wrap="square" lIns="0" tIns="0" rIns="0" bIns="0" rtlCol="0"/>
          <a:lstStyle/>
          <a:p>
            <a:pPr marL="254635" marR="255904" lvl="0" indent="97155" algn="l" defTabSz="914400" rtl="0" eaLnBrk="1" fontAlgn="auto" latinLnBrk="0" hangingPunct="1">
              <a:lnSpc>
                <a:spcPct val="127499"/>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a:ea typeface="+mn-ea"/>
                <a:cs typeface="Calibri"/>
              </a:rPr>
              <a:t>Add report to </a:t>
            </a:r>
            <a:r>
              <a:rPr kumimoji="0" lang="en-US" sz="1200" b="0" i="0" u="none" strike="noStrike" kern="1200" cap="none" spc="-5" normalizeH="0" baseline="0" noProof="0" dirty="0">
                <a:ln>
                  <a:noFill/>
                </a:ln>
                <a:solidFill>
                  <a:srgbClr val="FFFFFF"/>
                </a:solidFill>
                <a:effectLst/>
                <a:uLnTx/>
                <a:uFillTx/>
                <a:latin typeface="Calibri"/>
                <a:ea typeface="+mn-ea"/>
                <a:cs typeface="Calibri"/>
              </a:rPr>
              <a:t>file  </a:t>
            </a:r>
            <a:r>
              <a:rPr kumimoji="0" lang="en-US" sz="1200" b="0" i="0" u="none" strike="noStrike" kern="1200" cap="none" spc="0" normalizeH="0" baseline="0" noProof="0" dirty="0">
                <a:ln>
                  <a:noFill/>
                </a:ln>
                <a:solidFill>
                  <a:srgbClr val="FFFFFF"/>
                </a:solidFill>
                <a:effectLst/>
                <a:uLnTx/>
                <a:uFillTx/>
                <a:latin typeface="Calibri"/>
                <a:ea typeface="+mn-ea"/>
                <a:cs typeface="Calibri"/>
              </a:rPr>
              <a:t>2.Signature</a:t>
            </a:r>
            <a:r>
              <a:rPr kumimoji="0" lang="en-US" sz="1200" b="0" i="0" u="none" strike="noStrike" kern="1200" cap="none" spc="-100" normalizeH="0" baseline="0" noProof="0" dirty="0">
                <a:ln>
                  <a:noFill/>
                </a:ln>
                <a:solidFill>
                  <a:srgbClr val="FFFFFF"/>
                </a:solidFill>
                <a:effectLst/>
                <a:uLnTx/>
                <a:uFillTx/>
                <a:latin typeface="Calibri"/>
                <a:ea typeface="+mn-ea"/>
                <a:cs typeface="Calibri"/>
              </a:rPr>
              <a:t> </a:t>
            </a:r>
            <a:r>
              <a:rPr kumimoji="0" lang="en-US" sz="1200" b="0" i="0" u="none" strike="noStrike" kern="1200" cap="none" spc="0" normalizeH="0" baseline="0" noProof="0" dirty="0">
                <a:ln>
                  <a:noFill/>
                </a:ln>
                <a:solidFill>
                  <a:srgbClr val="FFFFFF"/>
                </a:solidFill>
                <a:effectLst/>
                <a:uLnTx/>
                <a:uFillTx/>
                <a:latin typeface="Calibri"/>
                <a:ea typeface="+mn-ea"/>
                <a:cs typeface="Calibri"/>
              </a:rPr>
              <a:t>Required</a:t>
            </a:r>
            <a:endParaRPr kumimoji="0" lang="en-US" sz="12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 name="TextBox 2">
            <a:extLst>
              <a:ext uri="{FF2B5EF4-FFF2-40B4-BE49-F238E27FC236}">
                <a16:creationId xmlns:a16="http://schemas.microsoft.com/office/drawing/2014/main" id="{D1C51FC0-D98E-9691-7B9E-92062719445A}"/>
              </a:ext>
            </a:extLst>
          </p:cNvPr>
          <p:cNvSpPr txBox="1"/>
          <p:nvPr/>
        </p:nvSpPr>
        <p:spPr>
          <a:xfrm>
            <a:off x="511985" y="2123606"/>
            <a:ext cx="3355214" cy="523220"/>
          </a:xfrm>
          <a:prstGeom prst="rect">
            <a:avLst/>
          </a:prstGeom>
          <a:noFill/>
        </p:spPr>
        <p:txBody>
          <a:bodyPr wrap="none" rtlCol="0">
            <a:spAutoFit/>
          </a:bodyPr>
          <a:lstStyle/>
          <a:p>
            <a:r>
              <a:rPr lang="en-US" sz="2800" b="1" dirty="0">
                <a:solidFill>
                  <a:schemeClr val="bg1"/>
                </a:solidFill>
              </a:rPr>
              <a:t>Reviewing of Reports</a:t>
            </a:r>
          </a:p>
        </p:txBody>
      </p:sp>
    </p:spTree>
    <p:extLst>
      <p:ext uri="{BB962C8B-B14F-4D97-AF65-F5344CB8AC3E}">
        <p14:creationId xmlns:p14="http://schemas.microsoft.com/office/powerpoint/2010/main" val="254655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0A798-A66B-D481-3974-550C57A64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B01B6-8AF6-8D5F-6E2F-B559EF0A281B}"/>
              </a:ext>
            </a:extLst>
          </p:cNvPr>
          <p:cNvSpPr>
            <a:spLocks noGrp="1"/>
          </p:cNvSpPr>
          <p:nvPr>
            <p:ph type="title"/>
          </p:nvPr>
        </p:nvSpPr>
        <p:spPr>
          <a:xfrm>
            <a:off x="154094" y="344825"/>
            <a:ext cx="10873740" cy="1680205"/>
          </a:xfrm>
        </p:spPr>
        <p:txBody>
          <a:bodyPr/>
          <a:lstStyle/>
          <a:p>
            <a:r>
              <a:rPr lang="en-US" dirty="0"/>
              <a:t>Program Operations – QA/QC Process</a:t>
            </a:r>
            <a:br>
              <a:rPr lang="en-US" dirty="0"/>
            </a:br>
            <a:r>
              <a:rPr lang="en-US" dirty="0"/>
              <a:t>Task Force SAFE / UFC</a:t>
            </a:r>
          </a:p>
        </p:txBody>
      </p:sp>
      <p:sp>
        <p:nvSpPr>
          <p:cNvPr id="46" name="TextBox 45">
            <a:extLst>
              <a:ext uri="{FF2B5EF4-FFF2-40B4-BE49-F238E27FC236}">
                <a16:creationId xmlns:a16="http://schemas.microsoft.com/office/drawing/2014/main" id="{29601D9D-BA25-3D20-34A9-160777F0B89F}"/>
              </a:ext>
            </a:extLst>
          </p:cNvPr>
          <p:cNvSpPr txBox="1"/>
          <p:nvPr/>
        </p:nvSpPr>
        <p:spPr>
          <a:xfrm>
            <a:off x="6539089" y="3001858"/>
            <a:ext cx="1719736" cy="461665"/>
          </a:xfrm>
          <a:prstGeom prst="rect">
            <a:avLst/>
          </a:prstGeom>
          <a:noFill/>
        </p:spPr>
        <p:txBody>
          <a:bodyPr wrap="square">
            <a:spAutoFit/>
          </a:bodyPr>
          <a:lstStyle/>
          <a:p>
            <a:pPr algn="ctr"/>
            <a:r>
              <a:rPr lang="en-US" sz="1200" dirty="0"/>
              <a:t>Make a PDF of report and sign</a:t>
            </a:r>
          </a:p>
        </p:txBody>
      </p:sp>
      <p:sp>
        <p:nvSpPr>
          <p:cNvPr id="47" name="TextBox 46">
            <a:extLst>
              <a:ext uri="{FF2B5EF4-FFF2-40B4-BE49-F238E27FC236}">
                <a16:creationId xmlns:a16="http://schemas.microsoft.com/office/drawing/2014/main" id="{B82AA7D2-DB9D-7734-CA71-0A984B0408FE}"/>
              </a:ext>
            </a:extLst>
          </p:cNvPr>
          <p:cNvSpPr txBox="1"/>
          <p:nvPr/>
        </p:nvSpPr>
        <p:spPr>
          <a:xfrm>
            <a:off x="6604613" y="3600763"/>
            <a:ext cx="1485984" cy="338554"/>
          </a:xfrm>
          <a:prstGeom prst="rect">
            <a:avLst/>
          </a:prstGeom>
          <a:noFill/>
        </p:spPr>
        <p:txBody>
          <a:bodyPr wrap="none" rtlCol="0">
            <a:spAutoFit/>
          </a:bodyPr>
          <a:lstStyle/>
          <a:p>
            <a:r>
              <a:rPr lang="en-US" sz="1600" b="1" dirty="0"/>
              <a:t>Update Tracker</a:t>
            </a:r>
          </a:p>
        </p:txBody>
      </p:sp>
      <p:pic>
        <p:nvPicPr>
          <p:cNvPr id="3" name="Picture 2">
            <a:extLst>
              <a:ext uri="{FF2B5EF4-FFF2-40B4-BE49-F238E27FC236}">
                <a16:creationId xmlns:a16="http://schemas.microsoft.com/office/drawing/2014/main" id="{4C4E4402-B218-1EF4-E1B7-4BC094D2BF34}"/>
              </a:ext>
            </a:extLst>
          </p:cNvPr>
          <p:cNvPicPr>
            <a:picLocks noChangeAspect="1"/>
          </p:cNvPicPr>
          <p:nvPr/>
        </p:nvPicPr>
        <p:blipFill>
          <a:blip r:embed="rId2"/>
          <a:stretch>
            <a:fillRect/>
          </a:stretch>
        </p:blipFill>
        <p:spPr>
          <a:xfrm>
            <a:off x="-1" y="2288810"/>
            <a:ext cx="10587567" cy="4569190"/>
          </a:xfrm>
          <a:prstGeom prst="rect">
            <a:avLst/>
          </a:prstGeom>
        </p:spPr>
      </p:pic>
      <p:sp>
        <p:nvSpPr>
          <p:cNvPr id="4" name="TextBox 3">
            <a:extLst>
              <a:ext uri="{FF2B5EF4-FFF2-40B4-BE49-F238E27FC236}">
                <a16:creationId xmlns:a16="http://schemas.microsoft.com/office/drawing/2014/main" id="{2B3A84CF-8F38-9F35-DB9A-8718A6A50C3E}"/>
              </a:ext>
            </a:extLst>
          </p:cNvPr>
          <p:cNvSpPr txBox="1"/>
          <p:nvPr/>
        </p:nvSpPr>
        <p:spPr>
          <a:xfrm>
            <a:off x="440267" y="2150533"/>
            <a:ext cx="3149600" cy="523220"/>
          </a:xfrm>
          <a:prstGeom prst="rect">
            <a:avLst/>
          </a:prstGeom>
          <a:noFill/>
        </p:spPr>
        <p:txBody>
          <a:bodyPr wrap="square" rtlCol="0">
            <a:spAutoFit/>
          </a:bodyPr>
          <a:lstStyle/>
          <a:p>
            <a:r>
              <a:rPr lang="en-US" sz="2800" b="1" dirty="0">
                <a:solidFill>
                  <a:schemeClr val="bg1"/>
                </a:solidFill>
              </a:rPr>
              <a:t>Flow of Inspections</a:t>
            </a:r>
          </a:p>
        </p:txBody>
      </p:sp>
      <p:pic>
        <p:nvPicPr>
          <p:cNvPr id="5" name="Picture 4">
            <a:extLst>
              <a:ext uri="{FF2B5EF4-FFF2-40B4-BE49-F238E27FC236}">
                <a16:creationId xmlns:a16="http://schemas.microsoft.com/office/drawing/2014/main" id="{1862BF20-8C40-32CE-0857-28530C27EAB5}"/>
              </a:ext>
            </a:extLst>
          </p:cNvPr>
          <p:cNvPicPr>
            <a:picLocks noChangeAspect="1"/>
          </p:cNvPicPr>
          <p:nvPr/>
        </p:nvPicPr>
        <p:blipFill>
          <a:blip r:embed="rId3"/>
          <a:stretch>
            <a:fillRect/>
          </a:stretch>
        </p:blipFill>
        <p:spPr>
          <a:xfrm>
            <a:off x="0" y="-123915"/>
            <a:ext cx="1347333" cy="1066892"/>
          </a:xfrm>
          <a:prstGeom prst="rect">
            <a:avLst/>
          </a:prstGeom>
        </p:spPr>
      </p:pic>
      <p:pic>
        <p:nvPicPr>
          <p:cNvPr id="6" name="Picture 5">
            <a:extLst>
              <a:ext uri="{FF2B5EF4-FFF2-40B4-BE49-F238E27FC236}">
                <a16:creationId xmlns:a16="http://schemas.microsoft.com/office/drawing/2014/main" id="{0E6FA114-0F7A-8B08-7902-D25898613A4C}"/>
              </a:ext>
            </a:extLst>
          </p:cNvPr>
          <p:cNvPicPr>
            <a:picLocks noChangeAspect="1"/>
          </p:cNvPicPr>
          <p:nvPr/>
        </p:nvPicPr>
        <p:blipFill>
          <a:blip r:embed="rId4"/>
          <a:stretch>
            <a:fillRect/>
          </a:stretch>
        </p:blipFill>
        <p:spPr>
          <a:xfrm>
            <a:off x="10409865" y="4760794"/>
            <a:ext cx="1633870" cy="2097206"/>
          </a:xfrm>
          <a:prstGeom prst="rect">
            <a:avLst/>
          </a:prstGeom>
        </p:spPr>
      </p:pic>
    </p:spTree>
    <p:extLst>
      <p:ext uri="{BB962C8B-B14F-4D97-AF65-F5344CB8AC3E}">
        <p14:creationId xmlns:p14="http://schemas.microsoft.com/office/powerpoint/2010/main" val="4238389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D66DF-D738-CB0E-268A-B2DFA3071681}"/>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5A2088B7-7313-40F8-7BA7-270661447833}"/>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62C7E127-5BD9-5FFD-E6AF-3DE38561D9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786E5397-3AA8-B9AF-CF01-7D4742F4C84D}"/>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AB9261AD-3EFC-D0BE-39DD-DAB7A7CB63D5}"/>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 name="Title 2">
            <a:extLst>
              <a:ext uri="{FF2B5EF4-FFF2-40B4-BE49-F238E27FC236}">
                <a16:creationId xmlns:a16="http://schemas.microsoft.com/office/drawing/2014/main" id="{943145A6-F16C-CD48-6E8E-D3D3BBACB696}"/>
              </a:ext>
            </a:extLst>
          </p:cNvPr>
          <p:cNvSpPr>
            <a:spLocks noGrp="1"/>
          </p:cNvSpPr>
          <p:nvPr>
            <p:ph type="title"/>
          </p:nvPr>
        </p:nvSpPr>
        <p:spPr>
          <a:xfrm>
            <a:off x="594360" y="102875"/>
            <a:ext cx="10873740" cy="1680205"/>
          </a:xfrm>
        </p:spPr>
        <p:txBody>
          <a:bodyPr/>
          <a:lstStyle/>
          <a:p>
            <a:r>
              <a:rPr lang="en-US" dirty="0"/>
              <a:t>Program Summary</a:t>
            </a:r>
          </a:p>
        </p:txBody>
      </p:sp>
      <p:sp>
        <p:nvSpPr>
          <p:cNvPr id="7" name="Text Placeholder 6">
            <a:extLst>
              <a:ext uri="{FF2B5EF4-FFF2-40B4-BE49-F238E27FC236}">
                <a16:creationId xmlns:a16="http://schemas.microsoft.com/office/drawing/2014/main" id="{8D5BEFA6-A2D2-9E75-B25A-9A0DAA8A5C76}"/>
              </a:ext>
            </a:extLst>
          </p:cNvPr>
          <p:cNvSpPr>
            <a:spLocks noGrp="1"/>
          </p:cNvSpPr>
          <p:nvPr>
            <p:ph sz="quarter" idx="13"/>
          </p:nvPr>
        </p:nvSpPr>
        <p:spPr>
          <a:xfrm>
            <a:off x="1156488" y="2006267"/>
            <a:ext cx="9004387" cy="4851733"/>
          </a:xfrm>
        </p:spPr>
        <p:txBody>
          <a:bodyPr>
            <a:noAutofit/>
          </a:bodyPr>
          <a:lstStyle/>
          <a:p>
            <a:r>
              <a:rPr lang="en-US" sz="2600" b="1" dirty="0">
                <a:latin typeface="Aptos Display" panose="020B0004020202020204" pitchFamily="34" charset="0"/>
              </a:rPr>
              <a:t>This program plays a vital role in safeguarding personnel and facilities, reducing risks, and ensuring operational readiness in challenging environments.</a:t>
            </a:r>
          </a:p>
          <a:p>
            <a:r>
              <a:rPr lang="en-US" sz="2600" b="1" dirty="0">
                <a:latin typeface="Aptos Display" panose="020B0004020202020204" pitchFamily="34" charset="0"/>
              </a:rPr>
              <a:t>The TF SAFE / UFC teams provides knowledge from subject matter experts therefore delivering safe operating conditions within the CENTCOM</a:t>
            </a:r>
          </a:p>
          <a:p>
            <a:r>
              <a:rPr lang="en-US" sz="2600" b="1" dirty="0">
                <a:latin typeface="Aptos Display" panose="020B0004020202020204" pitchFamily="34" charset="0"/>
              </a:rPr>
              <a:t>Because of the nearly 340000 deficiencies identified and over 40000 deficiencies repaired, the field teams have prevented an immeasurable number of electrocutions, shocks, and fires from facility occupants throughout the AOR. </a:t>
            </a:r>
          </a:p>
        </p:txBody>
      </p:sp>
      <p:pic>
        <p:nvPicPr>
          <p:cNvPr id="2" name="Picture 1">
            <a:extLst>
              <a:ext uri="{FF2B5EF4-FFF2-40B4-BE49-F238E27FC236}">
                <a16:creationId xmlns:a16="http://schemas.microsoft.com/office/drawing/2014/main" id="{0C40EE60-CF6C-527D-1BBC-F631AB99B567}"/>
              </a:ext>
            </a:extLst>
          </p:cNvPr>
          <p:cNvPicPr>
            <a:picLocks noChangeAspect="1"/>
          </p:cNvPicPr>
          <p:nvPr/>
        </p:nvPicPr>
        <p:blipFill>
          <a:blip r:embed="rId3"/>
          <a:stretch>
            <a:fillRect/>
          </a:stretch>
        </p:blipFill>
        <p:spPr>
          <a:xfrm>
            <a:off x="484177" y="53694"/>
            <a:ext cx="1344623" cy="1065096"/>
          </a:xfrm>
          <a:prstGeom prst="rect">
            <a:avLst/>
          </a:prstGeom>
        </p:spPr>
      </p:pic>
      <p:pic>
        <p:nvPicPr>
          <p:cNvPr id="4" name="Picture 3">
            <a:extLst>
              <a:ext uri="{FF2B5EF4-FFF2-40B4-BE49-F238E27FC236}">
                <a16:creationId xmlns:a16="http://schemas.microsoft.com/office/drawing/2014/main" id="{9A5ED710-28ED-2830-FC0D-F15357D4C3C4}"/>
              </a:ext>
            </a:extLst>
          </p:cNvPr>
          <p:cNvPicPr>
            <a:picLocks noChangeAspect="1"/>
          </p:cNvPicPr>
          <p:nvPr/>
        </p:nvPicPr>
        <p:blipFill>
          <a:blip r:embed="rId4"/>
          <a:stretch>
            <a:fillRect/>
          </a:stretch>
        </p:blipFill>
        <p:spPr>
          <a:xfrm>
            <a:off x="10404213" y="4658127"/>
            <a:ext cx="1633870" cy="2097206"/>
          </a:xfrm>
          <a:prstGeom prst="rect">
            <a:avLst/>
          </a:prstGeom>
        </p:spPr>
      </p:pic>
    </p:spTree>
    <p:extLst>
      <p:ext uri="{BB962C8B-B14F-4D97-AF65-F5344CB8AC3E}">
        <p14:creationId xmlns:p14="http://schemas.microsoft.com/office/powerpoint/2010/main" val="2611050872"/>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{6D0D2735-6ACE-40D4-A48C-6FFC95A244B6}TFd3b75063-ff25-434d-b12c-efeaf07d16c3292f62b5_win32-75a75c970d8e</Template>
  <TotalTime>12456</TotalTime>
  <Words>3223</Words>
  <Application>Microsoft Office PowerPoint</Application>
  <PresentationFormat>Widescreen</PresentationFormat>
  <Paragraphs>367</Paragraphs>
  <Slides>36</Slides>
  <Notes>32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36</vt:i4>
      </vt:variant>
    </vt:vector>
  </HeadingPairs>
  <TitlesOfParts>
    <vt:vector size="50" baseType="lpstr">
      <vt:lpstr>Aptos</vt:lpstr>
      <vt:lpstr>Aptos Display</vt:lpstr>
      <vt:lpstr>Aptos Light</vt:lpstr>
      <vt:lpstr>Arial</vt:lpstr>
      <vt:lpstr>ArialBlack</vt:lpstr>
      <vt:lpstr>Calibri</vt:lpstr>
      <vt:lpstr>Calibri,Bold</vt:lpstr>
      <vt:lpstr>Courier New</vt:lpstr>
      <vt:lpstr>Franklin Gothic Book</vt:lpstr>
      <vt:lpstr>Franklin Gothic Demi</vt:lpstr>
      <vt:lpstr>Symbol</vt:lpstr>
      <vt:lpstr>Times New Roman</vt:lpstr>
      <vt:lpstr>Wingdings</vt:lpstr>
      <vt:lpstr>Custom</vt:lpstr>
      <vt:lpstr>The Task Force SAFE / UFC Program Mission Brief</vt:lpstr>
      <vt:lpstr>Contents</vt:lpstr>
      <vt:lpstr>Contents</vt:lpstr>
      <vt:lpstr>Program Overview</vt:lpstr>
      <vt:lpstr>       Program Overview Task Force S.A.F.E. (TFS) Safety Assessments for Fire and Electrical</vt:lpstr>
      <vt:lpstr>       Program Overview Task Force S.A.F.E. (TFS) Safety Assessments for Fire and Electrical</vt:lpstr>
      <vt:lpstr>       Program Overview Task Force S.A.F.E. (TFS) Safety Assessments for Fire and Electrical</vt:lpstr>
      <vt:lpstr>       Program Overview Task Force S.A.F.E. (TFS) Safety Assessments for Fire and Electrical</vt:lpstr>
      <vt:lpstr>       Program Overview Task Force S.A.F.E. (TFS) Safety Assessments for Fire and Electrical</vt:lpstr>
      <vt:lpstr>       Program Overview Task Force U.F.C. (UFC) Unified Facilities Criteria</vt:lpstr>
      <vt:lpstr>       Program Overview Task Force U.F.C. (UFC) Unified Facilities Criteria</vt:lpstr>
      <vt:lpstr>       Program Overview Task Force U.F.C. (UFC) Unified Facilities Criteria</vt:lpstr>
      <vt:lpstr>Program Overview Task Force SAFE / UFC </vt:lpstr>
      <vt:lpstr>Program Operations – Management Task Force SAFE / UFC</vt:lpstr>
      <vt:lpstr>Program Operations - Management Task Force SAFE / UFC</vt:lpstr>
      <vt:lpstr>Program Operations - Management Task Force SAFE / UFC</vt:lpstr>
      <vt:lpstr>Program Operations - Management Task Force SAFE / UFC</vt:lpstr>
      <vt:lpstr>Program Operations - Management Task Force SAFE / UFC</vt:lpstr>
      <vt:lpstr>Program Operations - Management Task Force SAFE / UFC</vt:lpstr>
      <vt:lpstr>Program Operations - Management Task Force SAFE / UFC</vt:lpstr>
      <vt:lpstr>Program Operations – Electricians Task Force SAFE / UFC</vt:lpstr>
      <vt:lpstr>Program Operations – Electricians Task Force SAFE / UFC</vt:lpstr>
      <vt:lpstr>Program Operations – UFC Inspection Team Task Force SAFE / UFC</vt:lpstr>
      <vt:lpstr>Program Operations – UFC Inspection Team Task Force SAFE / UFC</vt:lpstr>
      <vt:lpstr>Program Operations –  Materials-Logistics Team Task Force SAFE / UFC</vt:lpstr>
      <vt:lpstr>Program Operations – Property-Materials-Logistics Team Task Force SAFE / UFC</vt:lpstr>
      <vt:lpstr>Program Operations – Site Safety and Health Officer Task Force SAFE / UFC</vt:lpstr>
      <vt:lpstr>Program Operations – Property-Materials-Logistics Team Task Force SAFE / UFC</vt:lpstr>
      <vt:lpstr>Definitions</vt:lpstr>
      <vt:lpstr>Definitions</vt:lpstr>
      <vt:lpstr>Workflow</vt:lpstr>
      <vt:lpstr>PowerPoint Presentation</vt:lpstr>
      <vt:lpstr>PowerPoint Presentation</vt:lpstr>
      <vt:lpstr>Program Operations – QA/QC Process Task Force SAFE / UFC</vt:lpstr>
      <vt:lpstr>Program Operations – QA/QC Process Task Force SAFE / UFC</vt:lpstr>
      <vt:lpstr>Program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Dwayne Gipson</dc:creator>
  <cp:lastModifiedBy>Dwayne Gipson</cp:lastModifiedBy>
  <cp:revision>17</cp:revision>
  <dcterms:created xsi:type="dcterms:W3CDTF">2025-10-31T15:57:42Z</dcterms:created>
  <dcterms:modified xsi:type="dcterms:W3CDTF">2025-11-23T15:30:48Z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